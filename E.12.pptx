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03496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4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4.png"/><Relationship Id="rId5" Type="http://schemas.openxmlformats.org/officeDocument/2006/relationships/image" Target="../media/image11.png"/><Relationship Id="rId10" Type="http://schemas.openxmlformats.org/officeDocument/2006/relationships/image" Target="../media/image13.png"/><Relationship Id="rId4" Type="http://schemas.openxmlformats.org/officeDocument/2006/relationships/image" Target="../media/image2.png"/><Relationship Id="rId9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2.png"/><Relationship Id="rId10" Type="http://schemas.openxmlformats.org/officeDocument/2006/relationships/image" Target="../media/image24.png"/><Relationship Id="rId4" Type="http://schemas.openxmlformats.org/officeDocument/2006/relationships/image" Target="../media/image2.png"/><Relationship Id="rId9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6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4.png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.png"/><Relationship Id="rId9" Type="http://schemas.openxmlformats.org/officeDocument/2006/relationships/image" Target="../media/image3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1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4.png"/><Relationship Id="rId5" Type="http://schemas.openxmlformats.org/officeDocument/2006/relationships/image" Target="../media/image29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3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39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4.png"/><Relationship Id="rId5" Type="http://schemas.openxmlformats.org/officeDocument/2006/relationships/image" Target="../media/image40.png"/><Relationship Id="rId10" Type="http://schemas.openxmlformats.org/officeDocument/2006/relationships/image" Target="../media/image37.png"/><Relationship Id="rId4" Type="http://schemas.openxmlformats.org/officeDocument/2006/relationships/image" Target="../media/image2.png"/><Relationship Id="rId9" Type="http://schemas.openxmlformats.org/officeDocument/2006/relationships/image" Target="../media/image4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1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11" Type="http://schemas.openxmlformats.org/officeDocument/2006/relationships/image" Target="../media/image4.png"/><Relationship Id="rId5" Type="http://schemas.openxmlformats.org/officeDocument/2006/relationships/image" Target="../media/image43.png"/><Relationship Id="rId10" Type="http://schemas.openxmlformats.org/officeDocument/2006/relationships/image" Target="../media/image46.png"/><Relationship Id="rId4" Type="http://schemas.openxmlformats.org/officeDocument/2006/relationships/image" Target="../media/image2.png"/><Relationship Id="rId9" Type="http://schemas.openxmlformats.org/officeDocument/2006/relationships/image" Target="../media/image3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4.png"/><Relationship Id="rId5" Type="http://schemas.openxmlformats.org/officeDocument/2006/relationships/image" Target="../media/image47.png"/><Relationship Id="rId10" Type="http://schemas.openxmlformats.org/officeDocument/2006/relationships/image" Target="../media/image24.png"/><Relationship Id="rId4" Type="http://schemas.openxmlformats.org/officeDocument/2006/relationships/image" Target="../media/image2.png"/><Relationship Id="rId9" Type="http://schemas.openxmlformats.org/officeDocument/2006/relationships/image" Target="../media/image4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1.png"/><Relationship Id="rId7" Type="http://schemas.openxmlformats.org/officeDocument/2006/relationships/image" Target="../media/image50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11" Type="http://schemas.openxmlformats.org/officeDocument/2006/relationships/image" Target="../media/image37.png"/><Relationship Id="rId5" Type="http://schemas.openxmlformats.org/officeDocument/2006/relationships/image" Target="../media/image46.png"/><Relationship Id="rId10" Type="http://schemas.openxmlformats.org/officeDocument/2006/relationships/image" Target="../media/image32.png"/><Relationship Id="rId4" Type="http://schemas.openxmlformats.org/officeDocument/2006/relationships/image" Target="../media/image2.png"/><Relationship Id="rId9" Type="http://schemas.openxmlformats.org/officeDocument/2006/relationships/image" Target="../media/image5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.png"/><Relationship Id="rId7" Type="http://schemas.openxmlformats.org/officeDocument/2006/relationships/image" Target="../media/image48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54.png"/><Relationship Id="rId5" Type="http://schemas.openxmlformats.org/officeDocument/2006/relationships/image" Target="../media/image52.png"/><Relationship Id="rId10" Type="http://schemas.openxmlformats.org/officeDocument/2006/relationships/image" Target="../media/image41.png"/><Relationship Id="rId4" Type="http://schemas.openxmlformats.org/officeDocument/2006/relationships/image" Target="../media/image2.png"/><Relationship Id="rId9" Type="http://schemas.openxmlformats.org/officeDocument/2006/relationships/image" Target="../media/image5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5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4.png"/><Relationship Id="rId5" Type="http://schemas.openxmlformats.org/officeDocument/2006/relationships/image" Target="../media/image16.png"/><Relationship Id="rId10" Type="http://schemas.openxmlformats.org/officeDocument/2006/relationships/image" Target="../media/image56.png"/><Relationship Id="rId4" Type="http://schemas.openxmlformats.org/officeDocument/2006/relationships/image" Target="../media/image2.png"/><Relationship Id="rId9" Type="http://schemas.openxmlformats.org/officeDocument/2006/relationships/image" Target="../media/image46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1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11" Type="http://schemas.openxmlformats.org/officeDocument/2006/relationships/image" Target="../media/image4.png"/><Relationship Id="rId5" Type="http://schemas.openxmlformats.org/officeDocument/2006/relationships/image" Target="../media/image57.png"/><Relationship Id="rId10" Type="http://schemas.openxmlformats.org/officeDocument/2006/relationships/image" Target="../media/image54.png"/><Relationship Id="rId4" Type="http://schemas.openxmlformats.org/officeDocument/2006/relationships/image" Target="../media/image2.png"/><Relationship Id="rId9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59.png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6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هبوط السكر</a:t>
            </a:r>
            <a:endParaRPr lang="en-US" sz="36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هدوء، ملاحظة العلامات، ومساعدة آمنة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31520" y="5257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"حالة قد تحدث بشكل مفاجئ، وتحتاج إلى تعرّف مبكر، وتصرف آمن، وطلب الطوارئ عند الخطورة"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E.12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بهبوط السكر؟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الوعي يحمي المصاب قبل تدهور الحالة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تعرّف مبكر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على العلامات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مساعدة المصاب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قبل التدهور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الأخطاء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كإطعام غير الواعي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دعم المصابين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كل مكان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معرفة وقت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الاتصال بـ 999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ثقافة الإسعاف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الأولي الآمن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هبوط السكر قد يبدو بسيطًا، لكنه قد يصبح طارئًا إذا صاحبه فقدان وعي أو ضعف شديد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E.12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المقصود بهبوط السكر؟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انخفاض مستوى السكر عن المستوى المناسب للجسم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المصابون بالسكري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تأخير الوجبات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مجهود بدني دون استعداد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أدوية تنظيم السكر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المرض أو الإرهاق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حالات تحتاج لمختصين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هذا العرض توعوي ولا يغني عن توجيهات الطبيب أو خطة العلاج الخاصة بالمصاب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E.12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الأكثر عرضة لهبوط السكر؟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فئات تحتاج إلى متابعة ووعي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المصابون بالسكري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مستخدمو أدوية السكر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أطفال السكري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كبار السن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يتأخرون عن الوجبات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بذل مجهود دون غذاء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معرفة الحالة الصحية للمصاب — إذا أفصح عنها — تساعد على سرعة التصرف وقت الطوارئ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E.12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هبوط السكر المبكرة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اكتشاف الحالة قبل أن تتدهور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جوع شديد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رجفة أو ارتعاش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تعرق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دوخة أو ضعف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7452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92811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099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7510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صداع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44271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62559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0847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44855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قلق أو توتر مفاجئ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في التركيز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88376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02055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03436" y="475488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98435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شحوب أو تعب غير معتاد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إن كان الشخص واعيًا وقادرًا على البلع، ساعده بهدوء واتبع خطته الصحية إن كانت معروفة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E.12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هبوط السكر الشديدة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تستدعي طلب المساعدة فورًا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ارتباك أو تصرف غير معتاد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في الكلام والفهم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ضعف شديد لا يقف معه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نعاس شديد أو فقدان وعي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تشنجات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القدرة على البلع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تدهور سريع في الحالة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إجراء عاجل: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فقدان الوعي، تشنجات، عدم القدرة على البلع، أو تدهور واضح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E.12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تأمين المكان قبل المساعدة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المصاب ومن حوله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حركة مركبات أو سقوط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أدوات حادة قريبة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مكان جيد التهوية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مساحة كافية حوله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المتجمهرين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للاتصال بالطوارئ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تأمين المكان يقلل احتمال إصابة إضافية، خاصة عند الدوخة أو الضعف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E.12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مع شخص واعٍ قادر على البلع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مساعدة آمنة وفق خطته الصحية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اجعله يجلس في مكان آمن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اسأله عن السكري أو خطته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ساعده بمصدر سريع للسكر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 وحده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تحسن الحالة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المساعدة عند عدم التحسن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الشك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تُجبر المصاب على تناول شيء إذا كان غير قادر على البلع بشكل طبيعي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E.12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أمثلة عامة لمصدر سريع للسكر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للشخص الواعي القادر على البلع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1591056" y="288036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19656" y="310896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1385316" y="397764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36676" y="406908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عصير محلى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836676" y="448056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كان مناسبًا لخطته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3442716" y="260604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4288536" y="288036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7136" y="310896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4082796" y="397764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3534156" y="406908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أقراص جلوكوز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3534156" y="448056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كانت متوفرة لديه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6140196" y="260604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6986016" y="288036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14616" y="310896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6780276" y="397764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6231636" y="406908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مشروب بسكر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6231636" y="448056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حسب الحالة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8837676" y="260604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9683496" y="288036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12096" y="310896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9477756" y="397764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8929116" y="406908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حلوى مناسبة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8929116" y="448056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سهلة البلع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تعطِ كميات كبيرة بشكل عشوائي، ولا تعطِ أي شيء لشخص غير واعٍ</a:t>
            </a:r>
            <a:endParaRPr lang="ar-AE" sz="1200" dirty="0"/>
          </a:p>
        </p:txBody>
      </p:sp>
      <p:sp>
        <p:nvSpPr>
          <p:cNvPr id="36" name="Shape 2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6" descr="/home/claude/assets/social_icon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E.12</a:t>
            </a:r>
            <a:endParaRPr lang="en-US" sz="1000" dirty="0"/>
          </a:p>
        </p:txBody>
      </p:sp>
      <p:sp>
        <p:nvSpPr>
          <p:cNvPr id="46" name="Shape 3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بعد تحسن الحالة؟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الحالة بعد التحسن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أبقه جالسًا حتى يستقر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قيادة فورًا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إبلاغ الأهل أو المسؤول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اتباع خطته الصحية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عودة الأعراض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المساعدة عند التكرار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تحسن الأعراض لا يعني إهمال السبب، خاصة إذا كانت الحالة متكررة أو شديدة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E.12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مع شخص غير واعٍ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حالة طارئة — اتصل فورًا بـ 999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سلامة المكان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تحقق من التنفس الطبيعي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طعام أو شراب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 شيئًا في الفم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 وحده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موظف الطوارئ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إعطاء الطعام أو الشراب لشخص غير واعٍ قد يسبب اختناقًا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E.12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ظهرت تشنجات أو ضعف شديد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استجابة سريعة وآمنة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الأشياء الخطرة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تقيّد حركته بالقوة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 شيئًا في الفم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التنفس والاستجابة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الموظف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التشنجات أو فقدان الوعي علامات تستدعي طلب المساعدة فورًا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E.12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كان المصاب معروفًا بالسكري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يحمل بطاقة طبية أو خطة علاج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اسأله إن كان واعيًا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ابحث عن سوار طبي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أدوية لا تعرفها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ساعده في الوصول لأدواته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الفقدان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المختصين بالمعلومات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تعطِ المصاب دواءً أو حقنًا ما لم تكن مخولًا ومدربًا وضمن تعليمات واضحة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E.12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هبوط السكر لدى الأطفال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انتبه للتغيرات المفاجئة في السلوك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تعب أو بكاء غير معتاد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تعرق أو رجفة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جوع شديد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في التركيز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نعاس أو ضعف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غير معتاد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ولي الأمر، ساعد الطفل وفق خطته، واتصل بـ 999 عند علامات الخطورة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E.12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هبوط السكر في المدرسة أو العمل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إجراءات منظمة للحالات الصحية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معرفة الحالات المعلنة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أرقام التواصل بأمان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تدريب المشرفين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 وحده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تجمهر أو تصوير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اتصال بـ 999 عند الخطورة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توثيق الوقت والملاحظات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الاستعداد المسبق يحمي المصاب ويقلل الارتباك وقت الطوارئ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لا تفعل عند هبوط السكر؟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تصرفات قد تزيد الخطر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طعام لغير الواعي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تجبره على البلع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 وحده مرتبكًا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قيادة قبل الاستقرار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حقن دون تدريب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التكرار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تؤخر الاتصال بـ 999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المساعدة الصحيحة تبدأ بمعرفة متى نساعد ومتى نطلب المختصين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نتصل برقم الطوارئ 999؟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تنتظر عند علامات الخطورة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فقدان الوعي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تشنجات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القدرة على البلع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ارتباك أو تدهور سريع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تحسن بعد المساعدة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إصابة أو سقوط بسبب الدوخة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معرفة سبب الحالة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حالة لطفل أو كبير سن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الشك، اطلب المساعدة فورًا ولا تنتظر تدهور الحالة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E.12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هبوط السكر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الالتزام بالخطة الصحية والوعي بالعوامل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الالتزام بتوجيهات الطبيب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تأخير الوجبات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حمل مصدر مناسب للسكر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انتباه قبل النشاط الطويل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إبلاغ الأسرة والعمل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متابعة الأعراض المتكررة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هذه إرشادات عامة ولا تغني عن الخطة الطبية الخاصة بكل شخص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E.12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دور الموجودين في المكان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الاستجابة وتقليل الارتباك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يبقى مع المصاب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يتصل بـ 999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يبعد المتجمهرين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يبحث عن المسؤول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يفتح الطريق للإسعاف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يجهز وقت الأعراض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الأدوار يساعد المصاب ويمنع الفوضى والتأخير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E.12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عند هبوط السكر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اجلسه في مكان آمن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 الواعي وفق خطته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تحسن الحالة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الخطورة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 وحده مرتبكًا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المختصين بالمعلومات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احترم خصوصية المصاب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طعام لغير الواعي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تجبره على البلع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أدوية أو حقن دون توجيه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قيادة قبل الاستقرار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تتجمهر حوله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تصور الحالة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تؤخر الاتصال بالطوارئ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E.12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مصاب بالسكري شعر برجفة وتعرق ودوخة وهو واعٍ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أجلسه في مكان آمن، ساعده وفق خطته بمصدر سريع للسكر، وراقب التحسن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ظهرت عليه علامات هبوط ثم فقد الوعي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999، لا تعطه طعامًا أو شرابًا، وراقب التنفس حتى المختصين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طالب في المدرسة أصبح مرتبكًا ويتعرق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المشرف، لا تتركه وحده، ساعده وفق خطته، واتصل بـ 999 عند الخطورة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بعد التحسن أراد قيادة المركبة مباشرة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تسمح بالقيادة حتى تستقر حالته، وتأكد من وجود شخص لمساعدته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E.12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09960" y="2779776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285292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7919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علامات هبوط السكر المبكرة؟</a:t>
            </a:r>
            <a:endParaRPr lang="ar-AE" sz="1400" dirty="0"/>
          </a:p>
        </p:txBody>
      </p:sp>
      <p:sp>
        <p:nvSpPr>
          <p:cNvPr id="14" name="Text 9"/>
          <p:cNvSpPr/>
          <p:nvPr/>
        </p:nvSpPr>
        <p:spPr>
          <a:xfrm>
            <a:off x="640080" y="2990088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تشمل الرجفة والتعرق والجوع الشديد والدوخة والصداع وصعوبة التركيز</a:t>
            </a:r>
            <a:endParaRPr lang="ar-AE" sz="1200" dirty="0"/>
          </a:p>
        </p:txBody>
      </p:sp>
      <p:sp>
        <p:nvSpPr>
          <p:cNvPr id="15" name="Shape 10"/>
          <p:cNvSpPr/>
          <p:nvPr/>
        </p:nvSpPr>
        <p:spPr>
          <a:xfrm>
            <a:off x="457200" y="3374136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109960" y="3547872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36210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44728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إعطاء طعام لشخص غير واعٍ؟</a:t>
            </a:r>
            <a:endParaRPr lang="ar-AE" sz="1400" dirty="0"/>
          </a:p>
        </p:txBody>
      </p:sp>
      <p:sp>
        <p:nvSpPr>
          <p:cNvPr id="19" name="Text 13"/>
          <p:cNvSpPr/>
          <p:nvPr/>
        </p:nvSpPr>
        <p:spPr>
          <a:xfrm>
            <a:off x="640080" y="3758184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لا يُعطى الشخص غير الواعي أي طعام أو شراب — اتصل فورًا بـ 999</a:t>
            </a:r>
            <a:endParaRPr lang="ar-AE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4142232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109960" y="4315968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43891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42153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نفعل إذا كان واعيًا قادرًا على البلع؟</a:t>
            </a:r>
            <a:endParaRPr lang="ar-AE" sz="1400" dirty="0"/>
          </a:p>
        </p:txBody>
      </p:sp>
      <p:sp>
        <p:nvSpPr>
          <p:cNvPr id="24" name="Text 17"/>
          <p:cNvSpPr/>
          <p:nvPr/>
        </p:nvSpPr>
        <p:spPr>
          <a:xfrm>
            <a:off x="640080" y="4526280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نجلسه في مكان آمن ونساعده وفق خطته أو بمصدر مناسب للسكر مع المراقبة</a:t>
            </a:r>
            <a:endParaRPr lang="ar-AE" sz="1200" dirty="0"/>
          </a:p>
        </p:txBody>
      </p:sp>
      <p:sp>
        <p:nvSpPr>
          <p:cNvPr id="25" name="Shape 18"/>
          <p:cNvSpPr/>
          <p:nvPr/>
        </p:nvSpPr>
        <p:spPr>
          <a:xfrm>
            <a:off x="457200" y="4910328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109960" y="5084064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5157216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9834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يجب الاتصال بـ 999؟</a:t>
            </a:r>
            <a:endParaRPr lang="ar-AE" sz="1400" dirty="0"/>
          </a:p>
        </p:txBody>
      </p:sp>
      <p:sp>
        <p:nvSpPr>
          <p:cNvPr id="29" name="Text 21"/>
          <p:cNvSpPr/>
          <p:nvPr/>
        </p:nvSpPr>
        <p:spPr>
          <a:xfrm>
            <a:off x="640080" y="5294376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فقدان الوعي أو التشنجات أو عدم البلع أو تدهور الحالة أو عدم التحسن</a:t>
            </a:r>
            <a:endParaRPr lang="ar-AE" sz="1200" dirty="0"/>
          </a:p>
        </p:txBody>
      </p:sp>
      <p:sp>
        <p:nvSpPr>
          <p:cNvPr id="30" name="Shape 2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1" name="Image 6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3" name="Text 2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6" name="Shape 2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E.12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التعرف المبكر على العلامات وتقديم مساعدة آمنة يحميان المصاب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لاحظ العلامات • ساعد الواعي وفق خطته • لا طعام لغير الواعي • اتصل بـ 999 عند الخطورة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"الوعي السريع بهبوط السكر والتصرف الآمن يحمي المصاب في اللحظة المناسبة"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E.12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1758</Words>
  <Application>Microsoft Office PowerPoint</Application>
  <PresentationFormat>شاشة عريضة</PresentationFormat>
  <Paragraphs>409</Paragraphs>
  <Slides>23</Slides>
  <Notes>23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23</vt:i4>
      </vt:variant>
    </vt:vector>
  </HeadingPairs>
  <TitlesOfParts>
    <vt:vector size="27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التعامل مع هبوط السكر</dc:title>
  <dc:subject>PptxGenJS Presentation</dc:subject>
  <dc:creator>هيئة أبوظبي للدفاع المدني</dc:creator>
  <cp:lastModifiedBy>Lenovo</cp:lastModifiedBy>
  <cp:revision>1</cp:revision>
  <dcterms:created xsi:type="dcterms:W3CDTF">2026-05-07T21:23:02Z</dcterms:created>
  <dcterms:modified xsi:type="dcterms:W3CDTF">2026-05-08T00:26:13Z</dcterms:modified>
</cp:coreProperties>
</file>