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97" d="100"/>
          <a:sy n="97" d="100"/>
        </p:scale>
        <p:origin x="115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104888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r" defTabSz="914400" rtl="1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4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2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image" Target="../media/image13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11" Type="http://schemas.openxmlformats.org/officeDocument/2006/relationships/image" Target="../media/image17.png"/><Relationship Id="rId5" Type="http://schemas.openxmlformats.org/officeDocument/2006/relationships/image" Target="../media/image11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15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1.png"/><Relationship Id="rId7" Type="http://schemas.openxmlformats.org/officeDocument/2006/relationships/image" Target="../media/image19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22.png"/><Relationship Id="rId4" Type="http://schemas.openxmlformats.org/officeDocument/2006/relationships/image" Target="../media/image2.png"/><Relationship Id="rId9" Type="http://schemas.openxmlformats.org/officeDocument/2006/relationships/image" Target="../media/image2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26.png"/><Relationship Id="rId5" Type="http://schemas.openxmlformats.org/officeDocument/2006/relationships/image" Target="../media/image12.png"/><Relationship Id="rId10" Type="http://schemas.openxmlformats.org/officeDocument/2006/relationships/image" Target="../media/image25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5.png"/><Relationship Id="rId11" Type="http://schemas.openxmlformats.org/officeDocument/2006/relationships/image" Target="../media/image14.png"/><Relationship Id="rId5" Type="http://schemas.openxmlformats.org/officeDocument/2006/relationships/image" Target="../media/image12.png"/><Relationship Id="rId10" Type="http://schemas.openxmlformats.org/officeDocument/2006/relationships/image" Target="../media/image30.png"/><Relationship Id="rId4" Type="http://schemas.openxmlformats.org/officeDocument/2006/relationships/image" Target="../media/image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3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11" Type="http://schemas.openxmlformats.org/officeDocument/2006/relationships/image" Target="../media/image4.png"/><Relationship Id="rId5" Type="http://schemas.openxmlformats.org/officeDocument/2006/relationships/image" Target="../media/image12.png"/><Relationship Id="rId10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28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image" Target="../media/image1.png"/><Relationship Id="rId7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4.png"/><Relationship Id="rId11" Type="http://schemas.openxmlformats.org/officeDocument/2006/relationships/image" Target="../media/image4.png"/><Relationship Id="rId5" Type="http://schemas.openxmlformats.org/officeDocument/2006/relationships/image" Target="../media/image33.png"/><Relationship Id="rId10" Type="http://schemas.openxmlformats.org/officeDocument/2006/relationships/image" Target="../media/image38.png"/><Relationship Id="rId4" Type="http://schemas.openxmlformats.org/officeDocument/2006/relationships/image" Target="../media/image2.png"/><Relationship Id="rId9" Type="http://schemas.openxmlformats.org/officeDocument/2006/relationships/image" Target="../media/image3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13" Type="http://schemas.openxmlformats.org/officeDocument/2006/relationships/image" Target="../media/image4.png"/><Relationship Id="rId3" Type="http://schemas.openxmlformats.org/officeDocument/2006/relationships/image" Target="../media/image1.png"/><Relationship Id="rId7" Type="http://schemas.openxmlformats.org/officeDocument/2006/relationships/image" Target="../media/image16.png"/><Relationship Id="rId12" Type="http://schemas.openxmlformats.org/officeDocument/2006/relationships/image" Target="../media/image24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9.png"/><Relationship Id="rId11" Type="http://schemas.openxmlformats.org/officeDocument/2006/relationships/image" Target="../media/image14.png"/><Relationship Id="rId5" Type="http://schemas.openxmlformats.org/officeDocument/2006/relationships/image" Target="../media/image32.png"/><Relationship Id="rId10" Type="http://schemas.openxmlformats.org/officeDocument/2006/relationships/image" Target="../media/image31.png"/><Relationship Id="rId4" Type="http://schemas.openxmlformats.org/officeDocument/2006/relationships/image" Target="../media/image2.png"/><Relationship Id="rId9" Type="http://schemas.openxmlformats.org/officeDocument/2006/relationships/image" Target="../media/image41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3" Type="http://schemas.openxmlformats.org/officeDocument/2006/relationships/image" Target="../media/image1.png"/><Relationship Id="rId7" Type="http://schemas.openxmlformats.org/officeDocument/2006/relationships/image" Target="../media/image26.png"/><Relationship Id="rId12" Type="http://schemas.openxmlformats.org/officeDocument/2006/relationships/image" Target="../media/image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11" Type="http://schemas.openxmlformats.org/officeDocument/2006/relationships/image" Target="../media/image14.png"/><Relationship Id="rId5" Type="http://schemas.openxmlformats.org/officeDocument/2006/relationships/image" Target="../media/image16.png"/><Relationship Id="rId10" Type="http://schemas.openxmlformats.org/officeDocument/2006/relationships/image" Target="../media/image40.png"/><Relationship Id="rId4" Type="http://schemas.openxmlformats.org/officeDocument/2006/relationships/image" Target="../media/image2.png"/><Relationship Id="rId9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17236" y="1325880"/>
            <a:ext cx="1554480" cy="155448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1556" y="160020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6576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3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عند انطلاق الإنذار</a:t>
            </a:r>
            <a:endParaRPr lang="en-US" sz="3800" dirty="0"/>
          </a:p>
        </p:txBody>
      </p:sp>
      <p:sp>
        <p:nvSpPr>
          <p:cNvPr id="11" name="Text 6"/>
          <p:cNvSpPr/>
          <p:nvPr/>
        </p:nvSpPr>
        <p:spPr>
          <a:xfrm>
            <a:off x="457200" y="45262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8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هادئة… وسلامة للجميع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5637276" y="49834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1371600" y="5257800"/>
            <a:ext cx="9418320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"جهاز الإنذار ليس صوتًا عابرًا، بل تنبيه مبكر يستدعي الهدوء واتباع إجراءات السلامة فورًا"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5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يجب التعامل مع الإنذار بجدية؟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قد يكون مؤشرًا على حريق أو دخان أو حالة طارئة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937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509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79576" y="3200400"/>
            <a:ext cx="457200" cy="45720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7452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9"/>
          <p:cNvSpPr/>
          <p:nvPr/>
        </p:nvSpPr>
        <p:spPr>
          <a:xfrm>
            <a:off x="5852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حماية الأرواح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852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أولوية كل خطة طوارئ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236829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2"/>
          <p:cNvSpPr/>
          <p:nvPr/>
        </p:nvSpPr>
        <p:spPr>
          <a:xfrm>
            <a:off x="282549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4096" y="3200400"/>
            <a:ext cx="457200" cy="4572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261975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245973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تقليل الإصابات</a:t>
            </a:r>
            <a:endParaRPr lang="en-US" sz="1400" dirty="0"/>
          </a:p>
        </p:txBody>
      </p:sp>
      <p:sp>
        <p:nvSpPr>
          <p:cNvPr id="21" name="Text 15"/>
          <p:cNvSpPr/>
          <p:nvPr/>
        </p:nvSpPr>
        <p:spPr>
          <a:xfrm>
            <a:off x="245973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استجابة سريعة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424281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470001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8616" y="3200400"/>
            <a:ext cx="457200" cy="457200"/>
          </a:xfrm>
          <a:prstGeom prst="rect">
            <a:avLst/>
          </a:prstGeom>
        </p:spPr>
      </p:pic>
      <p:sp>
        <p:nvSpPr>
          <p:cNvPr id="25" name="Shape 18"/>
          <p:cNvSpPr/>
          <p:nvPr/>
        </p:nvSpPr>
        <p:spPr>
          <a:xfrm>
            <a:off x="449427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19"/>
          <p:cNvSpPr/>
          <p:nvPr/>
        </p:nvSpPr>
        <p:spPr>
          <a:xfrm>
            <a:off x="433425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وقت كافٍ</a:t>
            </a:r>
            <a:endParaRPr lang="en-US" sz="1400" dirty="0"/>
          </a:p>
        </p:txBody>
      </p:sp>
      <p:sp>
        <p:nvSpPr>
          <p:cNvPr id="27" name="Text 20"/>
          <p:cNvSpPr/>
          <p:nvPr/>
        </p:nvSpPr>
        <p:spPr>
          <a:xfrm>
            <a:off x="433425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للإخلاء المنظم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11733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2"/>
          <p:cNvSpPr/>
          <p:nvPr/>
        </p:nvSpPr>
        <p:spPr>
          <a:xfrm>
            <a:off x="657453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200400"/>
            <a:ext cx="457200" cy="457200"/>
          </a:xfrm>
          <a:prstGeom prst="rect">
            <a:avLst/>
          </a:prstGeom>
        </p:spPr>
      </p:pic>
      <p:sp>
        <p:nvSpPr>
          <p:cNvPr id="31" name="Shape 23"/>
          <p:cNvSpPr/>
          <p:nvPr/>
        </p:nvSpPr>
        <p:spPr>
          <a:xfrm>
            <a:off x="636879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4"/>
          <p:cNvSpPr/>
          <p:nvPr/>
        </p:nvSpPr>
        <p:spPr>
          <a:xfrm>
            <a:off x="620877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الفوضى</a:t>
            </a:r>
            <a:endParaRPr lang="en-US" sz="1400" dirty="0"/>
          </a:p>
        </p:txBody>
      </p:sp>
      <p:sp>
        <p:nvSpPr>
          <p:cNvPr id="33" name="Text 25"/>
          <p:cNvSpPr/>
          <p:nvPr/>
        </p:nvSpPr>
        <p:spPr>
          <a:xfrm>
            <a:off x="620877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التدافع</a:t>
            </a:r>
            <a:endParaRPr lang="en-US" sz="1100" dirty="0"/>
          </a:p>
        </p:txBody>
      </p:sp>
      <p:sp>
        <p:nvSpPr>
          <p:cNvPr id="34" name="Shape 26"/>
          <p:cNvSpPr/>
          <p:nvPr/>
        </p:nvSpPr>
        <p:spPr>
          <a:xfrm>
            <a:off x="799185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7"/>
          <p:cNvSpPr/>
          <p:nvPr/>
        </p:nvSpPr>
        <p:spPr>
          <a:xfrm>
            <a:off x="844905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77656" y="3200400"/>
            <a:ext cx="457200" cy="457200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824331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808329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دعم الطوارئ</a:t>
            </a:r>
            <a:endParaRPr lang="en-US" sz="1400" dirty="0"/>
          </a:p>
        </p:txBody>
      </p:sp>
      <p:sp>
        <p:nvSpPr>
          <p:cNvPr id="39" name="Text 30"/>
          <p:cNvSpPr/>
          <p:nvPr/>
        </p:nvSpPr>
        <p:spPr>
          <a:xfrm>
            <a:off x="808329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تسهيل عمل الفرق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9866376" y="2697480"/>
            <a:ext cx="182880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41" name="Shape 32"/>
          <p:cNvSpPr/>
          <p:nvPr/>
        </p:nvSpPr>
        <p:spPr>
          <a:xfrm>
            <a:off x="10323576" y="2971800"/>
            <a:ext cx="914400" cy="914400"/>
          </a:xfrm>
          <a:prstGeom prst="ellipse">
            <a:avLst/>
          </a:prstGeom>
          <a:solidFill>
            <a:srgbClr val="DCE7F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2176" y="3200400"/>
            <a:ext cx="457200" cy="457200"/>
          </a:xfrm>
          <a:prstGeom prst="rect">
            <a:avLst/>
          </a:prstGeom>
        </p:spPr>
      </p:pic>
      <p:sp>
        <p:nvSpPr>
          <p:cNvPr id="43" name="Shape 33"/>
          <p:cNvSpPr/>
          <p:nvPr/>
        </p:nvSpPr>
        <p:spPr>
          <a:xfrm>
            <a:off x="10117836" y="4069080"/>
            <a:ext cx="1325880" cy="0"/>
          </a:xfrm>
          <a:prstGeom prst="line">
            <a:avLst/>
          </a:prstGeom>
          <a:noFill/>
          <a:ln w="12700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9957816" y="416052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حصر الموجودين</a:t>
            </a:r>
            <a:endParaRPr lang="en-US" sz="1400" dirty="0"/>
          </a:p>
        </p:txBody>
      </p:sp>
      <p:sp>
        <p:nvSpPr>
          <p:cNvPr id="45" name="Text 35"/>
          <p:cNvSpPr/>
          <p:nvPr/>
        </p:nvSpPr>
        <p:spPr>
          <a:xfrm>
            <a:off x="9957816" y="457200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السلامة</a:t>
            </a:r>
            <a:endParaRPr lang="en-US" sz="1100" dirty="0"/>
          </a:p>
        </p:txBody>
      </p:sp>
      <p:sp>
        <p:nvSpPr>
          <p:cNvPr id="46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تنتظر رؤية الخطر حتى تبدأ بالتصرف</a:t>
            </a:r>
            <a:endParaRPr lang="ar-AE" sz="1200" dirty="0"/>
          </a:p>
        </p:txBody>
      </p:sp>
      <p:sp>
        <p:nvSpPr>
          <p:cNvPr id="48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9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50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4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6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7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8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9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يعني انطلاق جهاز الإنذار؟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احتمال خطر أو بلاغ يستدعي الانتباه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وجود دخان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بداية حريق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تسرب غاز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خلل في نظام السلامة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تمرين إخلاء معتمد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من الجهات المختصة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حتى لو كان الإنذار تدريبيًا، يجب التعامل معه كأنه حالة حقيقية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متى يجب التحرك فورًا؟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علامات تستدعي الاستجابة الفورية بلا انتظار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صوت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رائحة احتراق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رؤية دخان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ارتفاع حرارة المكان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توجيه رسمي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إعلانات صوتية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غير اعتيادية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كل ثانية في الطوارئ مهمة، ولا تنتظر التأكد قبل التحرك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 فور سماع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النشاط واستعد للتحرك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 عن أي نشاط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استمع للتعليمات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الأغراض الشخصية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اتجه إلى أقرب مخرج آمن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إلى نقطة التجمع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إلا بإذن رسمي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الهدوء يساعدك على اتخاذ القرار الصحيح بسرعة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اتباع مسارات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وُضعت لتوجيه الأفراد إلى المخارج الآمنة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لوحات الإرشاد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مسار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اعرف مسارًا بديلًا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تحجب الممرات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تسر عكس الاتجاه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في الممرات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أي عائق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المسار الواضح والخالي من العوائق يسرّع الإخلاء ويحمي الجميع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السلالم وعدم استخدام المصاعد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السلالم خيار آمن في الطوارئ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371600" y="2926080"/>
            <a:ext cx="2286000" cy="2286000"/>
          </a:xfrm>
          <a:prstGeom prst="ellipse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0" y="3383280"/>
            <a:ext cx="1371600" cy="1371600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154680" y="4617720"/>
            <a:ext cx="594360" cy="594360"/>
          </a:xfrm>
          <a:prstGeom prst="ellipse">
            <a:avLst/>
          </a:prstGeom>
          <a:solidFill>
            <a:srgbClr val="1B873F"/>
          </a:solidFill>
          <a:ln w="3810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91840" y="4754880"/>
            <a:ext cx="320040" cy="320040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4846320" y="269748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9"/>
          <p:cNvSpPr/>
          <p:nvPr/>
        </p:nvSpPr>
        <p:spPr>
          <a:xfrm>
            <a:off x="11320272" y="273405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0"/>
          <p:cNvSpPr/>
          <p:nvPr/>
        </p:nvSpPr>
        <p:spPr>
          <a:xfrm>
            <a:off x="11320272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7" name="Text 11"/>
          <p:cNvSpPr/>
          <p:nvPr/>
        </p:nvSpPr>
        <p:spPr>
          <a:xfrm>
            <a:off x="4983480" y="269748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المخصصة</a:t>
            </a:r>
            <a:endParaRPr lang="en-US" sz="1200" dirty="0"/>
          </a:p>
        </p:txBody>
      </p:sp>
      <p:sp>
        <p:nvSpPr>
          <p:cNvPr id="18" name="Shape 12"/>
          <p:cNvSpPr/>
          <p:nvPr/>
        </p:nvSpPr>
        <p:spPr>
          <a:xfrm>
            <a:off x="4846320" y="313639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11320272" y="317296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4"/>
          <p:cNvSpPr/>
          <p:nvPr/>
        </p:nvSpPr>
        <p:spPr>
          <a:xfrm>
            <a:off x="11320272" y="31729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4983480" y="313639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 عند الإنذار</a:t>
            </a:r>
            <a:endParaRPr lang="en-US" sz="1200" dirty="0"/>
          </a:p>
        </p:txBody>
      </p:sp>
      <p:sp>
        <p:nvSpPr>
          <p:cNvPr id="22" name="Shape 16"/>
          <p:cNvSpPr/>
          <p:nvPr/>
        </p:nvSpPr>
        <p:spPr>
          <a:xfrm>
            <a:off x="4846320" y="3575304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7"/>
          <p:cNvSpPr/>
          <p:nvPr/>
        </p:nvSpPr>
        <p:spPr>
          <a:xfrm>
            <a:off x="11320272" y="36118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18"/>
          <p:cNvSpPr/>
          <p:nvPr/>
        </p:nvSpPr>
        <p:spPr>
          <a:xfrm>
            <a:off x="11320272" y="3611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4983480" y="3575304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انزل بهدوء دون تدافع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4846320" y="4014216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1"/>
          <p:cNvSpPr/>
          <p:nvPr/>
        </p:nvSpPr>
        <p:spPr>
          <a:xfrm>
            <a:off x="11320272" y="405079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2"/>
          <p:cNvSpPr/>
          <p:nvPr/>
        </p:nvSpPr>
        <p:spPr>
          <a:xfrm>
            <a:off x="11320272" y="40507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4983480" y="4014216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أمسك الدرابزين عند الحاجة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4846320" y="4453128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5"/>
          <p:cNvSpPr/>
          <p:nvPr/>
        </p:nvSpPr>
        <p:spPr>
          <a:xfrm>
            <a:off x="11320272" y="4489704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6"/>
          <p:cNvSpPr/>
          <p:nvPr/>
        </p:nvSpPr>
        <p:spPr>
          <a:xfrm>
            <a:off x="11320272" y="448970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27"/>
          <p:cNvSpPr/>
          <p:nvPr/>
        </p:nvSpPr>
        <p:spPr>
          <a:xfrm>
            <a:off x="4983480" y="4453128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تتوقف داخل السلم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4846320" y="4892040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29"/>
          <p:cNvSpPr/>
          <p:nvPr/>
        </p:nvSpPr>
        <p:spPr>
          <a:xfrm>
            <a:off x="11320272" y="492861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0"/>
          <p:cNvSpPr/>
          <p:nvPr/>
        </p:nvSpPr>
        <p:spPr>
          <a:xfrm>
            <a:off x="11320272" y="49286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4983480" y="4892040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تحمل أغراضًا تعيق الحركة</a:t>
            </a:r>
            <a:endParaRPr lang="en-US" sz="1200" dirty="0"/>
          </a:p>
        </p:txBody>
      </p:sp>
      <p:sp>
        <p:nvSpPr>
          <p:cNvPr id="38" name="Shape 32"/>
          <p:cNvSpPr/>
          <p:nvPr/>
        </p:nvSpPr>
        <p:spPr>
          <a:xfrm>
            <a:off x="4846320" y="5330952"/>
            <a:ext cx="6858000" cy="365760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3"/>
          <p:cNvSpPr/>
          <p:nvPr/>
        </p:nvSpPr>
        <p:spPr>
          <a:xfrm>
            <a:off x="11320272" y="536752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4"/>
          <p:cNvSpPr/>
          <p:nvPr/>
        </p:nvSpPr>
        <p:spPr>
          <a:xfrm>
            <a:off x="11320272" y="536752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41" name="Text 35"/>
          <p:cNvSpPr/>
          <p:nvPr/>
        </p:nvSpPr>
        <p:spPr>
          <a:xfrm>
            <a:off x="4983480" y="5330952"/>
            <a:ext cx="6199632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اترك مساحة لمن يحتاج المساعدة</a:t>
            </a:r>
            <a:endParaRPr lang="en-US" sz="1200" dirty="0"/>
          </a:p>
        </p:txBody>
      </p:sp>
      <p:sp>
        <p:nvSpPr>
          <p:cNvPr id="42" name="Shape 36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7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المصعد قد يتعطل أو يتوقف في طابق متأثر بالخطر</a:t>
            </a:r>
            <a:endParaRPr lang="ar-AE" sz="1200" dirty="0"/>
          </a:p>
        </p:txBody>
      </p:sp>
      <p:sp>
        <p:nvSpPr>
          <p:cNvPr id="44" name="Shape 38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4" descr="/home/claude/assets/social_icon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9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0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1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2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3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4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5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6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4" name="Shape 47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8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إذا لاحظت دخانًا أثناء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حذر إضافي وعدم الاقتراب من مصدر الخطر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99632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347704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1347704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6336792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ابتعد عن الدخان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199632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11347704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6" name="Text 12"/>
          <p:cNvSpPr/>
          <p:nvPr/>
        </p:nvSpPr>
        <p:spPr>
          <a:xfrm>
            <a:off x="11347704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6336792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ممرًا مليئًا بالدخان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6199632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5"/>
          <p:cNvSpPr/>
          <p:nvPr/>
        </p:nvSpPr>
        <p:spPr>
          <a:xfrm>
            <a:off x="11347704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47704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6336792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تفتح بابًا فيه دخان كثيف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6199632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11347704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11347704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6336792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مسارًا بديلًا آمنًا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457200" y="2606040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3"/>
          <p:cNvSpPr/>
          <p:nvPr/>
        </p:nvSpPr>
        <p:spPr>
          <a:xfrm>
            <a:off x="5605272" y="2688336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8" name="Text 24"/>
          <p:cNvSpPr/>
          <p:nvPr/>
        </p:nvSpPr>
        <p:spPr>
          <a:xfrm>
            <a:off x="5605272" y="268833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100" dirty="0"/>
          </a:p>
        </p:txBody>
      </p:sp>
      <p:sp>
        <p:nvSpPr>
          <p:cNvPr id="29" name="Text 25"/>
          <p:cNvSpPr/>
          <p:nvPr/>
        </p:nvSpPr>
        <p:spPr>
          <a:xfrm>
            <a:off x="594360" y="2606040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أغلق الأبواب خلفك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57200" y="3182112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7"/>
          <p:cNvSpPr/>
          <p:nvPr/>
        </p:nvSpPr>
        <p:spPr>
          <a:xfrm>
            <a:off x="5605272" y="3264408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5605272" y="326440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594360" y="3182112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انتقل لموقع أكثر أمانًا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3758184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5605272" y="3840480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5605272" y="38404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100" dirty="0"/>
          </a:p>
        </p:txBody>
      </p:sp>
      <p:sp>
        <p:nvSpPr>
          <p:cNvPr id="37" name="Text 33"/>
          <p:cNvSpPr/>
          <p:nvPr/>
        </p:nvSpPr>
        <p:spPr>
          <a:xfrm>
            <a:off x="594360" y="3758184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 عند المساعدة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457200" y="4334256"/>
            <a:ext cx="553212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5"/>
          <p:cNvSpPr/>
          <p:nvPr/>
        </p:nvSpPr>
        <p:spPr>
          <a:xfrm>
            <a:off x="5605272" y="4416552"/>
            <a:ext cx="292608" cy="292608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40" name="Text 36"/>
          <p:cNvSpPr/>
          <p:nvPr/>
        </p:nvSpPr>
        <p:spPr>
          <a:xfrm>
            <a:off x="5605272" y="441655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8</a:t>
            </a:r>
            <a:endParaRPr lang="en-US" sz="1100" dirty="0"/>
          </a:p>
        </p:txBody>
      </p:sp>
      <p:sp>
        <p:nvSpPr>
          <p:cNvPr id="41" name="Text 37"/>
          <p:cNvSpPr/>
          <p:nvPr/>
        </p:nvSpPr>
        <p:spPr>
          <a:xfrm>
            <a:off x="594360" y="4334256"/>
            <a:ext cx="4873752" cy="4572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منخفضًا أثناء الخروج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9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الدخان قد يعيق الرؤية والتنفس، لذلك لا تستهين به</a:t>
            </a:r>
            <a:endParaRPr lang="ar-AE" sz="1200" dirty="0"/>
          </a:p>
        </p:txBody>
      </p:sp>
      <p:sp>
        <p:nvSpPr>
          <p:cNvPr id="44" name="Shape 4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4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4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4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4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4" name="Shape 4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5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 بعد الإخلاء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الموقع الآمن لتأكيد سلامة الجميع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الجميع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معرفة المفقودين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تنظيم الأفراد بعيدًا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إتاحة المجال للطوارئ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منع العودة العشوائية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ابقَ في النقطة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قبل المغادرة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للموظفين: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نقطة التجمع جزء أساسي من عملية الإخلاء، وليست خطوة اختيارية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الذي يجب تجنّبه عند انطلاق الإنذار؟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سلوكيات تؤخر الإخلاء وتعرّض الآخرين للخطر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3182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تجاهل صوت الإنذار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440283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13182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522579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الرجوع للأغراض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8243316" y="294894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13182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9066276" y="260604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استخدام المصعد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37947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56235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68630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38531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الركض والتدافع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421995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440283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6863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522579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تصوير الحدث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8060436" y="416052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8243316" y="45034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6863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9066276" y="4160520"/>
            <a:ext cx="2560320" cy="13716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فتح أبواب فيها دخان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25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الخروج الآمن أهم من الممتلكات أو التصوير</a:t>
            </a:r>
            <a:endParaRPr lang="ar-AE" sz="1200" dirty="0"/>
          </a:p>
        </p:txBody>
      </p:sp>
      <p:sp>
        <p:nvSpPr>
          <p:cNvPr id="36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0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2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4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التعامل مع الفئات الأكثر احتياجًا للدعم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بعض الأشخاص قد يحتاجون مساعدة إضافية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086100"/>
            <a:ext cx="411480" cy="41148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47675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الأطفال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147675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أبطأ وحاجة للتوجيه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21995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440283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5716" y="308610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1723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كبار السن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531723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حركة محدودة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8060436" y="260604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8243316" y="290322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26196" y="3086100"/>
            <a:ext cx="411480" cy="41148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9157716" y="27432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أصحاب الهمم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9157716" y="317296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ترتيبات إخلاء خاصة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37947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56235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236" y="4594860"/>
            <a:ext cx="411480" cy="411480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147675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المرضى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147675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صعوبة في الحركة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421995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440283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85716" y="4594860"/>
            <a:ext cx="411480" cy="411480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531723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النساء الحوامل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531723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تجنّب الإجهاد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8060436" y="4114800"/>
            <a:ext cx="37490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6" name="Shape 27"/>
          <p:cNvSpPr/>
          <p:nvPr/>
        </p:nvSpPr>
        <p:spPr>
          <a:xfrm>
            <a:off x="8243316" y="4411980"/>
            <a:ext cx="777240" cy="7772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426196" y="4594860"/>
            <a:ext cx="411480" cy="411480"/>
          </a:xfrm>
          <a:prstGeom prst="rect">
            <a:avLst/>
          </a:prstGeom>
        </p:spPr>
      </p:pic>
      <p:sp>
        <p:nvSpPr>
          <p:cNvPr id="38" name="Text 28"/>
          <p:cNvSpPr/>
          <p:nvPr/>
        </p:nvSpPr>
        <p:spPr>
          <a:xfrm>
            <a:off x="9157716" y="42519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الزوار</a:t>
            </a:r>
            <a:endParaRPr lang="en-US" sz="1400" dirty="0"/>
          </a:p>
        </p:txBody>
      </p:sp>
      <p:sp>
        <p:nvSpPr>
          <p:cNvPr id="39" name="Text 29"/>
          <p:cNvSpPr/>
          <p:nvPr/>
        </p:nvSpPr>
        <p:spPr>
          <a:xfrm>
            <a:off x="9157716" y="468172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t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غير ملمّين بالمبنى</a:t>
            </a:r>
            <a:endParaRPr lang="en-US" sz="1100" dirty="0"/>
          </a:p>
        </p:txBody>
      </p:sp>
      <p:sp>
        <p:nvSpPr>
          <p:cNvPr id="40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السلامة تشمل الجميع، ولا تكتمل دون مراعاة احتياجات الفئات الأكثر عرضة</a:t>
            </a:r>
            <a:endParaRPr lang="ar-AE" sz="1200" dirty="0"/>
          </a:p>
        </p:txBody>
      </p:sp>
      <p:sp>
        <p:nvSpPr>
          <p:cNvPr id="42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3" name="Image 8" descr="/home/claude/assets/social_icons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4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6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8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0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2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في المنزل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تصرف بسرعة وأخرج أفراد الأسرة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37947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56235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5236" y="310896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38531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نبّه أفراد الأسرة فورًا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25983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44271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25596" y="310896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26567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أقرب مخرج آمن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0896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تبحث عن الأغراض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9020556" y="260604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203436" y="29260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86316" y="310896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10026396" y="260604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تجمع خارجية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37947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56235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236" y="457200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138531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المنزل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325983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344271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625596" y="457200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426567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من موقع آمن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614019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632307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505956" y="457200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714603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علّم الأطفال صوت الإنذار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9020556" y="4069080"/>
            <a:ext cx="278892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9" name="Shape 28"/>
          <p:cNvSpPr/>
          <p:nvPr/>
        </p:nvSpPr>
        <p:spPr>
          <a:xfrm>
            <a:off x="9203436" y="438912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40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386316" y="4572000"/>
            <a:ext cx="320040" cy="320040"/>
          </a:xfrm>
          <a:prstGeom prst="rect">
            <a:avLst/>
          </a:prstGeom>
        </p:spPr>
      </p:pic>
      <p:sp>
        <p:nvSpPr>
          <p:cNvPr id="41" name="Text 29"/>
          <p:cNvSpPr/>
          <p:nvPr/>
        </p:nvSpPr>
        <p:spPr>
          <a:xfrm>
            <a:off x="10026396" y="4069080"/>
            <a:ext cx="1600200" cy="13258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الجهات</a:t>
            </a:r>
            <a:endParaRPr lang="en-US" sz="1300" dirty="0"/>
          </a:p>
        </p:txBody>
      </p:sp>
      <p:sp>
        <p:nvSpPr>
          <p:cNvPr id="42" name="Shape 30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خطة الهروب المنزلية تجعل الاستجابة أسرع وأكثر تنظيمًا</a:t>
            </a:r>
            <a:endParaRPr lang="ar-AE" sz="1200" dirty="0"/>
          </a:p>
        </p:txBody>
      </p:sp>
      <p:sp>
        <p:nvSpPr>
          <p:cNvPr id="44" name="Shape 32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5" name="Image 10" descr="/home/claude/assets/social_icons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6" name="Shape 33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4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8" name="Shape 35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6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50" name="Shape 37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8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52" name="Shape 39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0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4" name="Shape 41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5" name="Text 42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الإنذار في مكان العمل والمرافق العامة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بتوجيهات المسؤولين وفريق السلامة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74523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92811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0996" y="3154680"/>
            <a:ext cx="320040" cy="320040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175107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عن النشاط فورًا</a:t>
            </a:r>
            <a:endParaRPr lang="en-US" sz="1300" dirty="0"/>
          </a:p>
        </p:txBody>
      </p:sp>
      <p:sp>
        <p:nvSpPr>
          <p:cNvPr id="14" name="Shape 9"/>
          <p:cNvSpPr/>
          <p:nvPr/>
        </p:nvSpPr>
        <p:spPr>
          <a:xfrm>
            <a:off x="344271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Shape 10"/>
          <p:cNvSpPr/>
          <p:nvPr/>
        </p:nvSpPr>
        <p:spPr>
          <a:xfrm>
            <a:off x="362559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8476" y="3154680"/>
            <a:ext cx="320040" cy="3200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44855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تعليمات السلامة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14019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9" name="Shape 13"/>
          <p:cNvSpPr/>
          <p:nvPr/>
        </p:nvSpPr>
        <p:spPr>
          <a:xfrm>
            <a:off x="632307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3154680"/>
            <a:ext cx="320040" cy="3200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4603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 الزوار بهدوء</a:t>
            </a:r>
            <a:endParaRPr lang="en-US" sz="1300" dirty="0"/>
          </a:p>
        </p:txBody>
      </p:sp>
      <p:sp>
        <p:nvSpPr>
          <p:cNvPr id="22" name="Shape 15"/>
          <p:cNvSpPr/>
          <p:nvPr/>
        </p:nvSpPr>
        <p:spPr>
          <a:xfrm>
            <a:off x="8837676" y="260604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6"/>
          <p:cNvSpPr/>
          <p:nvPr/>
        </p:nvSpPr>
        <p:spPr>
          <a:xfrm>
            <a:off x="9020556" y="297180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03436" y="3154680"/>
            <a:ext cx="320040" cy="320040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9843516" y="260604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السلالم والمخارج</a:t>
            </a:r>
            <a:endParaRPr lang="en-US" sz="1300" dirty="0"/>
          </a:p>
        </p:txBody>
      </p:sp>
      <p:sp>
        <p:nvSpPr>
          <p:cNvPr id="26" name="Shape 18"/>
          <p:cNvSpPr/>
          <p:nvPr/>
        </p:nvSpPr>
        <p:spPr>
          <a:xfrm>
            <a:off x="209397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7" name="Shape 19"/>
          <p:cNvSpPr/>
          <p:nvPr/>
        </p:nvSpPr>
        <p:spPr>
          <a:xfrm>
            <a:off x="227685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8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59736" y="4663440"/>
            <a:ext cx="320040" cy="320040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309981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المصاعد</a:t>
            </a:r>
            <a:endParaRPr lang="en-US" sz="1300" dirty="0"/>
          </a:p>
        </p:txBody>
      </p:sp>
      <p:sp>
        <p:nvSpPr>
          <p:cNvPr id="30" name="Shape 21"/>
          <p:cNvSpPr/>
          <p:nvPr/>
        </p:nvSpPr>
        <p:spPr>
          <a:xfrm>
            <a:off x="479145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1" name="Shape 22"/>
          <p:cNvSpPr/>
          <p:nvPr/>
        </p:nvSpPr>
        <p:spPr>
          <a:xfrm>
            <a:off x="497433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157216" y="4663440"/>
            <a:ext cx="320040" cy="320040"/>
          </a:xfrm>
          <a:prstGeom prst="rect">
            <a:avLst/>
          </a:prstGeom>
        </p:spPr>
      </p:pic>
      <p:sp>
        <p:nvSpPr>
          <p:cNvPr id="33" name="Text 23"/>
          <p:cNvSpPr/>
          <p:nvPr/>
        </p:nvSpPr>
        <p:spPr>
          <a:xfrm>
            <a:off x="579729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34" name="Shape 24"/>
          <p:cNvSpPr/>
          <p:nvPr/>
        </p:nvSpPr>
        <p:spPr>
          <a:xfrm>
            <a:off x="7488936" y="4114800"/>
            <a:ext cx="260604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5" name="Shape 25"/>
          <p:cNvSpPr/>
          <p:nvPr/>
        </p:nvSpPr>
        <p:spPr>
          <a:xfrm>
            <a:off x="7671816" y="448056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54696" y="4663440"/>
            <a:ext cx="320040" cy="320040"/>
          </a:xfrm>
          <a:prstGeom prst="rect">
            <a:avLst/>
          </a:prstGeom>
        </p:spPr>
      </p:pic>
      <p:sp>
        <p:nvSpPr>
          <p:cNvPr id="37" name="Text 26"/>
          <p:cNvSpPr/>
          <p:nvPr/>
        </p:nvSpPr>
        <p:spPr>
          <a:xfrm>
            <a:off x="8494776" y="4114800"/>
            <a:ext cx="1417320" cy="1417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تغادر قبل التعليمات</a:t>
            </a:r>
            <a:endParaRPr lang="en-US" sz="1300" dirty="0"/>
          </a:p>
        </p:txBody>
      </p:sp>
      <p:sp>
        <p:nvSpPr>
          <p:cNvPr id="38" name="Shape 27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28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رسالة مهمة: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الالتزام الجماعي يقلل الفوضى ويساعد على إخلاء آمن</a:t>
            </a:r>
            <a:endParaRPr lang="ar-AE" sz="1200" dirty="0"/>
          </a:p>
        </p:txBody>
      </p:sp>
      <p:sp>
        <p:nvSpPr>
          <p:cNvPr id="40" name="Shape 29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1" name="Image 9" descr="/home/claude/assets/social_icon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42" name="Shape 30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1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44" name="Shape 32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33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6" name="Shape 34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35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8" name="Shape 36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37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50" name="Shape 38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39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الإبلاغ والتواصل أثناء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المعلومات الدقيقة تساعد على الاستجابة السريعة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1005840" y="2606040"/>
            <a:ext cx="1828800" cy="1828800"/>
          </a:xfrm>
          <a:prstGeom prst="ellipse">
            <a:avLst/>
          </a:prstGeom>
          <a:solidFill>
            <a:srgbClr val="DC2626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70432" y="2770632"/>
            <a:ext cx="1499616" cy="149961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1005840" y="297180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999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1005840" y="363931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kern="0" spc="100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EMERGENCY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200400" y="2788920"/>
            <a:ext cx="854964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762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3383280" y="2834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مثال على بلاغ واضح: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383280" y="320040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"يوجد دخان في الممر الشرقي بالطابق الثاني، وعدد من الأشخاص يتجهون إلى السلم"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56235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4"/>
          <p:cNvSpPr/>
          <p:nvPr/>
        </p:nvSpPr>
        <p:spPr>
          <a:xfrm>
            <a:off x="74523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" y="4823460"/>
            <a:ext cx="320040" cy="3200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56819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حدد موقعك بدقة</a:t>
            </a:r>
            <a:endParaRPr lang="en-US" sz="1300" dirty="0"/>
          </a:p>
        </p:txBody>
      </p:sp>
      <p:sp>
        <p:nvSpPr>
          <p:cNvPr id="21" name="Shape 16"/>
          <p:cNvSpPr/>
          <p:nvPr/>
        </p:nvSpPr>
        <p:spPr>
          <a:xfrm>
            <a:off x="335127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2" name="Shape 17"/>
          <p:cNvSpPr/>
          <p:nvPr/>
        </p:nvSpPr>
        <p:spPr>
          <a:xfrm>
            <a:off x="353415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036" y="4823460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435711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اذكر نوع الخطر</a:t>
            </a:r>
            <a:endParaRPr lang="en-US" sz="1300" dirty="0"/>
          </a:p>
        </p:txBody>
      </p:sp>
      <p:sp>
        <p:nvSpPr>
          <p:cNvPr id="25" name="Shape 19"/>
          <p:cNvSpPr/>
          <p:nvPr/>
        </p:nvSpPr>
        <p:spPr>
          <a:xfrm>
            <a:off x="614019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Shape 20"/>
          <p:cNvSpPr/>
          <p:nvPr/>
        </p:nvSpPr>
        <p:spPr>
          <a:xfrm>
            <a:off x="632307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05956" y="4823460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714603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المحتاجين</a:t>
            </a:r>
            <a:endParaRPr lang="en-US" sz="1300" dirty="0"/>
          </a:p>
        </p:txBody>
      </p:sp>
      <p:sp>
        <p:nvSpPr>
          <p:cNvPr id="29" name="Shape 22"/>
          <p:cNvSpPr/>
          <p:nvPr/>
        </p:nvSpPr>
        <p:spPr>
          <a:xfrm>
            <a:off x="8929116" y="4434840"/>
            <a:ext cx="269748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30" name="Shape 23"/>
          <p:cNvSpPr/>
          <p:nvPr/>
        </p:nvSpPr>
        <p:spPr>
          <a:xfrm>
            <a:off x="9111996" y="4640580"/>
            <a:ext cx="685800" cy="68580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94876" y="4823460"/>
            <a:ext cx="320040" cy="320040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9934956" y="4434840"/>
            <a:ext cx="1508760" cy="10972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33" name="Shape 25"/>
          <p:cNvSpPr/>
          <p:nvPr/>
        </p:nvSpPr>
        <p:spPr>
          <a:xfrm>
            <a:off x="457200" y="5669280"/>
            <a:ext cx="11247120" cy="502920"/>
          </a:xfrm>
          <a:prstGeom prst="roundRect">
            <a:avLst>
              <a:gd name="adj" fmla="val 9091"/>
            </a:avLst>
          </a:prstGeom>
          <a:solidFill>
            <a:srgbClr val="FEF2F2"/>
          </a:solidFill>
          <a:ln w="9525">
            <a:solidFill>
              <a:srgbClr val="FCA5A5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26"/>
          <p:cNvSpPr/>
          <p:nvPr/>
        </p:nvSpPr>
        <p:spPr>
          <a:xfrm>
            <a:off x="640080" y="5669280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991B1B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تذكَّر: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البلاغ الواضح والدقيق ينقذ الأرواح ويسرّع وصول المساعدة</a:t>
            </a:r>
            <a:endParaRPr lang="ar-AE" sz="1200" dirty="0"/>
          </a:p>
        </p:txBody>
      </p:sp>
      <p:sp>
        <p:nvSpPr>
          <p:cNvPr id="35" name="Shape 27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6" descr="/home/claude/assets/social_icons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8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9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30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1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2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3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4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5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45" name="Shape 36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7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ولا تفعل عند انطلاق الإنذار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ممارسات صحيحة وأخرى يجب تجنّبها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153912" y="2606040"/>
            <a:ext cx="5577840" cy="502920"/>
          </a:xfrm>
          <a:prstGeom prst="rect">
            <a:avLst/>
          </a:prstGeom>
          <a:solidFill>
            <a:srgbClr val="D1FAE5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افعل  ✓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11320272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11320272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6336792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تعامل بجدية مع الإنذار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1320272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11320272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6336792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حافظ على الهدوء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1320272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11320272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6336792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اتبع التعليمات الرسمية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1320272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11320272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6336792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استخدم مخارج الطوارئ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1320272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2"/>
          <p:cNvSpPr/>
          <p:nvPr/>
        </p:nvSpPr>
        <p:spPr>
          <a:xfrm>
            <a:off x="11320272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6336792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توجه لنقطة التجمع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1320272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5"/>
          <p:cNvSpPr/>
          <p:nvPr/>
        </p:nvSpPr>
        <p:spPr>
          <a:xfrm>
            <a:off x="11320272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6336792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أبلغ عن المحتاجين</a:t>
            </a:r>
            <a:endParaRPr lang="en-US" sz="1300" dirty="0"/>
          </a:p>
        </p:txBody>
      </p:sp>
      <p:sp>
        <p:nvSpPr>
          <p:cNvPr id="31" name="Shape 27"/>
          <p:cNvSpPr/>
          <p:nvPr/>
        </p:nvSpPr>
        <p:spPr>
          <a:xfrm>
            <a:off x="11320272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8"/>
          <p:cNvSpPr/>
          <p:nvPr/>
        </p:nvSpPr>
        <p:spPr>
          <a:xfrm>
            <a:off x="11320272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6336792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اتصل بـ 999 عند الحاجة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457200" y="2606040"/>
            <a:ext cx="5577840" cy="3749040"/>
          </a:xfrm>
          <a:prstGeom prst="roundRect">
            <a:avLst>
              <a:gd name="adj" fmla="val 1951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1"/>
          <p:cNvSpPr/>
          <p:nvPr/>
        </p:nvSpPr>
        <p:spPr>
          <a:xfrm>
            <a:off x="457200" y="2606040"/>
            <a:ext cx="5577840" cy="502920"/>
          </a:xfrm>
          <a:prstGeom prst="rect">
            <a:avLst/>
          </a:prstGeom>
          <a:solidFill>
            <a:srgbClr val="FEE2E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6" name="Text 32"/>
          <p:cNvSpPr/>
          <p:nvPr/>
        </p:nvSpPr>
        <p:spPr>
          <a:xfrm>
            <a:off x="640080" y="2606040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تفعل  ✕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623560" y="3291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4"/>
          <p:cNvSpPr/>
          <p:nvPr/>
        </p:nvSpPr>
        <p:spPr>
          <a:xfrm>
            <a:off x="562356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5"/>
          <p:cNvSpPr/>
          <p:nvPr/>
        </p:nvSpPr>
        <p:spPr>
          <a:xfrm>
            <a:off x="640080" y="3246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الإنذار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5623560" y="3749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7"/>
          <p:cNvSpPr/>
          <p:nvPr/>
        </p:nvSpPr>
        <p:spPr>
          <a:xfrm>
            <a:off x="5623560" y="3749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2</a:t>
            </a:r>
            <a:endParaRPr lang="en-US" sz="1000" dirty="0"/>
          </a:p>
        </p:txBody>
      </p:sp>
      <p:sp>
        <p:nvSpPr>
          <p:cNvPr id="42" name="Text 38"/>
          <p:cNvSpPr/>
          <p:nvPr/>
        </p:nvSpPr>
        <p:spPr>
          <a:xfrm>
            <a:off x="640080" y="3703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تستخدم المصعد</a:t>
            </a:r>
            <a:endParaRPr lang="en-US" sz="1300" dirty="0"/>
          </a:p>
        </p:txBody>
      </p:sp>
      <p:sp>
        <p:nvSpPr>
          <p:cNvPr id="43" name="Shape 39"/>
          <p:cNvSpPr/>
          <p:nvPr/>
        </p:nvSpPr>
        <p:spPr>
          <a:xfrm>
            <a:off x="5623560" y="42062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0"/>
          <p:cNvSpPr/>
          <p:nvPr/>
        </p:nvSpPr>
        <p:spPr>
          <a:xfrm>
            <a:off x="5623560" y="4206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3</a:t>
            </a:r>
            <a:endParaRPr lang="en-US" sz="1000" dirty="0"/>
          </a:p>
        </p:txBody>
      </p:sp>
      <p:sp>
        <p:nvSpPr>
          <p:cNvPr id="45" name="Text 41"/>
          <p:cNvSpPr/>
          <p:nvPr/>
        </p:nvSpPr>
        <p:spPr>
          <a:xfrm>
            <a:off x="640080" y="41605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ترجع للأغراض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5623560" y="46634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Text 43"/>
          <p:cNvSpPr/>
          <p:nvPr/>
        </p:nvSpPr>
        <p:spPr>
          <a:xfrm>
            <a:off x="5623560" y="46634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4</a:t>
            </a:r>
            <a:endParaRPr lang="en-US" sz="1000" dirty="0"/>
          </a:p>
        </p:txBody>
      </p:sp>
      <p:sp>
        <p:nvSpPr>
          <p:cNvPr id="48" name="Text 44"/>
          <p:cNvSpPr/>
          <p:nvPr/>
        </p:nvSpPr>
        <p:spPr>
          <a:xfrm>
            <a:off x="640080" y="46177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تركض أو تدفع الآخرين</a:t>
            </a:r>
            <a:endParaRPr lang="en-US" sz="1300" dirty="0"/>
          </a:p>
        </p:txBody>
      </p:sp>
      <p:sp>
        <p:nvSpPr>
          <p:cNvPr id="49" name="Shape 45"/>
          <p:cNvSpPr/>
          <p:nvPr/>
        </p:nvSpPr>
        <p:spPr>
          <a:xfrm>
            <a:off x="5623560" y="51206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6"/>
          <p:cNvSpPr/>
          <p:nvPr/>
        </p:nvSpPr>
        <p:spPr>
          <a:xfrm>
            <a:off x="5623560" y="51206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5</a:t>
            </a:r>
            <a:endParaRPr lang="en-US" sz="1000" dirty="0"/>
          </a:p>
        </p:txBody>
      </p:sp>
      <p:sp>
        <p:nvSpPr>
          <p:cNvPr id="51" name="Text 47"/>
          <p:cNvSpPr/>
          <p:nvPr/>
        </p:nvSpPr>
        <p:spPr>
          <a:xfrm>
            <a:off x="640080" y="50749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تقترب من الدخان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5623560" y="55778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3" name="Text 49"/>
          <p:cNvSpPr/>
          <p:nvPr/>
        </p:nvSpPr>
        <p:spPr>
          <a:xfrm>
            <a:off x="5623560" y="5577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6</a:t>
            </a:r>
            <a:endParaRPr lang="en-US" sz="1000" dirty="0"/>
          </a:p>
        </p:txBody>
      </p:sp>
      <p:sp>
        <p:nvSpPr>
          <p:cNvPr id="54" name="Text 50"/>
          <p:cNvSpPr/>
          <p:nvPr/>
        </p:nvSpPr>
        <p:spPr>
          <a:xfrm>
            <a:off x="640080" y="55321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تنشر معلومات غير مؤكدة</a:t>
            </a:r>
            <a:endParaRPr lang="en-US" sz="1300" dirty="0"/>
          </a:p>
        </p:txBody>
      </p:sp>
      <p:sp>
        <p:nvSpPr>
          <p:cNvPr id="55" name="Shape 51"/>
          <p:cNvSpPr/>
          <p:nvPr/>
        </p:nvSpPr>
        <p:spPr>
          <a:xfrm>
            <a:off x="5623560" y="6035040"/>
            <a:ext cx="292608" cy="292608"/>
          </a:xfrm>
          <a:prstGeom prst="ellipse">
            <a:avLst/>
          </a:prstGeom>
          <a:solidFill>
            <a:srgbClr val="FFFFFF"/>
          </a:solidFill>
          <a:ln w="19050">
            <a:solidFill>
              <a:srgbClr val="DC262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6" name="Text 52"/>
          <p:cNvSpPr/>
          <p:nvPr/>
        </p:nvSpPr>
        <p:spPr>
          <a:xfrm>
            <a:off x="5623560" y="60350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C2626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7</a:t>
            </a:r>
            <a:endParaRPr lang="en-US" sz="1000" dirty="0"/>
          </a:p>
        </p:txBody>
      </p:sp>
      <p:sp>
        <p:nvSpPr>
          <p:cNvPr id="57" name="Text 53"/>
          <p:cNvSpPr/>
          <p:nvPr/>
        </p:nvSpPr>
        <p:spPr>
          <a:xfrm>
            <a:off x="640080" y="598932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قبل التصريح الرسمي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9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60" name="Shape 55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1" name="Text 56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62" name="Shape 57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3" name="Text 58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64" name="Shape 59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5" name="Text 60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66" name="Shape 61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7" name="Text 62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68" name="Shape 63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9" name="Text 64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سيناريوهات تفاعلية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تطبيق عملي لما تعلمته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6153912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6336792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8"/>
          <p:cNvSpPr/>
          <p:nvPr/>
        </p:nvSpPr>
        <p:spPr>
          <a:xfrm>
            <a:off x="6336792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1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7525512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انطلق الإنذار وأنت داخل مبنى عام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6336792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/>
          <p:cNvSpPr/>
          <p:nvPr/>
        </p:nvSpPr>
        <p:spPr>
          <a:xfrm>
            <a:off x="6473952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توقف فورًا، واتبع مسار الإخلاء إلى نقطة التجمع</a:t>
            </a:r>
            <a:endParaRPr lang="ar-AE" sz="1200" dirty="0"/>
          </a:p>
        </p:txBody>
      </p:sp>
      <p:sp>
        <p:nvSpPr>
          <p:cNvPr id="16" name="Shape 12"/>
          <p:cNvSpPr/>
          <p:nvPr/>
        </p:nvSpPr>
        <p:spPr>
          <a:xfrm>
            <a:off x="457200" y="26060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640080" y="27706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4"/>
          <p:cNvSpPr/>
          <p:nvPr/>
        </p:nvSpPr>
        <p:spPr>
          <a:xfrm>
            <a:off x="640080" y="27706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2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828800" y="27432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أشخاص يتجهون لاستخدام المصعد أثناء الإنذار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640080" y="32918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777240" y="33192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وجّههم بهدوء لاستخدام السلالم وأبلغ فريق السلامة</a:t>
            </a:r>
            <a:endParaRPr lang="ar-AE" sz="1200" dirty="0"/>
          </a:p>
        </p:txBody>
      </p:sp>
      <p:sp>
        <p:nvSpPr>
          <p:cNvPr id="22" name="Shape 18"/>
          <p:cNvSpPr/>
          <p:nvPr/>
        </p:nvSpPr>
        <p:spPr>
          <a:xfrm>
            <a:off x="6153912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3" name="Shape 19"/>
          <p:cNvSpPr/>
          <p:nvPr/>
        </p:nvSpPr>
        <p:spPr>
          <a:xfrm>
            <a:off x="6336792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4" name="Text 20"/>
          <p:cNvSpPr/>
          <p:nvPr/>
        </p:nvSpPr>
        <p:spPr>
          <a:xfrm>
            <a:off x="6336792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3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7525512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لاحظت دخانًا في الممر القريب من المخرج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336792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3"/>
          <p:cNvSpPr/>
          <p:nvPr/>
        </p:nvSpPr>
        <p:spPr>
          <a:xfrm>
            <a:off x="6473952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تدخل الممر، استخدم مسارًا بديلًا أو اطلب المساعدة</a:t>
            </a:r>
            <a:endParaRPr lang="ar-AE" sz="1200" dirty="0"/>
          </a:p>
        </p:txBody>
      </p:sp>
      <p:sp>
        <p:nvSpPr>
          <p:cNvPr id="28" name="Shape 24"/>
          <p:cNvSpPr/>
          <p:nvPr/>
        </p:nvSpPr>
        <p:spPr>
          <a:xfrm>
            <a:off x="457200" y="4434840"/>
            <a:ext cx="55778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  <a:effectLst>
            <a:outerShdw blurRad="101600" dist="25400" dir="5400000" algn="bl" rotWithShape="0">
              <a:srgbClr val="1F2E5A">
                <a:alpha val="6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9" name="Shape 25"/>
          <p:cNvSpPr/>
          <p:nvPr/>
        </p:nvSpPr>
        <p:spPr>
          <a:xfrm>
            <a:off x="640080" y="4599432"/>
            <a:ext cx="1097280" cy="384048"/>
          </a:xfrm>
          <a:prstGeom prst="roundRect">
            <a:avLst>
              <a:gd name="adj" fmla="val 11905"/>
            </a:avLst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0" name="Text 26"/>
          <p:cNvSpPr/>
          <p:nvPr/>
        </p:nvSpPr>
        <p:spPr>
          <a:xfrm>
            <a:off x="640080" y="4599432"/>
            <a:ext cx="1097280" cy="38404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FFFF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سيناريو 4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828800" y="457200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خرجت من المبنى وتذكرت غرضًا مهمًا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40080" y="5120640"/>
            <a:ext cx="5212080" cy="868680"/>
          </a:xfrm>
          <a:prstGeom prst="roundRect">
            <a:avLst>
              <a:gd name="adj" fmla="val 5263"/>
            </a:avLst>
          </a:prstGeom>
          <a:solidFill>
            <a:srgbClr val="D1FAE5"/>
          </a:solidFill>
          <a:ln w="6350">
            <a:solidFill>
              <a:srgbClr val="1B87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9"/>
          <p:cNvSpPr/>
          <p:nvPr/>
        </p:nvSpPr>
        <p:spPr>
          <a:xfrm>
            <a:off x="777240" y="5148072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2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التصرف الصحيح: </a:t>
            </a:r>
            <a:r>
              <a:rPr lang="ar-AE" altLang="en-US" sz="1200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تعُد إلى المبنى، وانتظر التعليمات الرسمية</a:t>
            </a:r>
            <a:endParaRPr lang="ar-AE" sz="1200" dirty="0"/>
          </a:p>
        </p:txBody>
      </p:sp>
      <p:sp>
        <p:nvSpPr>
          <p:cNvPr id="34" name="Shape 30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5" name="Image 2" descr="/home/claude/assets/social_icon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6" name="Shape 31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2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8" name="Shape 33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4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6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2" name="Shape 37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Text 38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44" name="Shape 39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Text 40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3"/>
          <p:cNvSpPr/>
          <p:nvPr/>
        </p:nvSpPr>
        <p:spPr>
          <a:xfrm>
            <a:off x="457200" y="1280160"/>
            <a:ext cx="11247120" cy="5943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اختبر معلوماتك</a:t>
            </a:r>
            <a:endParaRPr lang="en-US" sz="2800" dirty="0"/>
          </a:p>
        </p:txBody>
      </p:sp>
      <p:sp>
        <p:nvSpPr>
          <p:cNvPr id="8" name="Text 4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أسئلة سريعة لتقييم فهمك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9875520" y="2331720"/>
            <a:ext cx="1828800" cy="0"/>
          </a:xfrm>
          <a:prstGeom prst="line">
            <a:avLst/>
          </a:prstGeom>
          <a:noFill/>
          <a:ln w="222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Shape 6"/>
          <p:cNvSpPr/>
          <p:nvPr/>
        </p:nvSpPr>
        <p:spPr>
          <a:xfrm>
            <a:off x="457200" y="2606040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7"/>
          <p:cNvSpPr/>
          <p:nvPr/>
        </p:nvSpPr>
        <p:spPr>
          <a:xfrm>
            <a:off x="11201400" y="2706624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2770632"/>
            <a:ext cx="237744" cy="23774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640080" y="2651760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س1: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عند سماع جهاز الإنذار؟</a:t>
            </a:r>
            <a:endParaRPr lang="ar-AE" sz="1300" dirty="0"/>
          </a:p>
        </p:txBody>
      </p:sp>
      <p:sp>
        <p:nvSpPr>
          <p:cNvPr id="14" name="Text 9"/>
          <p:cNvSpPr/>
          <p:nvPr/>
        </p:nvSpPr>
        <p:spPr>
          <a:xfrm>
            <a:off x="640080" y="2898648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أتعامل معه بجدية وأتبع تعليمات الإخلاء إلى نقطة التجمع</a:t>
            </a:r>
            <a:endParaRPr lang="ar-AE" sz="1100" dirty="0"/>
          </a:p>
        </p:txBody>
      </p:sp>
      <p:sp>
        <p:nvSpPr>
          <p:cNvPr id="15" name="Shape 10"/>
          <p:cNvSpPr/>
          <p:nvPr/>
        </p:nvSpPr>
        <p:spPr>
          <a:xfrm>
            <a:off x="457200" y="3209544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1"/>
          <p:cNvSpPr/>
          <p:nvPr/>
        </p:nvSpPr>
        <p:spPr>
          <a:xfrm>
            <a:off x="11201400" y="3310128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37413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0080" y="3255264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س2: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هل يجوز استخدام المصعد أثناء إنذار الحريق؟</a:t>
            </a:r>
            <a:endParaRPr lang="ar-AE" sz="1300" dirty="0"/>
          </a:p>
        </p:txBody>
      </p:sp>
      <p:sp>
        <p:nvSpPr>
          <p:cNvPr id="19" name="Text 13"/>
          <p:cNvSpPr/>
          <p:nvPr/>
        </p:nvSpPr>
        <p:spPr>
          <a:xfrm>
            <a:off x="640080" y="3502152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لا، يجب استخدام السلالم</a:t>
            </a:r>
            <a:endParaRPr lang="ar-AE" sz="1100" dirty="0"/>
          </a:p>
        </p:txBody>
      </p:sp>
      <p:sp>
        <p:nvSpPr>
          <p:cNvPr id="20" name="Shape 14"/>
          <p:cNvSpPr/>
          <p:nvPr/>
        </p:nvSpPr>
        <p:spPr>
          <a:xfrm>
            <a:off x="457200" y="3813048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5"/>
          <p:cNvSpPr/>
          <p:nvPr/>
        </p:nvSpPr>
        <p:spPr>
          <a:xfrm>
            <a:off x="11201400" y="3913632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2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3977640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640080" y="3858768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س3: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ماذا تفعل إذا كان الممر مليئًا بالدخان؟</a:t>
            </a:r>
            <a:endParaRPr lang="ar-AE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4105656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أدخل الممر، وأستخدم مسارًا بديلًا أو أطلب المساعدة</a:t>
            </a:r>
            <a:endParaRPr lang="ar-AE" sz="1100" dirty="0"/>
          </a:p>
        </p:txBody>
      </p:sp>
      <p:sp>
        <p:nvSpPr>
          <p:cNvPr id="25" name="Shape 18"/>
          <p:cNvSpPr/>
          <p:nvPr/>
        </p:nvSpPr>
        <p:spPr>
          <a:xfrm>
            <a:off x="457200" y="4416552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19"/>
          <p:cNvSpPr/>
          <p:nvPr/>
        </p:nvSpPr>
        <p:spPr>
          <a:xfrm>
            <a:off x="11201400" y="4517136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458114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640080" y="4462272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س4: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لماذا لا نعود إلى المبنى بعد الخروج؟</a:t>
            </a:r>
            <a:endParaRPr lang="ar-AE" sz="1300" dirty="0"/>
          </a:p>
        </p:txBody>
      </p:sp>
      <p:sp>
        <p:nvSpPr>
          <p:cNvPr id="29" name="Text 21"/>
          <p:cNvSpPr/>
          <p:nvPr/>
        </p:nvSpPr>
        <p:spPr>
          <a:xfrm>
            <a:off x="640080" y="4709160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لأن الخطر قد يكون مستمرًا أو غير ظاهر</a:t>
            </a:r>
            <a:endParaRPr lang="ar-AE" sz="1100" dirty="0"/>
          </a:p>
        </p:txBody>
      </p:sp>
      <p:sp>
        <p:nvSpPr>
          <p:cNvPr id="30" name="Shape 22"/>
          <p:cNvSpPr/>
          <p:nvPr/>
        </p:nvSpPr>
        <p:spPr>
          <a:xfrm>
            <a:off x="457200" y="5020056"/>
            <a:ext cx="11247120" cy="566928"/>
          </a:xfrm>
          <a:prstGeom prst="roundRect">
            <a:avLst>
              <a:gd name="adj" fmla="val 8065"/>
            </a:avLst>
          </a:prstGeom>
          <a:solidFill>
            <a:srgbClr val="FFFFFF"/>
          </a:solidFill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3"/>
          <p:cNvSpPr/>
          <p:nvPr/>
        </p:nvSpPr>
        <p:spPr>
          <a:xfrm>
            <a:off x="11201400" y="5120640"/>
            <a:ext cx="365760" cy="36576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65408" y="5184648"/>
            <a:ext cx="237744" cy="237744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640080" y="5065776"/>
            <a:ext cx="10469880" cy="27432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300" b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س5: </a:t>
            </a:r>
            <a:r>
              <a:rPr lang="ar-AE" altLang="en-US" sz="13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ما أهمية نقطة التجمع؟</a:t>
            </a:r>
            <a:endParaRPr lang="ar-AE" sz="1300" dirty="0"/>
          </a:p>
        </p:txBody>
      </p:sp>
      <p:sp>
        <p:nvSpPr>
          <p:cNvPr id="34" name="Text 25"/>
          <p:cNvSpPr/>
          <p:nvPr/>
        </p:nvSpPr>
        <p:spPr>
          <a:xfrm>
            <a:off x="640080" y="5312664"/>
            <a:ext cx="10469880" cy="246888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r" rtl="1">
              <a:buNone/>
            </a:pPr>
            <a:r>
              <a:rPr lang="ar-AE" altLang="en-US" sz="1100" b="1" dirty="0">
                <a:solidFill>
                  <a:srgbClr val="1B873F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الإجابة: </a:t>
            </a:r>
            <a:r>
              <a:rPr lang="ar-AE" altLang="en-US" sz="11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التأكد من سلامة الجميع وتنظيم الأفراد بعيدًا عن الخطر</a:t>
            </a:r>
            <a:endParaRPr lang="ar-AE" sz="1100" dirty="0"/>
          </a:p>
        </p:txBody>
      </p:sp>
      <p:sp>
        <p:nvSpPr>
          <p:cNvPr id="35" name="Shape 26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6" name="Image 7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28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39" name="Shape 29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0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2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34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36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assets/logo_p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28600"/>
            <a:ext cx="777240" cy="777240"/>
          </a:xfrm>
          <a:prstGeom prst="rect">
            <a:avLst/>
          </a:prstGeom>
        </p:spPr>
      </p:pic>
      <p:pic>
        <p:nvPicPr>
          <p:cNvPr id="3" name="Image 1" descr="/home/claude/assets/logo_adcd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49840" y="320040"/>
            <a:ext cx="1691640" cy="50292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-1097280" y="4572000"/>
            <a:ext cx="2743200" cy="27432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1"/>
          <p:cNvSpPr/>
          <p:nvPr/>
        </p:nvSpPr>
        <p:spPr>
          <a:xfrm>
            <a:off x="11430000" y="5029200"/>
            <a:ext cx="1828800" cy="1828800"/>
          </a:xfrm>
          <a:prstGeom prst="ellipse">
            <a:avLst/>
          </a:prstGeom>
          <a:solidFill>
            <a:srgbClr val="DCE7F5">
              <a:alpha val="3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Shape 2"/>
          <p:cNvSpPr/>
          <p:nvPr/>
        </p:nvSpPr>
        <p:spPr>
          <a:xfrm>
            <a:off x="0" y="1645920"/>
            <a:ext cx="548640" cy="548640"/>
          </a:xfrm>
          <a:prstGeom prst="ellipse">
            <a:avLst/>
          </a:prstGeom>
          <a:solidFill>
            <a:srgbClr val="DCE7F5">
              <a:alpha val="2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Shape 3"/>
          <p:cNvSpPr/>
          <p:nvPr/>
        </p:nvSpPr>
        <p:spPr>
          <a:xfrm>
            <a:off x="5088636" y="1097280"/>
            <a:ext cx="2011680" cy="2011680"/>
          </a:xfrm>
          <a:prstGeom prst="ellipse">
            <a:avLst/>
          </a:prstGeom>
          <a:solidFill>
            <a:srgbClr val="DCE7F5">
              <a:alpha val="5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8" name="Shape 4"/>
          <p:cNvSpPr/>
          <p:nvPr/>
        </p:nvSpPr>
        <p:spPr>
          <a:xfrm>
            <a:off x="5362956" y="1280160"/>
            <a:ext cx="1463040" cy="1463040"/>
          </a:xfrm>
          <a:prstGeom prst="ellipse">
            <a:avLst/>
          </a:prstGeom>
          <a:solidFill>
            <a:srgbClr val="0B4EA2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7276" y="1554480"/>
            <a:ext cx="914400" cy="914400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457200" y="34747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4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شكرًا لكم</a:t>
            </a:r>
            <a:endParaRPr lang="en-US" sz="4400" dirty="0"/>
          </a:p>
        </p:txBody>
      </p:sp>
      <p:sp>
        <p:nvSpPr>
          <p:cNvPr id="11" name="Text 6"/>
          <p:cNvSpPr/>
          <p:nvPr/>
        </p:nvSpPr>
        <p:spPr>
          <a:xfrm>
            <a:off x="457200" y="42976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7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الاستجابة الصحيحة للإنذار مسؤولية الجميع</a:t>
            </a:r>
            <a:endParaRPr lang="en-US" sz="1700" dirty="0"/>
          </a:p>
        </p:txBody>
      </p:sp>
      <p:sp>
        <p:nvSpPr>
          <p:cNvPr id="12" name="Shape 7"/>
          <p:cNvSpPr/>
          <p:nvPr/>
        </p:nvSpPr>
        <p:spPr>
          <a:xfrm>
            <a:off x="5637276" y="4754880"/>
            <a:ext cx="914400" cy="0"/>
          </a:xfrm>
          <a:prstGeom prst="line">
            <a:avLst/>
          </a:prstGeom>
          <a:noFill/>
          <a:ln w="25400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8"/>
          <p:cNvSpPr/>
          <p:nvPr/>
        </p:nvSpPr>
        <p:spPr>
          <a:xfrm>
            <a:off x="457200" y="49834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لا تتجاهل • هدوء • السلالم • نقطة التجمع • لا تعد • اتصل بـ 999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2286000" y="5440680"/>
            <a:ext cx="7589520" cy="685800"/>
          </a:xfrm>
          <a:prstGeom prst="roundRect">
            <a:avLst>
              <a:gd name="adj" fmla="val 6667"/>
            </a:avLst>
          </a:prstGeom>
          <a:solidFill>
            <a:srgbClr val="EEF3FA"/>
          </a:solidFill>
          <a:ln w="9525">
            <a:solidFill>
              <a:srgbClr val="0B4EA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0"/>
          <p:cNvSpPr/>
          <p:nvPr/>
        </p:nvSpPr>
        <p:spPr>
          <a:xfrm>
            <a:off x="2286000" y="544068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300" b="1" i="1" dirty="0">
                <a:solidFill>
                  <a:srgbClr val="0B4EA2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"الاستجابة الهادئة والمنظمة عند انطلاق الإنذار قد تنقذ الأرواح"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493776" y="6464808"/>
            <a:ext cx="11247120" cy="0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7" name="Image 3" descr="/home/claude/assets/social_icon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82880" y="6528816"/>
            <a:ext cx="2002536" cy="292608"/>
          </a:xfrm>
          <a:prstGeom prst="rect">
            <a:avLst/>
          </a:prstGeom>
        </p:spPr>
      </p:pic>
      <p:sp>
        <p:nvSpPr>
          <p:cNvPr id="18" name="Shape 12"/>
          <p:cNvSpPr/>
          <p:nvPr/>
        </p:nvSpPr>
        <p:spPr>
          <a:xfrm>
            <a:off x="221284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3"/>
          <p:cNvSpPr/>
          <p:nvPr/>
        </p:nvSpPr>
        <p:spPr>
          <a:xfrm>
            <a:off x="2286000" y="6510528"/>
            <a:ext cx="1508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@civildefencead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8404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5"/>
          <p:cNvSpPr/>
          <p:nvPr/>
        </p:nvSpPr>
        <p:spPr>
          <a:xfrm>
            <a:off x="3931920" y="6510528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F2E5A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www.adcda.gov.ae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5687568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7"/>
          <p:cNvSpPr/>
          <p:nvPr/>
        </p:nvSpPr>
        <p:spPr>
          <a:xfrm>
            <a:off x="5742432" y="6556248"/>
            <a:ext cx="169164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عاصمة أكثر أمنا وسلامة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74980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19"/>
          <p:cNvSpPr/>
          <p:nvPr/>
        </p:nvSpPr>
        <p:spPr>
          <a:xfrm>
            <a:off x="7589520" y="6556248"/>
            <a:ext cx="502920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F.10</a:t>
            </a:r>
            <a:endParaRPr lang="en-US" sz="1000" dirty="0"/>
          </a:p>
        </p:txBody>
      </p:sp>
      <p:sp>
        <p:nvSpPr>
          <p:cNvPr id="26" name="Shape 20"/>
          <p:cNvSpPr/>
          <p:nvPr/>
        </p:nvSpPr>
        <p:spPr>
          <a:xfrm>
            <a:off x="8183880" y="6537960"/>
            <a:ext cx="0" cy="292608"/>
          </a:xfrm>
          <a:prstGeom prst="line">
            <a:avLst/>
          </a:prstGeom>
          <a:noFill/>
          <a:ln w="9525">
            <a:solidFill>
              <a:srgbClr val="E5EBF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1"/>
          <p:cNvSpPr/>
          <p:nvPr/>
        </p:nvSpPr>
        <p:spPr>
          <a:xfrm>
            <a:off x="8229600" y="6556248"/>
            <a:ext cx="3840480" cy="265176"/>
          </a:xfrm>
          <a:prstGeom prst="rect">
            <a:avLst/>
          </a:prstGeom>
          <a:noFill/>
          <a:ln/>
        </p:spPr>
        <p:txBody>
          <a:bodyPr wrap="square" lIns="0" tIns="0" rIns="0" bIns="0" rtlCol="1" anchor="ctr"/>
          <a:lstStyle/>
          <a:p>
            <a:pPr marL="0" indent="0" algn="ctr" rtl="1">
              <a:buNone/>
            </a:pPr>
            <a:r>
              <a:rPr lang="ar-AE" altLang="en-US" sz="900" dirty="0">
                <a:solidFill>
                  <a:srgbClr val="555555"/>
                </a:solidFill>
                <a:latin typeface="Tajawal" pitchFamily="34" charset="0"/>
                <a:ea typeface="Tajawal" pitchFamily="34" charset="-122"/>
                <a:cs typeface="Tajawal" pitchFamily="34" charset="-120"/>
              </a:rPr>
              <a:t>الإصدار الأول © 2026 هيئة أبوظبي للدفاع المدني - جميع الحقوق محفوظة</a:t>
            </a:r>
            <a:endParaRPr lang="ar-AE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نسق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1361</Words>
  <Application>Microsoft Office PowerPoint</Application>
  <PresentationFormat>شاشة عريضة</PresentationFormat>
  <Paragraphs>339</Paragraphs>
  <Slides>18</Slides>
  <Notes>18</Notes>
  <HiddenSlides>0</HiddenSlides>
  <MMClips>0</MMClips>
  <ScaleCrop>false</ScaleCrop>
  <HeadingPairs>
    <vt:vector size="6" baseType="variant">
      <vt:variant>
        <vt:lpstr>الخطوط المستخدمة</vt:lpstr>
      </vt:variant>
      <vt:variant>
        <vt:i4>3</vt:i4>
      </vt:variant>
      <vt:variant>
        <vt:lpstr>نسق</vt:lpstr>
      </vt:variant>
      <vt:variant>
        <vt:i4>1</vt:i4>
      </vt:variant>
      <vt:variant>
        <vt:lpstr>عناوين الشرائح</vt:lpstr>
      </vt:variant>
      <vt:variant>
        <vt:i4>18</vt:i4>
      </vt:variant>
    </vt:vector>
  </HeadingPairs>
  <TitlesOfParts>
    <vt:vector size="22" baseType="lpstr">
      <vt:lpstr>Arial</vt:lpstr>
      <vt:lpstr>Calibri</vt:lpstr>
      <vt:lpstr>Tajawal</vt:lpstr>
      <vt:lpstr>Office Theme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  <vt:lpstr>عرض تقديمي في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التصرف الصحيح عند انطلاق الإنذار</dc:title>
  <dc:subject>PptxGenJS Presentation</dc:subject>
  <dc:creator>هيئة أبوظبي للدفاع المدني</dc:creator>
  <cp:lastModifiedBy>Lenovo</cp:lastModifiedBy>
  <cp:revision>1</cp:revision>
  <dcterms:created xsi:type="dcterms:W3CDTF">2026-05-06T01:35:42Z</dcterms:created>
  <dcterms:modified xsi:type="dcterms:W3CDTF">2026-05-14T23:04:43Z</dcterms:modified>
</cp:coreProperties>
</file>