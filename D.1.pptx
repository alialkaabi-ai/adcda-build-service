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44" d="100"/>
          <a:sy n="44" d="100"/>
        </p:scale>
        <p:origin x="86" y="37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180851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4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4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12.png"/><Relationship Id="rId5" Type="http://schemas.openxmlformats.org/officeDocument/2006/relationships/image" Target="../media/image17.png"/><Relationship Id="rId10" Type="http://schemas.openxmlformats.org/officeDocument/2006/relationships/image" Target="../media/image20.png"/><Relationship Id="rId4" Type="http://schemas.openxmlformats.org/officeDocument/2006/relationships/image" Target="../media/image2.pn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4.png"/><Relationship Id="rId5" Type="http://schemas.openxmlformats.org/officeDocument/2006/relationships/image" Target="../media/image21.png"/><Relationship Id="rId10" Type="http://schemas.openxmlformats.org/officeDocument/2006/relationships/image" Target="../media/image24.png"/><Relationship Id="rId4" Type="http://schemas.openxmlformats.org/officeDocument/2006/relationships/image" Target="../media/image2.png"/><Relationship Id="rId9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11" Type="http://schemas.openxmlformats.org/officeDocument/2006/relationships/image" Target="../media/image4.png"/><Relationship Id="rId5" Type="http://schemas.openxmlformats.org/officeDocument/2006/relationships/image" Target="../media/image25.png"/><Relationship Id="rId10" Type="http://schemas.openxmlformats.org/officeDocument/2006/relationships/image" Target="../media/image29.png"/><Relationship Id="rId4" Type="http://schemas.openxmlformats.org/officeDocument/2006/relationships/image" Target="../media/image2.png"/><Relationship Id="rId9" Type="http://schemas.openxmlformats.org/officeDocument/2006/relationships/image" Target="../media/image2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1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4.png"/><Relationship Id="rId5" Type="http://schemas.openxmlformats.org/officeDocument/2006/relationships/image" Target="../media/image30.png"/><Relationship Id="rId10" Type="http://schemas.openxmlformats.org/officeDocument/2006/relationships/image" Target="../media/image20.png"/><Relationship Id="rId4" Type="http://schemas.openxmlformats.org/officeDocument/2006/relationships/image" Target="../media/image2.png"/><Relationship Id="rId9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33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11" Type="http://schemas.openxmlformats.org/officeDocument/2006/relationships/image" Target="../media/image4.png"/><Relationship Id="rId5" Type="http://schemas.openxmlformats.org/officeDocument/2006/relationships/image" Target="../media/image34.png"/><Relationship Id="rId10" Type="http://schemas.openxmlformats.org/officeDocument/2006/relationships/image" Target="../media/image36.png"/><Relationship Id="rId4" Type="http://schemas.openxmlformats.org/officeDocument/2006/relationships/image" Target="../media/image2.png"/><Relationship Id="rId9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1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4.png"/><Relationship Id="rId5" Type="http://schemas.openxmlformats.org/officeDocument/2006/relationships/image" Target="../media/image37.png"/><Relationship Id="rId10" Type="http://schemas.openxmlformats.org/officeDocument/2006/relationships/image" Target="../media/image40.png"/><Relationship Id="rId4" Type="http://schemas.openxmlformats.org/officeDocument/2006/relationships/image" Target="../media/image2.png"/><Relationship Id="rId9" Type="http://schemas.openxmlformats.org/officeDocument/2006/relationships/image" Target="../media/image39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1.png"/><Relationship Id="rId7" Type="http://schemas.openxmlformats.org/officeDocument/2006/relationships/image" Target="../media/image34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11" Type="http://schemas.openxmlformats.org/officeDocument/2006/relationships/image" Target="../media/image44.png"/><Relationship Id="rId5" Type="http://schemas.openxmlformats.org/officeDocument/2006/relationships/image" Target="../media/image28.png"/><Relationship Id="rId10" Type="http://schemas.openxmlformats.org/officeDocument/2006/relationships/image" Target="../media/image43.png"/><Relationship Id="rId4" Type="http://schemas.openxmlformats.org/officeDocument/2006/relationships/image" Target="../media/image2.png"/><Relationship Id="rId9" Type="http://schemas.openxmlformats.org/officeDocument/2006/relationships/image" Target="../media/image4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1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2.png"/><Relationship Id="rId9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28.png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حرائق المركبات</a:t>
            </a:r>
            <a:endParaRPr lang="en-US" sz="38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7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سلامة على الطريق… وقرار صحيح في اللحظة المناسبة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731520" y="5257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"الوقاية من حرائق المركبات مسؤولية تبدأ قبل تشغيل المركبة، وتستمر أثناء القيادة، وعند التوقف أو الشحن أو الصيانة"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D.1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نهتم بحرائق المركبات؟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وجود وقود وزيوت وكهرباء يجعل الحريق ينتشر بسرعة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937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509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95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452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852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الأرواح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852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داخل المركبة وخارجها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36829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282549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09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261975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45973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منع الانتشار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45973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إلى المركبات والمنشآت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24281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70001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861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49427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433425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الإصابات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433425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 الدخان والحرارة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11733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657453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313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636879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620877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ثقافة الفحص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620877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والانتباه لعلامات الخطر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799185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844905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765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824331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808329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صيانة منتظمة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808329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لتقليل الأعطال المفاجئة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98663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103235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52176" y="3200400"/>
            <a:ext cx="457200" cy="457200"/>
          </a:xfrm>
          <a:prstGeom prst="rect">
            <a:avLst/>
          </a:prstGeom>
        </p:spPr>
      </p:pic>
      <p:sp>
        <p:nvSpPr>
          <p:cNvPr id="43" name="Shape 33"/>
          <p:cNvSpPr/>
          <p:nvPr/>
        </p:nvSpPr>
        <p:spPr>
          <a:xfrm>
            <a:off x="101178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99578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استجابة سريعة</a:t>
            </a:r>
            <a:endParaRPr lang="en-US" sz="1400" dirty="0"/>
          </a:p>
        </p:txBody>
      </p:sp>
      <p:sp>
        <p:nvSpPr>
          <p:cNvPr id="45" name="Text 35"/>
          <p:cNvSpPr/>
          <p:nvPr/>
        </p:nvSpPr>
        <p:spPr>
          <a:xfrm>
            <a:off x="99578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ظهور أي خطر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المركبة التي تتم صيانتها بانتظام تكون أقل عرضة للمخاطر المرتبطة بالحريق</a:t>
            </a:r>
            <a:endParaRPr lang="ar-AE" sz="1200" dirty="0"/>
          </a:p>
        </p:txBody>
      </p:sp>
      <p:sp>
        <p:nvSpPr>
          <p:cNvPr id="48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9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4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6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D.1</a:t>
            </a:r>
            <a:endParaRPr lang="en-US" sz="1000" dirty="0"/>
          </a:p>
        </p:txBody>
      </p:sp>
      <p:sp>
        <p:nvSpPr>
          <p:cNvPr id="58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كيف تبدأ حرائق المركبات؟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اجتماع مصدر حرارة + مادة قابلة للاشتعال + إهمال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20272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2" name="Text 8"/>
          <p:cNvSpPr/>
          <p:nvPr/>
        </p:nvSpPr>
        <p:spPr>
          <a:xfrm>
            <a:off x="11320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594360" y="2606040"/>
            <a:ext cx="10588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ارتفاع حرارة المحرك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457200" y="3200400"/>
            <a:ext cx="11247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20272" y="328269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2"/>
          <p:cNvSpPr/>
          <p:nvPr/>
        </p:nvSpPr>
        <p:spPr>
          <a:xfrm>
            <a:off x="11320272" y="32826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594360" y="3200400"/>
            <a:ext cx="10588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أعطال كهربائية في حجرة المحرك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457200" y="3794760"/>
            <a:ext cx="11247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20272" y="387705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6"/>
          <p:cNvSpPr/>
          <p:nvPr/>
        </p:nvSpPr>
        <p:spPr>
          <a:xfrm>
            <a:off x="11320272" y="38770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594360" y="3794760"/>
            <a:ext cx="10588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تسرب الوقود أو الزيوت أو السوائل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457200" y="4389120"/>
            <a:ext cx="11247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20272" y="447141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20"/>
          <p:cNvSpPr/>
          <p:nvPr/>
        </p:nvSpPr>
        <p:spPr>
          <a:xfrm>
            <a:off x="11320272" y="44714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594360" y="4389120"/>
            <a:ext cx="10588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تعديلات غير مصرّح بها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4983480"/>
            <a:ext cx="11247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11320272" y="506577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4"/>
          <p:cNvSpPr/>
          <p:nvPr/>
        </p:nvSpPr>
        <p:spPr>
          <a:xfrm>
            <a:off x="11320272" y="50657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4983480"/>
            <a:ext cx="10588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ملامسة الأجزاء الساخنة لمواد قابلة للاشتعال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ليس كل عطل يؤدي إلى حريق، لكن تجاهل العلامات المبكرة قد يزيد احتمالية تطور الخطر</a:t>
            </a:r>
            <a:endParaRPr lang="ar-AE" sz="1200" dirty="0"/>
          </a:p>
        </p:txBody>
      </p:sp>
      <p:sp>
        <p:nvSpPr>
          <p:cNvPr id="32" name="Shape 2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3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4" name="Shape 2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6" name="Shape 3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D.1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أبرز أسباب حرائق المركبات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خمسة أسباب رئيسية يجب الانتباه إليها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7947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62356" y="290322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086100"/>
            <a:ext cx="411480" cy="41148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76756" y="27432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الأعطال الكهربائية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476756" y="31729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تلف التمديدات أو إضافات غير آمنة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21995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4402836" y="290322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5716" y="3086100"/>
            <a:ext cx="411480" cy="41148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317236" y="27432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التسربات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5317236" y="31729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وقود أو زيت قرب الحرارة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806043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8243316" y="290322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6196" y="3086100"/>
            <a:ext cx="411480" cy="41148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9157716" y="27432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ارتفاع الحرارة</a:t>
            </a:r>
            <a:endParaRPr lang="en-US" sz="1400" dirty="0"/>
          </a:p>
        </p:txBody>
      </p:sp>
      <p:sp>
        <p:nvSpPr>
          <p:cNvPr id="24" name="Text 17"/>
          <p:cNvSpPr/>
          <p:nvPr/>
        </p:nvSpPr>
        <p:spPr>
          <a:xfrm>
            <a:off x="9157716" y="31729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مؤشر على خلل يحتاج فحصًا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379476" y="411480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562356" y="441198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" y="4594860"/>
            <a:ext cx="411480" cy="41148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1476756" y="42519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الحوادث القوية</a:t>
            </a:r>
            <a:endParaRPr lang="en-US" sz="1400" dirty="0"/>
          </a:p>
        </p:txBody>
      </p:sp>
      <p:sp>
        <p:nvSpPr>
          <p:cNvPr id="29" name="Text 21"/>
          <p:cNvSpPr/>
          <p:nvPr/>
        </p:nvSpPr>
        <p:spPr>
          <a:xfrm>
            <a:off x="1476756" y="468172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تلف أنظمة الوقود والكهرباء</a:t>
            </a:r>
            <a:endParaRPr lang="en-US" sz="1100" dirty="0"/>
          </a:p>
        </p:txBody>
      </p:sp>
      <p:sp>
        <p:nvSpPr>
          <p:cNvPr id="30" name="Shape 22"/>
          <p:cNvSpPr/>
          <p:nvPr/>
        </p:nvSpPr>
        <p:spPr>
          <a:xfrm>
            <a:off x="4219956" y="411480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3"/>
          <p:cNvSpPr/>
          <p:nvPr/>
        </p:nvSpPr>
        <p:spPr>
          <a:xfrm>
            <a:off x="4402836" y="441198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85716" y="4594860"/>
            <a:ext cx="411480" cy="411480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5317236" y="42519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صيانة غير معتمدة</a:t>
            </a:r>
            <a:endParaRPr lang="en-US" sz="1400" dirty="0"/>
          </a:p>
        </p:txBody>
      </p:sp>
      <p:sp>
        <p:nvSpPr>
          <p:cNvPr id="34" name="Text 25"/>
          <p:cNvSpPr/>
          <p:nvPr/>
        </p:nvSpPr>
        <p:spPr>
          <a:xfrm>
            <a:off x="5317236" y="468172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قطع أو تعديلات خطرة</a:t>
            </a:r>
            <a:endParaRPr lang="en-US" sz="1100" dirty="0"/>
          </a:p>
        </p:txBody>
      </p:sp>
      <p:sp>
        <p:nvSpPr>
          <p:cNvPr id="35" name="Shape 26"/>
          <p:cNvSpPr/>
          <p:nvPr/>
        </p:nvSpPr>
        <p:spPr>
          <a:xfrm>
            <a:off x="8060436" y="411480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6" name="Shape 27"/>
          <p:cNvSpPr/>
          <p:nvPr/>
        </p:nvSpPr>
        <p:spPr>
          <a:xfrm>
            <a:off x="8243316" y="441198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7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26196" y="4594860"/>
            <a:ext cx="411480" cy="411480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9157716" y="42519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تجاهل العلامات</a:t>
            </a:r>
            <a:endParaRPr lang="en-US" sz="1400" dirty="0"/>
          </a:p>
        </p:txBody>
      </p:sp>
      <p:sp>
        <p:nvSpPr>
          <p:cNvPr id="39" name="Text 29"/>
          <p:cNvSpPr/>
          <p:nvPr/>
        </p:nvSpPr>
        <p:spPr>
          <a:xfrm>
            <a:off x="9157716" y="468172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روائح أو دخان لا يجب إهمالها</a:t>
            </a:r>
            <a:endParaRPr lang="en-US" sz="1100" dirty="0"/>
          </a:p>
        </p:txBody>
      </p:sp>
      <p:sp>
        <p:nvSpPr>
          <p:cNvPr id="40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1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أكثر من سبب قد يجتمع ليشكّل خطرًا، لذا الفحص الدوري أساسي</a:t>
            </a:r>
            <a:endParaRPr lang="ar-AE" sz="1200" dirty="0"/>
          </a:p>
        </p:txBody>
      </p:sp>
      <p:sp>
        <p:nvSpPr>
          <p:cNvPr id="42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3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4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8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0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D.1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علامات الخطر التي يجب الانتباه لها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أي علامة غير طبيعية تستدعي التوقف الآمن والفحص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خروج دخان من المحرك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رائحة احتراق أو وقود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ارتفاع مفاجئ في الحرارة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انخفاض سريع للسوائل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تكرار احتراق الفيوزات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أسلاك تالفة أو مكشوفة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بقع زيت أسفل المركبة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قاعدة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رائحة الاحتراق أو الدخان ليست أمرًا عاديًا، توقف بأمان وتصرّف فورًا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D.1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الفحص الوقائي قبل القيادة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دقيقة واحدة من الفحص قد تمنع خطرًا كبيرًا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7947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6235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3182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تسربات أسفل المركبة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21995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40283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5716" y="313182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22579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روائح غير طبيعية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806043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824331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6196" y="313182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06627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سلامة المؤشرات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37947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56235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" y="468630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38531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أسلاك مكشوفة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21995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440283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85716" y="46863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22579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مواد قابلة للاشتعال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806043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824331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26196" y="46863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906627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وجود طفاية حريق صالحة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دقيقة واحدة من الفحص قد تمنع خطرًا كبيرًا على الطريق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D.1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الصيانة الدورية ودورها في الوقاية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 الدفاع الأساسي ضد حرائق المركبات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7947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6235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3182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فحص المحرك والتبريد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21995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40283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5716" y="313182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22579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فحص البطارية والكهرباء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806043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824331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6196" y="313182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06627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فحص نظام الوقود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37947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56235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" y="468630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38531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فحص الزيوت والسوائل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21995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440283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85716" y="46863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22579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إحكام الأغطية والوصلات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806043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824331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26196" y="46863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906627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تؤجل أي عطل ظاهر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الصيانة لدى فنيين مختصين فقط، وتجنب التعديلات غير المعتمدة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D.1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مخاطر التعديلات غير المصرّح بها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إضافات بسيطة قد تكون سببًا مباشرًا في الحريق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48056" y="2606040"/>
            <a:ext cx="3703320" cy="1188720"/>
          </a:xfrm>
          <a:prstGeom prst="roundRect">
            <a:avLst>
              <a:gd name="adj" fmla="val 6154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0936" y="28575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" y="30403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53896" y="2606040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إضاءات بطريقة غير آمنة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242816" y="2606040"/>
            <a:ext cx="3703320" cy="1188720"/>
          </a:xfrm>
          <a:prstGeom prst="roundRect">
            <a:avLst>
              <a:gd name="adj" fmla="val 6154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425696" y="28575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08576" y="30403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248656" y="2606040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تعديل التمديدات دون مختص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8037576" y="2606040"/>
            <a:ext cx="3703320" cy="1188720"/>
          </a:xfrm>
          <a:prstGeom prst="roundRect">
            <a:avLst>
              <a:gd name="adj" fmla="val 6154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8220456" y="28575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03336" y="30403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043416" y="2606040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وصلات غير معتمدة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448056" y="3931920"/>
            <a:ext cx="3703320" cy="1188720"/>
          </a:xfrm>
          <a:prstGeom prst="roundRect">
            <a:avLst>
              <a:gd name="adj" fmla="val 6154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630936" y="418338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3816" y="436626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453896" y="3931920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أجهزة عالية الاستهلاك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242816" y="3931920"/>
            <a:ext cx="3703320" cy="1188720"/>
          </a:xfrm>
          <a:prstGeom prst="roundRect">
            <a:avLst>
              <a:gd name="adj" fmla="val 6154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4425696" y="418338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08576" y="436626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248656" y="3931920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تعديلات ميكانيكية خطرة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8037576" y="3931920"/>
            <a:ext cx="3703320" cy="1188720"/>
          </a:xfrm>
          <a:prstGeom prst="roundRect">
            <a:avLst>
              <a:gd name="adj" fmla="val 6154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8220456" y="418338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03336" y="436626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9043416" y="3931920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قطع غيار غير أصلية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أي تعديل على المركبة يجب أن يكون عبر جهة مختصة ووفق المتطلبات الفنية المعتمدة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D.1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طفاية الحريق داخل المركبة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تساعد على التعامل مع الحريق الصغير في بدايته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1B873F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926080"/>
            <a:ext cx="68580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98551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9855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926080"/>
            <a:ext cx="6199632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جهّز طفاية حريق معتمدة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447288"/>
            <a:ext cx="68580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506724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5067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447288"/>
            <a:ext cx="6199632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احفظها في مكان واضح وسهل الوصول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968496"/>
            <a:ext cx="68580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402793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40279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968496"/>
            <a:ext cx="6199632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صلاحيتها بشكل دوري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4489704"/>
            <a:ext cx="68580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454914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45491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4489704"/>
            <a:ext cx="6199632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اعرف طريقة استخدامها مسبقًا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5010912"/>
            <a:ext cx="68580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507034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50703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5010912"/>
            <a:ext cx="6199632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تتعامل مع حريق كبير بنفسك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قاعدة السلامة: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الأولوية دائمًا لإخلاء الأشخاص والاتصال بالطوارئ، وليس إنقاذ المركبة</a:t>
            </a:r>
            <a:endParaRPr lang="ar-AE" sz="1200" dirty="0"/>
          </a:p>
        </p:txBody>
      </p:sp>
      <p:sp>
        <p:nvSpPr>
          <p:cNvPr id="36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D.1</a:t>
            </a:r>
            <a:endParaRPr lang="en-US" sz="1000" dirty="0"/>
          </a:p>
        </p:txBody>
      </p:sp>
      <p:sp>
        <p:nvSpPr>
          <p:cNvPr id="46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نقل الوقود والمواد القابلة للاشتعال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المركبة ليست مكانًا مناسبًا للتخزين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7947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6235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3182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نقل الوقود إلا للضرورة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21995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40283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5716" y="313182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22579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عبوات معتمدة ومغلقة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806043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824331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6196" y="313182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06627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توضع داخل مقصورة الركاب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37947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56235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" y="468630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38531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وفّر تهوية مناسبة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21995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440283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85716" y="46863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22579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المواد لفترات طويلة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806043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824331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26196" y="46863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906627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أبعدها عن أشعة الشمس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أبخرة الوقود قابلة للاشتعال حتى دون لهب مباشر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D.1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عند التوقف والاصطفاف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مكان التوقف عامل مؤثر في الوقاية من الحرائق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7947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6235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3182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الأعشاب الجافة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21995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40283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5716" y="313182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22579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تشغّل المركبة في مكان مغلق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806043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824331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6196" y="313182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06627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انتبه للروائح بعد التوقف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37947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56235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" y="468630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38531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القداحات أو العبوات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21995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440283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85716" y="46863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22579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المحرك قبل المغادرة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806043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824331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26196" y="46863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906627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اختر موقعًا آمنًا للاصطفاف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اختيار مكان آمن للتوقف يقلل احتمالية ملامسة الأجزاء الساخنة لمواد قابلة للاشتعال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D.1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المركبات الكهربائية والشحن الآمن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أنظمة وبطاريات عالية الجهد تحتاج التزامًا خاصًا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الشاحن المعتمد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افحص الكابل قبل الاستخدام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كابلات تالفة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أسلاك تمديد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تركيب الشاحن بفني مؤهل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الشاحن عن الماء والحرارة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المعدات عن الأطفال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تحذير مهم: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كابلات الجهد العالي، ولا تحاول صيانة بطارية المركبة الكهربائية بنفسك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D.1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إذا لاحظت دخانًا أثناء القيادة؟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تصرّف بهدوء وبسرعة لحماية الأرواح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خفف السرعة تدريجيًا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الإشارات التحذيرية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بعيدًا عن حركة المرور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المحرك فورًا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أخرج جميع الركاب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المركبة لمسافة آمنة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وحدد موقعك بوضوح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تعُد إلى المركبة لإحضار أي غرض بعد الإخلاء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D.1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نشوب حريق في المركبة؟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الأولوية حماية الأرواح والابتعاد عن مصدر الخطر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005840" y="2606040"/>
            <a:ext cx="1828800" cy="182880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1" name="Shape 7"/>
          <p:cNvSpPr/>
          <p:nvPr/>
        </p:nvSpPr>
        <p:spPr>
          <a:xfrm>
            <a:off x="1170432" y="2770632"/>
            <a:ext cx="1499616" cy="14996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8"/>
          <p:cNvSpPr/>
          <p:nvPr/>
        </p:nvSpPr>
        <p:spPr>
          <a:xfrm>
            <a:off x="1005840" y="29718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999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1005840" y="36393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EMERGENCY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3200400" y="2788920"/>
            <a:ext cx="85496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762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3383280" y="2834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خطوات سريعة عند الحريق: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3383280" y="3703320"/>
            <a:ext cx="1920240" cy="384048"/>
          </a:xfrm>
          <a:prstGeom prst="roundRect">
            <a:avLst>
              <a:gd name="adj" fmla="val 9524"/>
            </a:avLst>
          </a:prstGeom>
          <a:solidFill>
            <a:srgbClr val="FEF2F2"/>
          </a:solidFill>
          <a:ln w="6350">
            <a:solidFill>
              <a:srgbClr val="FCA5A5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3429000" y="37033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1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واتصل بـ 999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5394960" y="3703320"/>
            <a:ext cx="1920240" cy="384048"/>
          </a:xfrm>
          <a:prstGeom prst="roundRect">
            <a:avLst>
              <a:gd name="adj" fmla="val 9524"/>
            </a:avLst>
          </a:prstGeom>
          <a:solidFill>
            <a:srgbClr val="FEF2F2"/>
          </a:solidFill>
          <a:ln w="6350">
            <a:solidFill>
              <a:srgbClr val="FCA5A5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440680" y="37033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1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أخلِ الركاب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7406640" y="3703320"/>
            <a:ext cx="1920240" cy="384048"/>
          </a:xfrm>
          <a:prstGeom prst="roundRect">
            <a:avLst>
              <a:gd name="adj" fmla="val 9524"/>
            </a:avLst>
          </a:prstGeom>
          <a:solidFill>
            <a:srgbClr val="FEF2F2"/>
          </a:solidFill>
          <a:ln w="6350">
            <a:solidFill>
              <a:srgbClr val="FCA5A5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452360" y="37033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1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المحرك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9418320" y="3703320"/>
            <a:ext cx="1920240" cy="384048"/>
          </a:xfrm>
          <a:prstGeom prst="roundRect">
            <a:avLst>
              <a:gd name="adj" fmla="val 9524"/>
            </a:avLst>
          </a:prstGeom>
          <a:solidFill>
            <a:srgbClr val="FEF2F2"/>
          </a:solidFill>
          <a:ln w="6350">
            <a:solidFill>
              <a:srgbClr val="FCA5A5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9464040" y="37033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1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بأمان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56235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74523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" y="4823460"/>
            <a:ext cx="320040" cy="32004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156819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تفتح غطاء المحرك</a:t>
            </a:r>
            <a:endParaRPr lang="en-US" sz="1300" dirty="0"/>
          </a:p>
        </p:txBody>
      </p:sp>
      <p:sp>
        <p:nvSpPr>
          <p:cNvPr id="28" name="Shape 23"/>
          <p:cNvSpPr/>
          <p:nvPr/>
        </p:nvSpPr>
        <p:spPr>
          <a:xfrm>
            <a:off x="335127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353415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7036" y="4823460"/>
            <a:ext cx="320040" cy="32004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435711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تقترب من حريق منتشر</a:t>
            </a:r>
            <a:endParaRPr lang="en-US" sz="1300" dirty="0"/>
          </a:p>
        </p:txBody>
      </p:sp>
      <p:sp>
        <p:nvSpPr>
          <p:cNvPr id="32" name="Shape 26"/>
          <p:cNvSpPr/>
          <p:nvPr/>
        </p:nvSpPr>
        <p:spPr>
          <a:xfrm>
            <a:off x="614019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632307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4823460"/>
            <a:ext cx="320040" cy="320040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714603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الطفاية للحريق الصغير فقط</a:t>
            </a:r>
            <a:endParaRPr lang="en-US" sz="1300" dirty="0"/>
          </a:p>
        </p:txBody>
      </p:sp>
      <p:sp>
        <p:nvSpPr>
          <p:cNvPr id="36" name="Shape 29"/>
          <p:cNvSpPr/>
          <p:nvPr/>
        </p:nvSpPr>
        <p:spPr>
          <a:xfrm>
            <a:off x="892911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7" name="Shape 30"/>
          <p:cNvSpPr/>
          <p:nvPr/>
        </p:nvSpPr>
        <p:spPr>
          <a:xfrm>
            <a:off x="911199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94876" y="4823460"/>
            <a:ext cx="320040" cy="320040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993495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من موقع آمن</a:t>
            </a:r>
            <a:endParaRPr lang="en-US" sz="1300" dirty="0"/>
          </a:p>
        </p:txBody>
      </p:sp>
      <p:sp>
        <p:nvSpPr>
          <p:cNvPr id="40" name="Shape 32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1" name="Text 33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 مهم: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تحاول فتح غطاء المحرك مع وجود دخان أو لهب — قد يؤدي ذلك إلى زيادة الخطر</a:t>
            </a:r>
            <a:endParaRPr lang="ar-AE" sz="1200" dirty="0"/>
          </a:p>
        </p:txBody>
      </p:sp>
      <p:sp>
        <p:nvSpPr>
          <p:cNvPr id="42" name="Shape 3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3" name="Image 6" descr="/home/claude/assets/social_icon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4" name="Shape 3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6" name="Shape 3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8" name="Shape 3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0" name="Shape 4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D.1</a:t>
            </a:r>
            <a:endParaRPr lang="en-US" sz="1000" dirty="0"/>
          </a:p>
        </p:txBody>
      </p:sp>
      <p:sp>
        <p:nvSpPr>
          <p:cNvPr id="52" name="Shape 4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في الوقاية من حرائق المركبات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32841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3284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افحص المركبة بشكل دوري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87705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8770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9476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عالج التسربات والأعطال فورًا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42569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4256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3434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احتفظ بطفاية حريق صالحة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97433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4974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89204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بأمان عند الدخان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52297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5229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4406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أخلِ الركاب وابتعد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607161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1320272" y="6071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9893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الخطر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3" name="Text 29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5623560" y="332841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5623560" y="33284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6" name="Text 32"/>
          <p:cNvSpPr/>
          <p:nvPr/>
        </p:nvSpPr>
        <p:spPr>
          <a:xfrm>
            <a:off x="640080" y="32461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تتجاهل مؤشرات الحرارة</a:t>
            </a:r>
            <a:endParaRPr lang="en-US" sz="1300" dirty="0"/>
          </a:p>
        </p:txBody>
      </p:sp>
      <p:sp>
        <p:nvSpPr>
          <p:cNvPr id="37" name="Shape 33"/>
          <p:cNvSpPr/>
          <p:nvPr/>
        </p:nvSpPr>
        <p:spPr>
          <a:xfrm>
            <a:off x="5623560" y="387705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38770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79476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تجرِ تعديلات غير معتمدة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442569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44256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43434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تنقل الوقود في المقصورة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97433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4974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89204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توقف المركبة على عشب جاف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552297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623560" y="55229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54406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تعُد لمركبة مشتعلة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607161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623560" y="6071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9893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تواجه حريقًا كبيرًا بنفسك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3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4" name="Shape 4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6" name="Shape 5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5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8" name="Shape 5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5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0" name="Shape 5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D.1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شممت رائحة احتراق وظهر دخان من المحرك أثناء القيادة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بأمان، أوقف المحرك، أخلِ الركاب، ابتعد، واتصل بـ 999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لاحظت بقعة زيت أسفل المركبة قبل التحرك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تتجاهل التسرب، ولا تستخدم المركبة قبل فحصها لدى مختص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راكب يريد العودة للمركبة لأخذ أغراضه بعد الدخان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امنعه من العودة وأبعده، فسلامة الأشخاص أهم من الممتلكات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شاحن المركبة الكهربائية أصبح ساخنًا أو الكابل تالف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الاستخدام فورًا، ولا تشحن، وافحص الشاحن لدى مختص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D.1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201400" y="2770632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2834640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51760"/>
            <a:ext cx="10469880" cy="31089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أول إجراء عند ظهور دخان من المركبة أثناء القيادة؟</a:t>
            </a:r>
            <a:endParaRPr lang="ar-AE" sz="1300" dirty="0"/>
          </a:p>
        </p:txBody>
      </p:sp>
      <p:sp>
        <p:nvSpPr>
          <p:cNvPr id="14" name="Text 9"/>
          <p:cNvSpPr/>
          <p:nvPr/>
        </p:nvSpPr>
        <p:spPr>
          <a:xfrm>
            <a:off x="640080" y="2971800"/>
            <a:ext cx="10469880" cy="31089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التوقف بأمان، إيقاف المحرك، إخلاء الركاب، والاتصال بـ 999</a:t>
            </a:r>
            <a:endParaRPr lang="ar-AE" sz="1100" dirty="0"/>
          </a:p>
        </p:txBody>
      </p:sp>
      <p:sp>
        <p:nvSpPr>
          <p:cNvPr id="15" name="Shape 10"/>
          <p:cNvSpPr/>
          <p:nvPr/>
        </p:nvSpPr>
        <p:spPr>
          <a:xfrm>
            <a:off x="457200" y="3410712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1201400" y="3575304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639312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456432"/>
            <a:ext cx="10469880" cy="31089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الرجوع إلى مركبة مشتعلة لأخذ الأغراض؟</a:t>
            </a:r>
            <a:endParaRPr lang="ar-AE" sz="1300" dirty="0"/>
          </a:p>
        </p:txBody>
      </p:sp>
      <p:sp>
        <p:nvSpPr>
          <p:cNvPr id="19" name="Text 13"/>
          <p:cNvSpPr/>
          <p:nvPr/>
        </p:nvSpPr>
        <p:spPr>
          <a:xfrm>
            <a:off x="640080" y="3776472"/>
            <a:ext cx="10469880" cy="31089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يجب الابتعاد فورًا وعدم الرجوع</a:t>
            </a:r>
            <a:endParaRPr lang="ar-AE" sz="1100" dirty="0"/>
          </a:p>
        </p:txBody>
      </p:sp>
      <p:sp>
        <p:nvSpPr>
          <p:cNvPr id="20" name="Shape 14"/>
          <p:cNvSpPr/>
          <p:nvPr/>
        </p:nvSpPr>
        <p:spPr>
          <a:xfrm>
            <a:off x="457200" y="4215384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201400" y="4379976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4443984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4261104"/>
            <a:ext cx="10469880" cy="31089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خطورة التسربات داخل المركبة؟</a:t>
            </a:r>
            <a:endParaRPr lang="ar-AE" sz="1300" dirty="0"/>
          </a:p>
        </p:txBody>
      </p:sp>
      <p:sp>
        <p:nvSpPr>
          <p:cNvPr id="24" name="Text 17"/>
          <p:cNvSpPr/>
          <p:nvPr/>
        </p:nvSpPr>
        <p:spPr>
          <a:xfrm>
            <a:off x="640080" y="4581144"/>
            <a:ext cx="10469880" cy="31089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 تلامس الحرارة أو الشرر وتؤدي إلى نشوب حريق</a:t>
            </a:r>
            <a:endParaRPr lang="ar-AE" sz="1100" dirty="0"/>
          </a:p>
        </p:txBody>
      </p:sp>
      <p:sp>
        <p:nvSpPr>
          <p:cNvPr id="25" name="Shape 18"/>
          <p:cNvSpPr/>
          <p:nvPr/>
        </p:nvSpPr>
        <p:spPr>
          <a:xfrm>
            <a:off x="457200" y="5020056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1201400" y="5184648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5248656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5065776"/>
            <a:ext cx="10469880" cy="31089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يُنصح باستخدام أسلاك التمديد مع شاحن المركبة الكهربائية؟</a:t>
            </a:r>
            <a:endParaRPr lang="ar-AE" sz="1300" dirty="0"/>
          </a:p>
        </p:txBody>
      </p:sp>
      <p:sp>
        <p:nvSpPr>
          <p:cNvPr id="29" name="Text 21"/>
          <p:cNvSpPr/>
          <p:nvPr/>
        </p:nvSpPr>
        <p:spPr>
          <a:xfrm>
            <a:off x="640080" y="5385816"/>
            <a:ext cx="10469880" cy="31089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استخدم معدات الشحن المعتمدة فقط</a:t>
            </a:r>
            <a:endParaRPr lang="ar-AE" sz="1100" dirty="0"/>
          </a:p>
        </p:txBody>
      </p:sp>
      <p:sp>
        <p:nvSpPr>
          <p:cNvPr id="30" name="Shape 2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1" name="Image 6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3" name="Text 2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4" name="Shape 2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6" name="Shape 2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2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38" name="Shape 2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D.1</a:t>
            </a:r>
            <a:endParaRPr lang="en-US" sz="1000" dirty="0"/>
          </a:p>
        </p:txBody>
      </p:sp>
      <p:sp>
        <p:nvSpPr>
          <p:cNvPr id="40" name="Shape 3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554480"/>
            <a:ext cx="914400" cy="9144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7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حرائق المركبات مسؤولية الجميع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افحص • صيانة معتمدة • انتبه للعلامات • أخلِ وابتعد • عند الطوارئ اتصل بـ 999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"سلامتك تبدأ من مركبة آمنة، وقرار صحيح في اللحظة المناسبة"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D.1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1450</Words>
  <Application>Microsoft Office PowerPoint</Application>
  <PresentationFormat>شاشة عريضة</PresentationFormat>
  <Paragraphs>319</Paragraphs>
  <Slides>18</Slides>
  <Notes>18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18</vt:i4>
      </vt:variant>
    </vt:vector>
  </HeadingPairs>
  <TitlesOfParts>
    <vt:vector size="22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الوقاية من حرائق المركبات</dc:title>
  <dc:subject>PptxGenJS Presentation</dc:subject>
  <dc:creator>هيئة أبوظبي للدفاع المدني</dc:creator>
  <cp:lastModifiedBy>Lenovo</cp:lastModifiedBy>
  <cp:revision>1</cp:revision>
  <dcterms:created xsi:type="dcterms:W3CDTF">2026-05-07T00:46:13Z</dcterms:created>
  <dcterms:modified xsi:type="dcterms:W3CDTF">2026-05-07T13:28:53Z</dcterms:modified>
</cp:coreProperties>
</file>