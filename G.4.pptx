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824232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2.png"/><Relationship Id="rId9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4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.png"/><Relationship Id="rId9" Type="http://schemas.openxmlformats.org/officeDocument/2006/relationships/image" Target="../media/image3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11" Type="http://schemas.openxmlformats.org/officeDocument/2006/relationships/image" Target="../media/image4.png"/><Relationship Id="rId5" Type="http://schemas.openxmlformats.org/officeDocument/2006/relationships/image" Target="../media/image18.png"/><Relationship Id="rId10" Type="http://schemas.openxmlformats.org/officeDocument/2006/relationships/image" Target="../media/image34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7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4.png"/><Relationship Id="rId5" Type="http://schemas.openxmlformats.org/officeDocument/2006/relationships/image" Target="../media/image38.png"/><Relationship Id="rId10" Type="http://schemas.openxmlformats.org/officeDocument/2006/relationships/image" Target="../media/image20.png"/><Relationship Id="rId4" Type="http://schemas.openxmlformats.org/officeDocument/2006/relationships/image" Target="../media/image2.png"/><Relationship Id="rId9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25.png"/><Relationship Id="rId5" Type="http://schemas.openxmlformats.org/officeDocument/2006/relationships/image" Target="../media/image40.png"/><Relationship Id="rId10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4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.png"/><Relationship Id="rId7" Type="http://schemas.openxmlformats.org/officeDocument/2006/relationships/image" Target="../media/image3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19.png"/><Relationship Id="rId10" Type="http://schemas.openxmlformats.org/officeDocument/2006/relationships/image" Target="../media/image43.png"/><Relationship Id="rId4" Type="http://schemas.openxmlformats.org/officeDocument/2006/relationships/image" Target="../media/image2.png"/><Relationship Id="rId9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1.png"/><Relationship Id="rId7" Type="http://schemas.openxmlformats.org/officeDocument/2006/relationships/image" Target="../media/image4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11" Type="http://schemas.openxmlformats.org/officeDocument/2006/relationships/image" Target="../media/image25.png"/><Relationship Id="rId5" Type="http://schemas.openxmlformats.org/officeDocument/2006/relationships/image" Target="../media/image44.png"/><Relationship Id="rId10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1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4.png"/><Relationship Id="rId5" Type="http://schemas.openxmlformats.org/officeDocument/2006/relationships/image" Target="../media/image14.png"/><Relationship Id="rId10" Type="http://schemas.openxmlformats.org/officeDocument/2006/relationships/image" Target="../media/image38.png"/><Relationship Id="rId4" Type="http://schemas.openxmlformats.org/officeDocument/2006/relationships/image" Target="../media/image2.png"/><Relationship Id="rId9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4.png"/><Relationship Id="rId5" Type="http://schemas.openxmlformats.org/officeDocument/2006/relationships/image" Target="../media/image19.png"/><Relationship Id="rId10" Type="http://schemas.openxmlformats.org/officeDocument/2006/relationships/image" Target="../media/image30.png"/><Relationship Id="rId4" Type="http://schemas.openxmlformats.org/officeDocument/2006/relationships/image" Target="../media/image2.png"/><Relationship Id="rId9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7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38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28.png"/><Relationship Id="rId5" Type="http://schemas.openxmlformats.org/officeDocument/2006/relationships/image" Target="../media/image19.png"/><Relationship Id="rId10" Type="http://schemas.openxmlformats.org/officeDocument/2006/relationships/image" Target="../media/image31.png"/><Relationship Id="rId4" Type="http://schemas.openxmlformats.org/officeDocument/2006/relationships/image" Target="../media/image2.png"/><Relationship Id="rId9" Type="http://schemas.openxmlformats.org/officeDocument/2006/relationships/image" Target="../media/image42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12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33.png"/><Relationship Id="rId5" Type="http://schemas.openxmlformats.org/officeDocument/2006/relationships/image" Target="../media/image50.png"/><Relationship Id="rId10" Type="http://schemas.openxmlformats.org/officeDocument/2006/relationships/image" Target="../media/image23.png"/><Relationship Id="rId4" Type="http://schemas.openxmlformats.org/officeDocument/2006/relationships/image" Target="../media/image2.png"/><Relationship Id="rId9" Type="http://schemas.openxmlformats.org/officeDocument/2006/relationships/image" Target="../media/image2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41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إدارة مخاطر المنشآت والمساكن ذات الكثافة العالية</a:t>
            </a:r>
            <a:endParaRPr lang="en-US" sz="32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وعي السكان، مخارج آمنة، وخطة إخلاء واضحة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"كلما زاد عدد السكان، زادت الحاجة إلى التنظيم والالتزام بالتعليمات"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G.4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بهذا الموضوع؟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أعداد كبيرة في مساحات محدودة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عدد كبير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الارتباك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التزاحم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وصول سريع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للاستجابة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انتشار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الدخان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دعم الفئات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الأكثر عرضة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لا تعتمد على الفرد فقط، بل على التزام الجميع بالتعليمات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G.4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المقصود بالمنشآت ذات الكثافة العالية؟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مبانٍ بأعداد كبيرة أو يصعب إخلاؤها بسرعة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الأبراج السكنية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المجمعات السكنية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متعددة الطوابق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مساكن العمال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الفنادق والشقق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المراكز الإدارية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منشآت تستقبل زوارًا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ارتفاع المبنى أو كثافة السكان يتطلبان وعيًا أكبر بخطط الطوارئ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أبرز المخاطر في المباني ذات الكثافة العالية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تنوّع المخاطر بسبب الاستخدام والكثافة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التزاحم عند المخارج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معرفة المسارات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إغلاق المخارج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تراكم مواد بالممرات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7452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92811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099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7510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إساءة استخدام المصاعد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انتشار الدخان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تأخر الإبلاغ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88376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02055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03436" y="475488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98435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إهمال من يحتاج مساعدة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الخطر لا يبدأ فقط من الحريق، بل من العوائق وسوء التنظيم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G.4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مخارج الطوارئ ومسارات الإخلاء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 النجاة الأساسي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أقرب مخرج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مخرجًا بديلًا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أغراضًا بالممرات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تغلق المخارج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بلوحات الإرشاد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بلّغ عن أي عائق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المخرج المغلق أو المحجوب قد يسبب تأخيرًا خطيرًا وقت الطوارئ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G.4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السلالم أثناء الطوارئ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المسار الأساسي للإخلاء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السلالم بدل المصعد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هدوء وتجنب التدافع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 مساحة لمن يحتاج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توقف للتصوير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أغراض كبيرة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اتجاه الإخلاء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السلم ليس مكانًا للتجمع، بل مسار خروج يجب أن يبقى مفتوحًا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G.4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المصاعد والطوارئ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استخدامها أثناء الحريق قد يكون خطرًا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834640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89407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8940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834640"/>
            <a:ext cx="6199632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يتوقف بانقطاع الكهرباء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337560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3969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3969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337560"/>
            <a:ext cx="6199632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يتأثر بالدخان أو الحريق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840480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89991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8999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840480"/>
            <a:ext cx="6199632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يفتح في طابق غير آمن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4343400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44028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44028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4343400"/>
            <a:ext cx="6199632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يعيق عمل فرق الاستجابة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846320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90575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9057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846320"/>
            <a:ext cx="6199632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يسبب تأخير الخروج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السلالم ومخارج الطوارئ، ولا تستخدم المصعد إلا بتوجيه المختصين</a:t>
            </a:r>
            <a:endParaRPr lang="ar-AE" sz="1200" dirty="0"/>
          </a:p>
        </p:txBody>
      </p:sp>
      <p:sp>
        <p:nvSpPr>
          <p:cNvPr id="36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G.4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الدخان داخل المباني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أكبر مخاطر الحريق وقد ينتشر بسرعة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78892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83464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78892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منطقة مليئة بالدخان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236976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2826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282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23697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ابقَ منخفضًا للحركة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685032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7307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68503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أغلق الأبواب خلفك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4133088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41788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4133088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تفتح بابًا ساخنًا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581144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6268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58114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اتجه لمسار بديل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502920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507492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502920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إن كنت محاصرًا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الدخان قدر الإمكان — قد يكون أخطر من اللهب</a:t>
            </a:r>
            <a:endParaRPr lang="ar-AE" sz="1200" dirty="0"/>
          </a:p>
        </p:txBody>
      </p:sp>
      <p:sp>
        <p:nvSpPr>
          <p:cNvPr id="40" name="Shape 3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G.4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نقطة التجمع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للتأكد من سلامة الأشخاص بعد الإخلاء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موقعها مسبقًا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إليها مباشرة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 قرب المداخل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تعرقل الإسعاف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المفقودين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ترجع دون إذن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الخروج من المبنى لا يكفي — يجب الابتعاد لنقطة تجمع آمنة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G.4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دور إدارة المبنى أو المنشأة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تجهيز الموقع للطوارئ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جاهزية أنظمة الإنذار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صلاحية معدات السلامة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مخارج مفتوحة وواضحة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لوحات إرشادية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تدريبات إخلاء دورية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توعية السكان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خطة لمن يحتاج مساعدة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الإدارة الفعالة للمخاطر تبدأ قبل الطارئ، وليس أثناءه فقط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دور السكان والمستخدمين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مسؤولية مشتركة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المخارج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أغراض بالممرات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تعبث بأنظمة الإنذار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بلّغ عن المخاطر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بتعليمات الإخلاء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 من يحتاج إن أمكن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تجمهر أو تصوير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المبنى مسؤولية مشتركة بين الإدارة والسكان والزوار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الفئات الأكثر عرضة للمخاطر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تحتاج إلى مساعدة وقت الإخلاء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كبار السن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أصحاب الهمم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المرضى أو المصابون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غير العارفين بالمخارج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الزوار والعمال الجدد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محتاجو أجهزة مساعدة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إرشاد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يجب وضع خطة مسبقة لمساعدة هذه الفئات دون تعريض الآخرين للخطر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مساكن العمال والمساكن المشتركة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تحتاج إلى تنظيم خاص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ازدحام الغرف والممرات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تخزين بمسارات الإخلاء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أجهزة كهربائية متعددة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طبخ بأماكن غير مخصصة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ضعف معرفة الخطة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نقطة تجمع غير واضحة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الالتزام بالتنظيم داخل المساكن المشتركة يقلل المخاطر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G.4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المخاطر في الأبراج السكنية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وعي خاص بسبب الارتفاع وعدد السكان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مخارج الطابق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مصعد عند الحريق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أحذية بالممرات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أغلق باب الشقة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تفتح بابًا للدخان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بتعليمات الإدارة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الممرات ليست مناطق تخزين، بل مسارات إخلاء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انطلاق الإنذار؟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تعامل بجدية ولا تفترض أنه خاطئ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عن أي نشاط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 من المسار الآمن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المصعد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السلالم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 من يحتاج إن أمكن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لنقطة التجمع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الخطر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تجاهل الإنذار قد يضيع وقتًا مهمًا للخروج الآمن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G.4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إذا كنت محاصرًا؟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بهدوء واطلب المساعدة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ابقَ في مكان أكثر أمانًا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أغلق الباب بينك وبين الخطر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 قماشًا أسفل الباب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واذكر موقعك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اقترب من نافذة آمنة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تقفز أو تستخدم مسارًا غير آمن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انتظر تعليمات المختصين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محاولة الهروب عبر دخان كثيف قد تكون أخطر من البقاء وطلب المساعدة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G.4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إدارة المخاطر قبل الطوارئ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الاستعداد يقلل الارتباك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مراجعة المخارج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خلو الممرات والسلالم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نقطة التجمع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حفظ رقم 999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7452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92811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099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7510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تدريبات الإخلاء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إبلاغ عن الأعطال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تعبث بمعدات السلامة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88376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02055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03436" y="475488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98435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توعية الأسرة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الاستعداد لا يأخذ وقتًا طويلًا، لكنه يصنع فرقًا كبيرًا وقت الطوارئ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G.4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أخطاء شائعة يجب تجنبها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تصرفات تزيد الخطر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تجاهل الإنذار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المصعد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أغراض بالمخارج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التجمهر بالممرات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7452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92811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099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7510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الرجوع بعد الخروج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فتح أبواب للدخان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التصوير والنشر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88376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02055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03436" y="475488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98435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عرقلة الإسعاف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التصرفات الصغيرة الخاطئة قد تؤخر إخلاء عشرات الأشخاص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G.4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في المباني ذات الكثافة العالية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مخارج الطوارئ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الممرات خالية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تعامل مع الإنذار بجدية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السلالم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لنقطة التجمع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 من يحتاج إن أمكن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الخطر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المصعد بالحريق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الدخان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أغراض بالممرات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تجمهر عند المخارج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ترجع بعد الإخلاء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تصور أو تنشر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تعرقل فرق الاستجابة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G.4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انطلق إنذار حريق وبعض السكان اعتقدوه إنذارًا خاطئًا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تعامل بجدية، استخدم السلالم والمخارج، وتوجّه لنقطة التجمع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وجدت أثاثًا يعيق مخرج الطوارئ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بلّغ عن العائق فورًا — مخارج الطوارئ يجب أن تبقى مفتوحة دائمًا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أحدهم حاول استخدام المصعد أثناء الإخلاء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امنعه ووجّهه إلى السلالم ومخارج الطوارئ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كبير سن يحتاج مساعدة في النزول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ساعده إن كان آمنًا، وأبلغ المسؤولين بموقعه وحاجته للدعم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G.4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09960" y="2779776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28529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791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لا نستخدم المصعد أثناء الحريق؟</a:t>
            </a:r>
            <a:endParaRPr lang="ar-AE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2990088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يتوقف أو يتأثر بالدخان أو يفتح بطابق غير آمن — استخدم السلالم</a:t>
            </a:r>
            <a:endParaRPr lang="ar-AE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374136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109960" y="3547872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36210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44728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أهمية خلو الممرات من العوائق؟</a:t>
            </a:r>
            <a:endParaRPr lang="ar-AE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58184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تضمن سرعة الإخلاء وتمنع التزاحم والتأخير وقت الطوارئ</a:t>
            </a:r>
            <a:endParaRPr lang="ar-AE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4142232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109960" y="4315968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42153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سماع إنذار الحريق؟</a:t>
            </a:r>
            <a:endParaRPr lang="ar-AE" sz="1400" dirty="0"/>
          </a:p>
        </p:txBody>
      </p:sp>
      <p:sp>
        <p:nvSpPr>
          <p:cNvPr id="24" name="Text 17"/>
          <p:cNvSpPr/>
          <p:nvPr/>
        </p:nvSpPr>
        <p:spPr>
          <a:xfrm>
            <a:off x="640080" y="452628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تعامل بجدية، اتبع مسار الإخلاء، لا تستخدم المصعد، وتوجه للتجمع</a:t>
            </a:r>
            <a:endParaRPr lang="ar-AE" sz="1200" dirty="0"/>
          </a:p>
        </p:txBody>
      </p:sp>
      <p:sp>
        <p:nvSpPr>
          <p:cNvPr id="25" name="Shape 18"/>
          <p:cNvSpPr/>
          <p:nvPr/>
        </p:nvSpPr>
        <p:spPr>
          <a:xfrm>
            <a:off x="457200" y="4910328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109960" y="5084064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5157216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9834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إذا كنت محاصرًا بالدخان؟</a:t>
            </a:r>
            <a:endParaRPr lang="ar-AE" sz="1400" dirty="0"/>
          </a:p>
        </p:txBody>
      </p:sp>
      <p:sp>
        <p:nvSpPr>
          <p:cNvPr id="29" name="Text 21"/>
          <p:cNvSpPr/>
          <p:nvPr/>
        </p:nvSpPr>
        <p:spPr>
          <a:xfrm>
            <a:off x="640080" y="5294376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ابقَ بمكان آمن، أغلق الباب، اتصل بـ 999، واذكر موقعك بدقة</a:t>
            </a:r>
            <a:endParaRPr lang="ar-AE" sz="1200" dirty="0"/>
          </a:p>
        </p:txBody>
      </p:sp>
      <p:sp>
        <p:nvSpPr>
          <p:cNvPr id="30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6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G.4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تبدأ بالوعي والالتزام اليومي بإجراءات السلامة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المخارج • السلالم لا المصاعد • الممرات خالية • اتصل بـ 999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"في المباني ذات الكثافة العالية، التزام فرد واحد قد يساعد في حماية الجميع"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G.4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1558</Words>
  <Application>Microsoft Office PowerPoint</Application>
  <PresentationFormat>شاشة عريضة</PresentationFormat>
  <Paragraphs>391</Paragraphs>
  <Slides>22</Slides>
  <Notes>22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22</vt:i4>
      </vt:variant>
    </vt:vector>
  </HeadingPairs>
  <TitlesOfParts>
    <vt:vector size="26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إدارة مخاطر المنشآت والمساكن ذات الكثافة العالية</dc:title>
  <dc:subject>PptxGenJS Presentation</dc:subject>
  <dc:creator>هيئة أبوظبي للدفاع المدني</dc:creator>
  <cp:lastModifiedBy>Lenovo</cp:lastModifiedBy>
  <cp:revision>1</cp:revision>
  <dcterms:created xsi:type="dcterms:W3CDTF">2026-05-08T00:17:23Z</dcterms:created>
  <dcterms:modified xsi:type="dcterms:W3CDTF">2026-05-08T00:29:06Z</dcterms:modified>
</cp:coreProperties>
</file>