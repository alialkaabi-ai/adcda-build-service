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11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2423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4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2.png"/><Relationship Id="rId9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4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.png"/><Relationship Id="rId9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11" Type="http://schemas.openxmlformats.org/officeDocument/2006/relationships/image" Target="../media/image4.png"/><Relationship Id="rId5" Type="http://schemas.openxmlformats.org/officeDocument/2006/relationships/image" Target="../media/image18.png"/><Relationship Id="rId10" Type="http://schemas.openxmlformats.org/officeDocument/2006/relationships/image" Target="../media/image34.png"/><Relationship Id="rId4" Type="http://schemas.openxmlformats.org/officeDocument/2006/relationships/image" Target="../media/image2.png"/><Relationship Id="rId9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7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4.png"/><Relationship Id="rId5" Type="http://schemas.openxmlformats.org/officeDocument/2006/relationships/image" Target="../media/image38.png"/><Relationship Id="rId10" Type="http://schemas.openxmlformats.org/officeDocument/2006/relationships/image" Target="../media/image20.png"/><Relationship Id="rId4" Type="http://schemas.openxmlformats.org/officeDocument/2006/relationships/image" Target="../media/image2.png"/><Relationship Id="rId9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11" Type="http://schemas.openxmlformats.org/officeDocument/2006/relationships/image" Target="../media/image25.png"/><Relationship Id="rId5" Type="http://schemas.openxmlformats.org/officeDocument/2006/relationships/image" Target="../media/image40.png"/><Relationship Id="rId10" Type="http://schemas.openxmlformats.org/officeDocument/2006/relationships/image" Target="../media/image14.png"/><Relationship Id="rId4" Type="http://schemas.openxmlformats.org/officeDocument/2006/relationships/image" Target="../media/image2.png"/><Relationship Id="rId9" Type="http://schemas.openxmlformats.org/officeDocument/2006/relationships/image" Target="../media/image4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.png"/><Relationship Id="rId7" Type="http://schemas.openxmlformats.org/officeDocument/2006/relationships/image" Target="../media/image39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19.png"/><Relationship Id="rId10" Type="http://schemas.openxmlformats.org/officeDocument/2006/relationships/image" Target="../media/image43.png"/><Relationship Id="rId4" Type="http://schemas.openxmlformats.org/officeDocument/2006/relationships/image" Target="../media/image2.png"/><Relationship Id="rId9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1.png"/><Relationship Id="rId7" Type="http://schemas.openxmlformats.org/officeDocument/2006/relationships/image" Target="../media/image46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11" Type="http://schemas.openxmlformats.org/officeDocument/2006/relationships/image" Target="../media/image25.png"/><Relationship Id="rId5" Type="http://schemas.openxmlformats.org/officeDocument/2006/relationships/image" Target="../media/image44.png"/><Relationship Id="rId10" Type="http://schemas.openxmlformats.org/officeDocument/2006/relationships/image" Target="../media/image14.png"/><Relationship Id="rId4" Type="http://schemas.openxmlformats.org/officeDocument/2006/relationships/image" Target="../media/image2.png"/><Relationship Id="rId9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1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4.png"/><Relationship Id="rId5" Type="http://schemas.openxmlformats.org/officeDocument/2006/relationships/image" Target="../media/image14.png"/><Relationship Id="rId10" Type="http://schemas.openxmlformats.org/officeDocument/2006/relationships/image" Target="../media/image38.png"/><Relationship Id="rId4" Type="http://schemas.openxmlformats.org/officeDocument/2006/relationships/image" Target="../media/image2.png"/><Relationship Id="rId9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4.png"/><Relationship Id="rId5" Type="http://schemas.openxmlformats.org/officeDocument/2006/relationships/image" Target="../media/image19.png"/><Relationship Id="rId10" Type="http://schemas.openxmlformats.org/officeDocument/2006/relationships/image" Target="../media/image30.png"/><Relationship Id="rId4" Type="http://schemas.openxmlformats.org/officeDocument/2006/relationships/image" Target="../media/image2.png"/><Relationship Id="rId9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7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38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11" Type="http://schemas.openxmlformats.org/officeDocument/2006/relationships/image" Target="../media/image28.png"/><Relationship Id="rId5" Type="http://schemas.openxmlformats.org/officeDocument/2006/relationships/image" Target="../media/image19.png"/><Relationship Id="rId10" Type="http://schemas.openxmlformats.org/officeDocument/2006/relationships/image" Target="../media/image31.png"/><Relationship Id="rId4" Type="http://schemas.openxmlformats.org/officeDocument/2006/relationships/image" Target="../media/image2.png"/><Relationship Id="rId9" Type="http://schemas.openxmlformats.org/officeDocument/2006/relationships/image" Target="../media/image4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33.png"/><Relationship Id="rId5" Type="http://schemas.openxmlformats.org/officeDocument/2006/relationships/image" Target="../media/image50.png"/><Relationship Id="rId10" Type="http://schemas.openxmlformats.org/officeDocument/2006/relationships/image" Target="../media/image23.png"/><Relationship Id="rId4" Type="http://schemas.openxmlformats.org/officeDocument/2006/relationships/image" Target="../media/image2.png"/><Relationship Id="rId9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41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17236" y="1325880"/>
            <a:ext cx="1554480" cy="1554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1556" y="1600200"/>
            <a:ext cx="1005840" cy="10058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6576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3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إدارة مخاطر المنشآت والمساكن ذات الكثافة العالية</a:t>
            </a:r>
            <a:endParaRPr lang="en-US" sz="3200" dirty="0"/>
          </a:p>
        </p:txBody>
      </p:sp>
      <p:sp>
        <p:nvSpPr>
          <p:cNvPr id="11" name="Text 6"/>
          <p:cNvSpPr/>
          <p:nvPr/>
        </p:nvSpPr>
        <p:spPr>
          <a:xfrm>
            <a:off x="457200" y="45262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8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وعي السكان، مخارج آمنة، وخطة إخلاء واضحة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637276" y="49834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731520" y="5257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i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"كلما زاد عدد السكان، زادت الحاجة إلى التنظيم والالتزام بالتعليمات"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5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G.4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نهتم بهذا الموضوع؟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أعداد كبيرة في مساحات محدودة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937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509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9576" y="3200400"/>
            <a:ext cx="457200" cy="4572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452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852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852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عدد كبير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36829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282549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4096" y="3200400"/>
            <a:ext cx="457200" cy="4572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261975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245973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تقليل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245973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الارتباك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24281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70001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8616" y="3200400"/>
            <a:ext cx="457200" cy="4572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449427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433425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منع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433425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التزاحم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11733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57453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3136" y="3200400"/>
            <a:ext cx="457200" cy="45720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36879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620877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وصول سريع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20877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للاستجابة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799185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844905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7656" y="3200400"/>
            <a:ext cx="457200" cy="457200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824331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808329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تقليل انتشار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808329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الدخان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98663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103235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52176" y="3200400"/>
            <a:ext cx="457200" cy="457200"/>
          </a:xfrm>
          <a:prstGeom prst="rect">
            <a:avLst/>
          </a:prstGeom>
        </p:spPr>
      </p:pic>
      <p:sp>
        <p:nvSpPr>
          <p:cNvPr id="43" name="Shape 33"/>
          <p:cNvSpPr/>
          <p:nvPr/>
        </p:nvSpPr>
        <p:spPr>
          <a:xfrm>
            <a:off x="101178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99578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دعم الفئات</a:t>
            </a:r>
            <a:endParaRPr lang="en-US" sz="1400" dirty="0"/>
          </a:p>
        </p:txBody>
      </p:sp>
      <p:sp>
        <p:nvSpPr>
          <p:cNvPr id="45" name="Text 35"/>
          <p:cNvSpPr/>
          <p:nvPr/>
        </p:nvSpPr>
        <p:spPr>
          <a:xfrm>
            <a:off x="99578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الأكثر عرضة</a:t>
            </a:r>
            <a:endParaRPr lang="en-US" sz="1100" dirty="0"/>
          </a:p>
        </p:txBody>
      </p:sp>
      <p:sp>
        <p:nvSpPr>
          <p:cNvPr id="46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لا تعتمد على الفرد فقط، بل على التزام الجميع بالتعليمات</a:t>
            </a:r>
            <a:endParaRPr lang="ar-AE" sz="1200" dirty="0"/>
          </a:p>
        </p:txBody>
      </p:sp>
      <p:sp>
        <p:nvSpPr>
          <p:cNvPr id="48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9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50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52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4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6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7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G.4</a:t>
            </a:r>
            <a:endParaRPr lang="en-US" sz="1000" dirty="0"/>
          </a:p>
        </p:txBody>
      </p:sp>
      <p:sp>
        <p:nvSpPr>
          <p:cNvPr id="58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9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المقصود بالمنشآت ذات الكثافة العالية؟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مبانٍ بأعداد كبيرة أو يصعب إخلاؤها بسرعة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الأبراج السكنية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المجمعات السكنية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متعددة الطوابق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مساكن العمال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75488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الفنادق والشقق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75488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المراكز الإدارية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75488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منشآت تستقبل زوارًا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ارتفاع المبنى أو كثافة السكان يتطلبان وعيًا أكبر بخطط الطوارئ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G.4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أبرز المخاطر في المباني ذات الكثافة العالية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تنوّع المخاطر بسبب الاستخدام والكثافة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التزاحم عند المخارج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عدم معرفة المسارات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إغلاق المخارج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تراكم مواد بالممرات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74523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928116" y="45720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0996" y="475488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75107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إساءة استخدام المصاعد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344271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3625596" y="45720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08476" y="475488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444855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انتشار الدخان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614019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6323076" y="45720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05956" y="475488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14603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تأخر الإبلاغ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883767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9" name="Shape 28"/>
          <p:cNvSpPr/>
          <p:nvPr/>
        </p:nvSpPr>
        <p:spPr>
          <a:xfrm>
            <a:off x="9020556" y="45720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03436" y="4754880"/>
            <a:ext cx="320040" cy="32004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984351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إهمال من يحتاج مساعدة</a:t>
            </a:r>
            <a:endParaRPr lang="en-US" sz="1300" dirty="0"/>
          </a:p>
        </p:txBody>
      </p:sp>
      <p:sp>
        <p:nvSpPr>
          <p:cNvPr id="42" name="Shape 30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الخطر لا يبدأ فقط من الحريق، بل من العوائق وسوء التنظيم</a:t>
            </a:r>
            <a:endParaRPr lang="ar-AE" sz="1200" dirty="0"/>
          </a:p>
        </p:txBody>
      </p:sp>
      <p:sp>
        <p:nvSpPr>
          <p:cNvPr id="44" name="Shape 3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10" descr="/home/claude/assets/social_icons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3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3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3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G.4</a:t>
            </a:r>
            <a:endParaRPr lang="en-US" sz="1000" dirty="0"/>
          </a:p>
        </p:txBody>
      </p:sp>
      <p:sp>
        <p:nvSpPr>
          <p:cNvPr id="54" name="Shape 4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مخارج الطوارئ ومسارات الإخلاء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خط النجاة الأساسي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اعرف أقرب مخرج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اعرف مخرجًا بديلًا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تضع أغراضًا بالممرات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تغلق المخارج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75488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التزم بلوحات الإرشاد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75488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بلّغ عن أي عائق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 مهم: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المخرج المغلق أو المحجوب قد يسبب تأخيرًا خطيرًا وقت الطوارئ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G.4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السلالم أثناء الطوارئ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المسار الأساسي للإخلاء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السلالم بدل المصعد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هدوء وتجنب التدافع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اترك مساحة لمن يحتاج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توقف للتصوير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75488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أغراض كبيرة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75488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اتجاه الإخلاء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السلم ليس مكانًا للتجمع، بل مسار خروج يجب أن يبقى مفتوحًا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G.4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المصاعد والطوارئ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استخدامها أثناء الحريق قد يكون خطرًا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371600" y="2926080"/>
            <a:ext cx="2286000" cy="2286000"/>
          </a:xfrm>
          <a:prstGeom prst="ellipse">
            <a:avLst/>
          </a:prstGeom>
          <a:solidFill>
            <a:srgbClr val="FEF2F2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13716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154680" y="4617720"/>
            <a:ext cx="594360" cy="594360"/>
          </a:xfrm>
          <a:prstGeom prst="ellipse">
            <a:avLst/>
          </a:prstGeom>
          <a:solidFill>
            <a:srgbClr val="DC2626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4754880"/>
            <a:ext cx="320040" cy="3200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846320" y="2834640"/>
            <a:ext cx="68580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11320272" y="289407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0"/>
          <p:cNvSpPr/>
          <p:nvPr/>
        </p:nvSpPr>
        <p:spPr>
          <a:xfrm>
            <a:off x="11320272" y="28940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983480" y="2834640"/>
            <a:ext cx="6199632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قد يتوقف بانقطاع الكهرباء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846320" y="3337560"/>
            <a:ext cx="68580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11320272" y="339699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4"/>
          <p:cNvSpPr/>
          <p:nvPr/>
        </p:nvSpPr>
        <p:spPr>
          <a:xfrm>
            <a:off x="11320272" y="33969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983480" y="3337560"/>
            <a:ext cx="6199632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قد يتأثر بالدخان أو الحريق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846320" y="3840480"/>
            <a:ext cx="68580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1320272" y="389991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18"/>
          <p:cNvSpPr/>
          <p:nvPr/>
        </p:nvSpPr>
        <p:spPr>
          <a:xfrm>
            <a:off x="11320272" y="38999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983480" y="3840480"/>
            <a:ext cx="6199632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قد يفتح في طابق غير آمن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846320" y="4343400"/>
            <a:ext cx="68580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11320272" y="440283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2"/>
          <p:cNvSpPr/>
          <p:nvPr/>
        </p:nvSpPr>
        <p:spPr>
          <a:xfrm>
            <a:off x="11320272" y="44028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983480" y="4343400"/>
            <a:ext cx="6199632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يعيق عمل فرق الاستجابة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846320" y="4846320"/>
            <a:ext cx="68580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1320272" y="490575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26"/>
          <p:cNvSpPr/>
          <p:nvPr/>
        </p:nvSpPr>
        <p:spPr>
          <a:xfrm>
            <a:off x="11320272" y="49057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983480" y="4846320"/>
            <a:ext cx="6199632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يسبب تأخير الخروج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 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السلالم ومخارج الطوارئ، ولا تستخدم المصعد إلا بتوجيه المختصين</a:t>
            </a:r>
            <a:endParaRPr lang="ar-AE" sz="1200" dirty="0"/>
          </a:p>
        </p:txBody>
      </p:sp>
      <p:sp>
        <p:nvSpPr>
          <p:cNvPr id="36" name="Shape 3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4" descr="/home/claude/assets/social_ic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3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G.4</a:t>
            </a:r>
            <a:endParaRPr lang="en-US" sz="1000" dirty="0"/>
          </a:p>
        </p:txBody>
      </p:sp>
      <p:sp>
        <p:nvSpPr>
          <p:cNvPr id="46" name="Shape 3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الدخان داخل المباني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أكبر مخاطر الحريق وقد ينتشر بسرعة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371600" y="2926080"/>
            <a:ext cx="2286000" cy="2286000"/>
          </a:xfrm>
          <a:prstGeom prst="ellipse">
            <a:avLst/>
          </a:prstGeom>
          <a:solidFill>
            <a:srgbClr val="FEF2F2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13716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154680" y="4617720"/>
            <a:ext cx="594360" cy="594360"/>
          </a:xfrm>
          <a:prstGeom prst="ellipse">
            <a:avLst/>
          </a:prstGeom>
          <a:solidFill>
            <a:srgbClr val="DC2626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4754880"/>
            <a:ext cx="320040" cy="3200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846320" y="2788920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11320272" y="283464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0"/>
          <p:cNvSpPr/>
          <p:nvPr/>
        </p:nvSpPr>
        <p:spPr>
          <a:xfrm>
            <a:off x="11320272" y="2834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983480" y="2788920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تدخل منطقة مليئة بالدخان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846320" y="3236976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11320272" y="328269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4"/>
          <p:cNvSpPr/>
          <p:nvPr/>
        </p:nvSpPr>
        <p:spPr>
          <a:xfrm>
            <a:off x="11320272" y="3282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983480" y="3236976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ابقَ منخفضًا للحركة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846320" y="3685032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1320272" y="373075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18"/>
          <p:cNvSpPr/>
          <p:nvPr/>
        </p:nvSpPr>
        <p:spPr>
          <a:xfrm>
            <a:off x="11320272" y="3730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983480" y="3685032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أغلق الأبواب خلفك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846320" y="4133088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11320272" y="417880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2"/>
          <p:cNvSpPr/>
          <p:nvPr/>
        </p:nvSpPr>
        <p:spPr>
          <a:xfrm>
            <a:off x="11320272" y="4178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983480" y="4133088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تفتح بابًا ساخنًا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846320" y="4581144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1320272" y="462686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26"/>
          <p:cNvSpPr/>
          <p:nvPr/>
        </p:nvSpPr>
        <p:spPr>
          <a:xfrm>
            <a:off x="11320272" y="4626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983480" y="4581144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اتجه لمسار بديل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4846320" y="5029200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11320272" y="507492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0"/>
          <p:cNvSpPr/>
          <p:nvPr/>
        </p:nvSpPr>
        <p:spPr>
          <a:xfrm>
            <a:off x="11320272" y="5074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4983480" y="5029200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إن كنت محاصرًا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تجنب الدخان قدر الإمكان — قد يكون أخطر من اللهب</a:t>
            </a:r>
            <a:endParaRPr lang="ar-AE" sz="1200" dirty="0"/>
          </a:p>
        </p:txBody>
      </p:sp>
      <p:sp>
        <p:nvSpPr>
          <p:cNvPr id="40" name="Shape 34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4" descr="/home/claude/assets/social_ic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5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7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9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G.4</a:t>
            </a:r>
            <a:endParaRPr lang="en-US" sz="1000" dirty="0"/>
          </a:p>
        </p:txBody>
      </p:sp>
      <p:sp>
        <p:nvSpPr>
          <p:cNvPr id="50" name="Shape 43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نقطة التجمع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للتأكد من سلامة الأشخاص بعد الإخلاء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اعرف موقعها مسبقًا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توجه إليها مباشرة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تقف قرب المداخل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تعرقل الإسعاف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75488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المفقودين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75488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ترجع دون إذن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الخروج من المبنى لا يكفي — يجب الابتعاد لنقطة تجمع آمنة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G.4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دور إدارة المبنى أو المنشأة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تجهيز الموقع للطوارئ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جاهزية أنظمة الإنذار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صلاحية معدات السلامة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مخارج مفتوحة وواضحة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لوحات إرشادية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75488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تدريبات إخلاء دورية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75488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توعية السكان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75488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خطة لمن يحتاج مساعدة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الإدارة الفعالة للمخاطر تبدأ قبل الطارئ، وليس أثناءه فقط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G.4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دور السكان والمستخدمين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مسؤولية مشتركة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اعرف المخارج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أغراض بالممرات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تعبث بأنظمة الإنذار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بلّغ عن المخاطر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75488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التزم بتعليمات الإخلاء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75488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ساعد من يحتاج إن أمكن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75488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تجمهر أو تصوير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سلامة المبنى مسؤولية مشتركة بين الإدارة والسكان والزوار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G.4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الفئات الأكثر عرضة للمخاطر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تحتاج إلى مساعدة وقت الإخلاء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الأطفال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كبار السن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أصحاب الهمم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المرضى أو المصابون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75488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غير العارفين بالمخارج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75488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الزوار والعمال الجدد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75488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محتاجو أجهزة مساعدة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إرشاد مهم: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يجب وضع خطة مسبقة لمساعدة هذه الفئات دون تعريض الآخرين للخطر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G.4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مساكن العمال والمساكن المشتركة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تحتاج إلى تنظيم خاص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ازدحام الغرف والممرات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تخزين بمسارات الإخلاء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أجهزة كهربائية متعددة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طبخ بأماكن غير مخصصة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5720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75488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ضعف معرفة الخطة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5720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75488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نقطة تجمع غير واضحة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الالتزام بالتنظيم داخل المساكن المشتركة يقلل المخاطر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G.4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المخاطر في الأبراج السكنية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وعي خاص بسبب الارتفاع وعدد السكان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اعرف مخارج الطابق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مصعد عند الحريق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أحذية بالممرات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أغلق باب الشقة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75488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تفتح بابًا للدخان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75488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التزم بتعليمات الإدارة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75488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عند الخطر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الممرات ليست مناطق تخزين، بل مسارات إخلاء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G.4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عند انطلاق الإنذار؟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تعامل بجدية ولا تفترض أنه خاطئ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توقف عن أي نشاط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تحقق من المسار الآمن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المصعد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السلالم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ساعد من يحتاج إن أمكن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توجه لنقطة التجمع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عند الخطر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تجاهل الإنذار قد يضيع وقتًا مهمًا للخروج الآمن</a:t>
            </a:r>
            <a:endParaRPr lang="ar-AE" sz="1200" dirty="0"/>
          </a:p>
        </p:txBody>
      </p:sp>
      <p:sp>
        <p:nvSpPr>
          <p:cNvPr id="40" name="Shape 3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G.4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إذا كنت محاصرًا؟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 بهدوء واطلب المساعدة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371600" y="2926080"/>
            <a:ext cx="2286000" cy="2286000"/>
          </a:xfrm>
          <a:prstGeom prst="ellipse">
            <a:avLst/>
          </a:prstGeom>
          <a:solidFill>
            <a:srgbClr val="FEF2F2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13716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154680" y="4617720"/>
            <a:ext cx="594360" cy="594360"/>
          </a:xfrm>
          <a:prstGeom prst="ellipse">
            <a:avLst/>
          </a:prstGeom>
          <a:solidFill>
            <a:srgbClr val="DC2626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4754880"/>
            <a:ext cx="320040" cy="3200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846320" y="269748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11320272" y="272491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0"/>
          <p:cNvSpPr/>
          <p:nvPr/>
        </p:nvSpPr>
        <p:spPr>
          <a:xfrm>
            <a:off x="11320272" y="2724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983480" y="269748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ابقَ في مكان أكثر أمانًا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846320" y="309067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11320272" y="311810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4"/>
          <p:cNvSpPr/>
          <p:nvPr/>
        </p:nvSpPr>
        <p:spPr>
          <a:xfrm>
            <a:off x="11320272" y="3118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983480" y="309067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أغلق الباب بينك وبين الخطر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846320" y="3483864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1320272" y="351129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18"/>
          <p:cNvSpPr/>
          <p:nvPr/>
        </p:nvSpPr>
        <p:spPr>
          <a:xfrm>
            <a:off x="11320272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983480" y="3483864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ضع قماشًا أسفل الباب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846320" y="3877056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11320272" y="390448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2"/>
          <p:cNvSpPr/>
          <p:nvPr/>
        </p:nvSpPr>
        <p:spPr>
          <a:xfrm>
            <a:off x="11320272" y="3904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983480" y="3877056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واذكر موقعك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846320" y="4270248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1320272" y="42976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26"/>
          <p:cNvSpPr/>
          <p:nvPr/>
        </p:nvSpPr>
        <p:spPr>
          <a:xfrm>
            <a:off x="11320272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983480" y="4270248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اقترب من نافذة آمنة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4846320" y="466344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11320272" y="469087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0"/>
          <p:cNvSpPr/>
          <p:nvPr/>
        </p:nvSpPr>
        <p:spPr>
          <a:xfrm>
            <a:off x="11320272" y="4690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4983480" y="466344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تقفز أو تستخدم مسارًا غير آمن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4846320" y="505663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11320272" y="508406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0" name="Text 34"/>
          <p:cNvSpPr/>
          <p:nvPr/>
        </p:nvSpPr>
        <p:spPr>
          <a:xfrm>
            <a:off x="11320272" y="5084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4983480" y="505663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انتظر تعليمات المختصين</a:t>
            </a:r>
            <a:endParaRPr lang="en-US" sz="1200" dirty="0"/>
          </a:p>
        </p:txBody>
      </p:sp>
      <p:sp>
        <p:nvSpPr>
          <p:cNvPr id="42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محاولة الهروب عبر دخان كثيف قد تكون أخطر من البقاء وطلب المساعدة</a:t>
            </a:r>
            <a:endParaRPr lang="ar-AE" sz="1200" dirty="0"/>
          </a:p>
        </p:txBody>
      </p:sp>
      <p:sp>
        <p:nvSpPr>
          <p:cNvPr id="44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4" descr="/home/claude/assets/social_ic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G.4</a:t>
            </a:r>
            <a:endParaRPr lang="en-US" sz="1000" dirty="0"/>
          </a:p>
        </p:txBody>
      </p:sp>
      <p:sp>
        <p:nvSpPr>
          <p:cNvPr id="54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إدارة المخاطر قبل الطوارئ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الاستعداد يقلل الارتباك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مراجعة المخارج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خلو الممرات والسلالم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معرفة نقطة التجمع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حفظ رقم 999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74523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92811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0996" y="475488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75107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تدريبات الإخلاء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344271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362559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08476" y="475488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444855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إبلاغ عن الأعطال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614019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632307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05956" y="475488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14603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تعبث بمعدات السلامة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883767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9" name="Shape 28"/>
          <p:cNvSpPr/>
          <p:nvPr/>
        </p:nvSpPr>
        <p:spPr>
          <a:xfrm>
            <a:off x="902055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03436" y="4754880"/>
            <a:ext cx="320040" cy="32004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984351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توعية الأسرة</a:t>
            </a:r>
            <a:endParaRPr lang="en-US" sz="1300" dirty="0"/>
          </a:p>
        </p:txBody>
      </p:sp>
      <p:sp>
        <p:nvSpPr>
          <p:cNvPr id="42" name="Shape 30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الاستعداد لا يأخذ وقتًا طويلًا، لكنه يصنع فرقًا كبيرًا وقت الطوارئ</a:t>
            </a:r>
            <a:endParaRPr lang="ar-AE" sz="1200" dirty="0"/>
          </a:p>
        </p:txBody>
      </p:sp>
      <p:sp>
        <p:nvSpPr>
          <p:cNvPr id="44" name="Shape 3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10" descr="/home/claude/assets/social_icons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3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3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3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G.4</a:t>
            </a:r>
            <a:endParaRPr lang="en-US" sz="1000" dirty="0"/>
          </a:p>
        </p:txBody>
      </p:sp>
      <p:sp>
        <p:nvSpPr>
          <p:cNvPr id="54" name="Shape 4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أخطاء شائعة يجب تجنبها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تصرفات تزيد الخطر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تجاهل الإنذار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استخدام المصعد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أغراض بالمخارج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التجمهر بالممرات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74523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928116" y="45720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0996" y="475488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75107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الرجوع بعد الخروج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344271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3625596" y="45720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08476" y="475488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444855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فتح أبواب للدخان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614019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6323076" y="45720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05956" y="475488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14603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التصوير والنشر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883767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9" name="Shape 28"/>
          <p:cNvSpPr/>
          <p:nvPr/>
        </p:nvSpPr>
        <p:spPr>
          <a:xfrm>
            <a:off x="9020556" y="45720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03436" y="4754880"/>
            <a:ext cx="320040" cy="32004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984351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عرقلة الإسعاف</a:t>
            </a:r>
            <a:endParaRPr lang="en-US" sz="1300" dirty="0"/>
          </a:p>
        </p:txBody>
      </p:sp>
      <p:sp>
        <p:nvSpPr>
          <p:cNvPr id="42" name="Shape 30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التصرفات الصغيرة الخاطئة قد تؤخر إخلاء عشرات الأشخاص</a:t>
            </a:r>
            <a:endParaRPr lang="ar-AE" sz="1200" dirty="0"/>
          </a:p>
        </p:txBody>
      </p:sp>
      <p:sp>
        <p:nvSpPr>
          <p:cNvPr id="44" name="Shape 3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10" descr="/home/claude/assets/social_icons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3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3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3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G.4</a:t>
            </a:r>
            <a:endParaRPr lang="en-US" sz="1000" dirty="0"/>
          </a:p>
        </p:txBody>
      </p:sp>
      <p:sp>
        <p:nvSpPr>
          <p:cNvPr id="54" name="Shape 4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ولا تفعل في المباني ذات الكثافة العالية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ممارسات صحيحة وأخرى يجب تجنّبها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153912" y="2606040"/>
            <a:ext cx="5577840" cy="5029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 ✓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1320272" y="3291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1320272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336792" y="3246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اعرف مخارج الطوارئ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1320272" y="3749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1320272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336792" y="3703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حافظ على الممرات خالية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11320272" y="42062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1320272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336792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تعامل مع الإنذار بجدية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1320272" y="46634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1320272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336792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السلالم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11320272" y="5120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1320272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336792" y="50749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توجه لنقطة التجمع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11320272" y="5577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1320272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336792" y="5532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ساعد من يحتاج إن أمكن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11320272" y="6035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11320272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6336792" y="5989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عند الخطر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457200" y="2606040"/>
            <a:ext cx="557784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6" name="Text 32"/>
          <p:cNvSpPr/>
          <p:nvPr/>
        </p:nvSpPr>
        <p:spPr>
          <a:xfrm>
            <a:off x="640080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تفعل  ✕</a:t>
            </a:r>
            <a:endParaRPr lang="en-US" sz="1800" dirty="0"/>
          </a:p>
        </p:txBody>
      </p:sp>
      <p:sp>
        <p:nvSpPr>
          <p:cNvPr id="37" name="Shape 33"/>
          <p:cNvSpPr/>
          <p:nvPr/>
        </p:nvSpPr>
        <p:spPr>
          <a:xfrm>
            <a:off x="5623560" y="3291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623560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40080" y="3246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المصعد بالحريق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5623560" y="3749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623560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640080" y="3703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تتجاهل الدخان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5623560" y="42062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623560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640080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أغراض بالممرات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5623560" y="46634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623560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640080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تجمهر عند المخارج</a:t>
            </a:r>
            <a:endParaRPr lang="en-US" sz="1300" dirty="0"/>
          </a:p>
        </p:txBody>
      </p:sp>
      <p:sp>
        <p:nvSpPr>
          <p:cNvPr id="49" name="Shape 45"/>
          <p:cNvSpPr/>
          <p:nvPr/>
        </p:nvSpPr>
        <p:spPr>
          <a:xfrm>
            <a:off x="5623560" y="5120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5623560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640080" y="50749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ترجع بعد الإخلاء</a:t>
            </a:r>
            <a:endParaRPr lang="en-US" sz="1300" dirty="0"/>
          </a:p>
        </p:txBody>
      </p:sp>
      <p:sp>
        <p:nvSpPr>
          <p:cNvPr id="52" name="Shape 48"/>
          <p:cNvSpPr/>
          <p:nvPr/>
        </p:nvSpPr>
        <p:spPr>
          <a:xfrm>
            <a:off x="5623560" y="5577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5623560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54" name="Text 50"/>
          <p:cNvSpPr/>
          <p:nvPr/>
        </p:nvSpPr>
        <p:spPr>
          <a:xfrm>
            <a:off x="640080" y="5532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تصور أو تنشر</a:t>
            </a:r>
            <a:endParaRPr lang="en-US" sz="1300" dirty="0"/>
          </a:p>
        </p:txBody>
      </p:sp>
      <p:sp>
        <p:nvSpPr>
          <p:cNvPr id="55" name="Shape 51"/>
          <p:cNvSpPr/>
          <p:nvPr/>
        </p:nvSpPr>
        <p:spPr>
          <a:xfrm>
            <a:off x="5623560" y="6035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5623560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57" name="Text 53"/>
          <p:cNvSpPr/>
          <p:nvPr/>
        </p:nvSpPr>
        <p:spPr>
          <a:xfrm>
            <a:off x="640080" y="5989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تعرقل فرق الاستجابة</a:t>
            </a:r>
            <a:endParaRPr lang="en-US" sz="1300" dirty="0"/>
          </a:p>
        </p:txBody>
      </p:sp>
      <p:sp>
        <p:nvSpPr>
          <p:cNvPr id="58" name="Shape 54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59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60" name="Shape 55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62" name="Shape 57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64" name="Shape 59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5" name="Text 60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66" name="Shape 61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7" name="Text 62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G.4</a:t>
            </a:r>
            <a:endParaRPr lang="en-US" sz="1000" dirty="0"/>
          </a:p>
        </p:txBody>
      </p:sp>
      <p:sp>
        <p:nvSpPr>
          <p:cNvPr id="68" name="Shape 63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9" name="Text 64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سيناريوهات تفاعلية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تطبيق عملي لما تعلمته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336792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1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525512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انطلق إنذار حريق وبعض السكان اعتقدوه إنذارًا خاطئًا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36792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73952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تعامل بجدية، استخدم السلالم والمخارج، وتوجّه لنقطة التجمع</a:t>
            </a:r>
            <a:endParaRPr lang="ar-AE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8" name="Text 14"/>
          <p:cNvSpPr/>
          <p:nvPr/>
        </p:nvSpPr>
        <p:spPr>
          <a:xfrm>
            <a:off x="640080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2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828800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وجدت أثاثًا يعيق مخرج الطوارئ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40080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77240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بلّغ عن العائق فورًا — مخارج الطوارئ يجب أن تبقى مفتوحة دائمًا</a:t>
            </a:r>
            <a:endParaRPr lang="ar-AE" sz="1200" dirty="0"/>
          </a:p>
        </p:txBody>
      </p:sp>
      <p:sp>
        <p:nvSpPr>
          <p:cNvPr id="22" name="Shape 18"/>
          <p:cNvSpPr/>
          <p:nvPr/>
        </p:nvSpPr>
        <p:spPr>
          <a:xfrm>
            <a:off x="6153912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336792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6336792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3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7525512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أحدهم حاول استخدام المصعد أثناء الإخلاء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6336792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473952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امنعه ووجّهه إلى السلالم ومخارج الطوارئ</a:t>
            </a:r>
            <a:endParaRPr lang="ar-AE" sz="1200" dirty="0"/>
          </a:p>
        </p:txBody>
      </p:sp>
      <p:sp>
        <p:nvSpPr>
          <p:cNvPr id="28" name="Shape 24"/>
          <p:cNvSpPr/>
          <p:nvPr/>
        </p:nvSpPr>
        <p:spPr>
          <a:xfrm>
            <a:off x="457200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40080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30" name="Text 26"/>
          <p:cNvSpPr/>
          <p:nvPr/>
        </p:nvSpPr>
        <p:spPr>
          <a:xfrm>
            <a:off x="640080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4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828800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كبير سن يحتاج مساعدة في النزول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640080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77240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ساعده إن كان آمنًا، وأبلغ المسؤولين بموقعه وحاجته للدعم</a:t>
            </a:r>
            <a:endParaRPr lang="ar-AE" sz="1200" dirty="0"/>
          </a:p>
        </p:txBody>
      </p:sp>
      <p:sp>
        <p:nvSpPr>
          <p:cNvPr id="34" name="Shape 3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G.4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اختبر معلوماتك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أسئلة سريعة لتقييم فهمك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57200" y="2606040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109960" y="2779776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2852928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" y="2679192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س1: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لا نستخدم المصعد أثناء الحريق؟</a:t>
            </a:r>
            <a:endParaRPr lang="ar-AE" sz="1400" dirty="0"/>
          </a:p>
        </p:txBody>
      </p:sp>
      <p:sp>
        <p:nvSpPr>
          <p:cNvPr id="14" name="Text 9"/>
          <p:cNvSpPr/>
          <p:nvPr/>
        </p:nvSpPr>
        <p:spPr>
          <a:xfrm>
            <a:off x="640080" y="2990088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قد يتوقف أو يتأثر بالدخان أو يفتح بطابق غير آمن — استخدم السلالم</a:t>
            </a:r>
            <a:endParaRPr lang="ar-AE" sz="1200" dirty="0"/>
          </a:p>
        </p:txBody>
      </p:sp>
      <p:sp>
        <p:nvSpPr>
          <p:cNvPr id="15" name="Shape 10"/>
          <p:cNvSpPr/>
          <p:nvPr/>
        </p:nvSpPr>
        <p:spPr>
          <a:xfrm>
            <a:off x="457200" y="3374136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1109960" y="3547872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3621024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" y="3447288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س2: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أهمية خلو الممرات من العوائق؟</a:t>
            </a:r>
            <a:endParaRPr lang="ar-AE" sz="1400" dirty="0"/>
          </a:p>
        </p:txBody>
      </p:sp>
      <p:sp>
        <p:nvSpPr>
          <p:cNvPr id="19" name="Text 13"/>
          <p:cNvSpPr/>
          <p:nvPr/>
        </p:nvSpPr>
        <p:spPr>
          <a:xfrm>
            <a:off x="640080" y="3758184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تضمن سرعة الإخلاء وتمنع التزاحم والتأخير وقت الطوارئ</a:t>
            </a:r>
            <a:endParaRPr lang="ar-AE" sz="1200" dirty="0"/>
          </a:p>
        </p:txBody>
      </p:sp>
      <p:sp>
        <p:nvSpPr>
          <p:cNvPr id="20" name="Shape 14"/>
          <p:cNvSpPr/>
          <p:nvPr/>
        </p:nvSpPr>
        <p:spPr>
          <a:xfrm>
            <a:off x="457200" y="4142232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1109960" y="4315968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438912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" y="4215384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س3: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عند سماع إنذار الحريق؟</a:t>
            </a:r>
            <a:endParaRPr lang="ar-AE" sz="1400" dirty="0"/>
          </a:p>
        </p:txBody>
      </p:sp>
      <p:sp>
        <p:nvSpPr>
          <p:cNvPr id="24" name="Text 17"/>
          <p:cNvSpPr/>
          <p:nvPr/>
        </p:nvSpPr>
        <p:spPr>
          <a:xfrm>
            <a:off x="640080" y="4526280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تعامل بجدية، اتبع مسار الإخلاء، لا تستخدم المصعد، وتوجه للتجمع</a:t>
            </a:r>
            <a:endParaRPr lang="ar-AE" sz="1200" dirty="0"/>
          </a:p>
        </p:txBody>
      </p:sp>
      <p:sp>
        <p:nvSpPr>
          <p:cNvPr id="25" name="Shape 18"/>
          <p:cNvSpPr/>
          <p:nvPr/>
        </p:nvSpPr>
        <p:spPr>
          <a:xfrm>
            <a:off x="457200" y="4910328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11109960" y="5084064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5157216"/>
            <a:ext cx="274320" cy="27432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40080" y="4983480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س4: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إذا كنت محاصرًا بالدخان؟</a:t>
            </a:r>
            <a:endParaRPr lang="ar-AE" sz="1400" dirty="0"/>
          </a:p>
        </p:txBody>
      </p:sp>
      <p:sp>
        <p:nvSpPr>
          <p:cNvPr id="29" name="Text 21"/>
          <p:cNvSpPr/>
          <p:nvPr/>
        </p:nvSpPr>
        <p:spPr>
          <a:xfrm>
            <a:off x="640080" y="5294376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ابقَ بمكان آمن، أغلق الباب، اتصل بـ 999، واذكر موقعك بدقة</a:t>
            </a:r>
            <a:endParaRPr lang="ar-AE" sz="1200" dirty="0"/>
          </a:p>
        </p:txBody>
      </p:sp>
      <p:sp>
        <p:nvSpPr>
          <p:cNvPr id="30" name="Shape 2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1" name="Image 6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3" name="Text 2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4" name="Shape 2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5" name="Text 2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36" name="Shape 2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2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38" name="Shape 2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G.4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62956" y="1280160"/>
            <a:ext cx="1463040" cy="146304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7276" y="1554480"/>
            <a:ext cx="914400" cy="9144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4747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4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شكرًا لكم</a:t>
            </a:r>
            <a:endParaRPr lang="en-US" sz="4400" dirty="0"/>
          </a:p>
        </p:txBody>
      </p:sp>
      <p:sp>
        <p:nvSpPr>
          <p:cNvPr id="11" name="Text 6"/>
          <p:cNvSpPr/>
          <p:nvPr/>
        </p:nvSpPr>
        <p:spPr>
          <a:xfrm>
            <a:off x="457200" y="4297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6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تبدأ بالوعي والالتزام اليومي بإجراءات السلامة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5637276" y="47548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اعرف المخارج • السلالم لا المصاعد • الممرات خالية • اتصل بـ 999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2286000" y="5440680"/>
            <a:ext cx="7589520" cy="68580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 w="9525">
            <a:solidFill>
              <a:srgbClr val="0B4EA2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2286000" y="54406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i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"في المباني ذات الكثافة العالية، التزام فرد واحد قد يساعد في حماية الجميع"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7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G.4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1558</Words>
  <Application>Microsoft Office PowerPoint</Application>
  <PresentationFormat>شاشة عريضة</PresentationFormat>
  <Paragraphs>391</Paragraphs>
  <Slides>22</Slides>
  <Notes>22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22</vt:i4>
      </vt:variant>
    </vt:vector>
  </HeadingPairs>
  <TitlesOfParts>
    <vt:vector size="26" baseType="lpstr">
      <vt:lpstr>Arial</vt:lpstr>
      <vt:lpstr>Calibri</vt:lpstr>
      <vt:lpstr>Tajawal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إدارة مخاطر المنشآت والمساكن ذات الكثافة العالية</dc:title>
  <dc:subject>PptxGenJS Presentation</dc:subject>
  <dc:creator>هيئة أبوظبي للدفاع المدني</dc:creator>
  <cp:lastModifiedBy>Lenovo</cp:lastModifiedBy>
  <cp:revision>1</cp:revision>
  <dcterms:created xsi:type="dcterms:W3CDTF">2026-05-08T00:17:23Z</dcterms:created>
  <dcterms:modified xsi:type="dcterms:W3CDTF">2026-05-08T00:29:06Z</dcterms:modified>
</cp:coreProperties>
</file>