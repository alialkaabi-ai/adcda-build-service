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11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62439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4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21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.png"/><Relationship Id="rId9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28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33.png"/><Relationship Id="rId5" Type="http://schemas.openxmlformats.org/officeDocument/2006/relationships/image" Target="../media/image30.png"/><Relationship Id="rId10" Type="http://schemas.openxmlformats.org/officeDocument/2006/relationships/image" Target="../media/image32.png"/><Relationship Id="rId4" Type="http://schemas.openxmlformats.org/officeDocument/2006/relationships/image" Target="../media/image2.png"/><Relationship Id="rId9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11" Type="http://schemas.openxmlformats.org/officeDocument/2006/relationships/image" Target="../media/image37.png"/><Relationship Id="rId5" Type="http://schemas.openxmlformats.org/officeDocument/2006/relationships/image" Target="../media/image34.png"/><Relationship Id="rId10" Type="http://schemas.openxmlformats.org/officeDocument/2006/relationships/image" Target="../media/image33.png"/><Relationship Id="rId4" Type="http://schemas.openxmlformats.org/officeDocument/2006/relationships/image" Target="../media/image2.png"/><Relationship Id="rId9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38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1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11" Type="http://schemas.openxmlformats.org/officeDocument/2006/relationships/image" Target="../media/image4.png"/><Relationship Id="rId5" Type="http://schemas.openxmlformats.org/officeDocument/2006/relationships/image" Target="../media/image37.png"/><Relationship Id="rId10" Type="http://schemas.openxmlformats.org/officeDocument/2006/relationships/image" Target="../media/image36.png"/><Relationship Id="rId4" Type="http://schemas.openxmlformats.org/officeDocument/2006/relationships/image" Target="../media/image2.png"/><Relationship Id="rId9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.png"/><Relationship Id="rId7" Type="http://schemas.openxmlformats.org/officeDocument/2006/relationships/image" Target="../media/image41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12.png"/><Relationship Id="rId10" Type="http://schemas.openxmlformats.org/officeDocument/2006/relationships/image" Target="../media/image32.png"/><Relationship Id="rId4" Type="http://schemas.openxmlformats.org/officeDocument/2006/relationships/image" Target="../media/image2.png"/><Relationship Id="rId9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.png"/><Relationship Id="rId7" Type="http://schemas.openxmlformats.org/officeDocument/2006/relationships/image" Target="../media/image31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11" Type="http://schemas.openxmlformats.org/officeDocument/2006/relationships/image" Target="../media/image27.png"/><Relationship Id="rId5" Type="http://schemas.openxmlformats.org/officeDocument/2006/relationships/image" Target="../media/image11.png"/><Relationship Id="rId10" Type="http://schemas.openxmlformats.org/officeDocument/2006/relationships/image" Target="../media/image32.png"/><Relationship Id="rId4" Type="http://schemas.openxmlformats.org/officeDocument/2006/relationships/image" Target="../media/image2.png"/><Relationship Id="rId9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1.png"/><Relationship Id="rId7" Type="http://schemas.openxmlformats.org/officeDocument/2006/relationships/image" Target="../media/image42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45.png"/><Relationship Id="rId5" Type="http://schemas.openxmlformats.org/officeDocument/2006/relationships/image" Target="../media/image34.png"/><Relationship Id="rId10" Type="http://schemas.openxmlformats.org/officeDocument/2006/relationships/image" Target="../media/image44.png"/><Relationship Id="rId4" Type="http://schemas.openxmlformats.org/officeDocument/2006/relationships/image" Target="../media/image2.png"/><Relationship Id="rId9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11" Type="http://schemas.openxmlformats.org/officeDocument/2006/relationships/image" Target="../media/image45.png"/><Relationship Id="rId5" Type="http://schemas.openxmlformats.org/officeDocument/2006/relationships/image" Target="../media/image46.png"/><Relationship Id="rId10" Type="http://schemas.openxmlformats.org/officeDocument/2006/relationships/image" Target="../media/image32.png"/><Relationship Id="rId4" Type="http://schemas.openxmlformats.org/officeDocument/2006/relationships/image" Target="../media/image2.png"/><Relationship Id="rId9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1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4.png"/><Relationship Id="rId5" Type="http://schemas.openxmlformats.org/officeDocument/2006/relationships/image" Target="../media/image48.png"/><Relationship Id="rId10" Type="http://schemas.openxmlformats.org/officeDocument/2006/relationships/image" Target="../media/image24.png"/><Relationship Id="rId4" Type="http://schemas.openxmlformats.org/officeDocument/2006/relationships/image" Target="../media/image2.png"/><Relationship Id="rId9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11" Type="http://schemas.openxmlformats.org/officeDocument/2006/relationships/image" Target="../media/image4.png"/><Relationship Id="rId5" Type="http://schemas.openxmlformats.org/officeDocument/2006/relationships/image" Target="../media/image37.png"/><Relationship Id="rId10" Type="http://schemas.openxmlformats.org/officeDocument/2006/relationships/image" Target="../media/image50.png"/><Relationship Id="rId4" Type="http://schemas.openxmlformats.org/officeDocument/2006/relationships/image" Target="../media/image2.png"/><Relationship Id="rId9" Type="http://schemas.openxmlformats.org/officeDocument/2006/relationships/image" Target="../media/image4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51.png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17236" y="1325880"/>
            <a:ext cx="1554480" cy="1554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1556" y="1600200"/>
            <a:ext cx="1005840" cy="10058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6576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3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التعامل مع ضربات الشمس والإجهاد الحراري</a:t>
            </a:r>
            <a:endParaRPr lang="en-US" sz="3200" dirty="0"/>
          </a:p>
        </p:txBody>
      </p:sp>
      <p:sp>
        <p:nvSpPr>
          <p:cNvPr id="11" name="Text 6"/>
          <p:cNvSpPr/>
          <p:nvPr/>
        </p:nvSpPr>
        <p:spPr>
          <a:xfrm>
            <a:off x="457200" y="45262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8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وعي مبكر، تبريد آمن، واستجابة فورية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5637276" y="49834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731520" y="5257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300" i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"حالات مرتبطة بارتفاع الحرارة، تحتاج إلى تبريد آمن وطلب المساعدة فورًا عند علامات الخطورة"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5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E.14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نهتم بالإجهاد الحراري وضربات الشمس؟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في الأجواء الحارة قد يفقد الجسم قدرته على التبريد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9377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509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9576" y="3200400"/>
            <a:ext cx="457200" cy="4572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452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8521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تعرّف مبكر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8521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على الإجهاد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236829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282549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4096" y="3200400"/>
            <a:ext cx="457200" cy="45720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261975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245973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منع التطور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245973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إلى ضربة شمس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24281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470001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8616" y="3200400"/>
            <a:ext cx="457200" cy="45720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449427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433425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الفئات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433425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الأكثر عرضة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611733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657453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03136" y="3200400"/>
            <a:ext cx="457200" cy="45720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636879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620877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استجابة سريعة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620877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عند الخطورة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799185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844905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77656" y="3200400"/>
            <a:ext cx="457200" cy="457200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824331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808329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أمان</a:t>
            </a:r>
            <a:endParaRPr lang="en-US" sz="1400" dirty="0"/>
          </a:p>
        </p:txBody>
      </p:sp>
      <p:sp>
        <p:nvSpPr>
          <p:cNvPr id="39" name="Text 30"/>
          <p:cNvSpPr/>
          <p:nvPr/>
        </p:nvSpPr>
        <p:spPr>
          <a:xfrm>
            <a:off x="808329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في الفعاليات</a:t>
            </a:r>
            <a:endParaRPr 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986637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103235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52176" y="3200400"/>
            <a:ext cx="457200" cy="457200"/>
          </a:xfrm>
          <a:prstGeom prst="rect">
            <a:avLst/>
          </a:prstGeom>
        </p:spPr>
      </p:pic>
      <p:sp>
        <p:nvSpPr>
          <p:cNvPr id="43" name="Shape 33"/>
          <p:cNvSpPr/>
          <p:nvPr/>
        </p:nvSpPr>
        <p:spPr>
          <a:xfrm>
            <a:off x="101178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44" name="Text 34"/>
          <p:cNvSpPr/>
          <p:nvPr/>
        </p:nvSpPr>
        <p:spPr>
          <a:xfrm>
            <a:off x="995781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ثقافة الوقاية</a:t>
            </a:r>
            <a:endParaRPr lang="en-US" sz="1400" dirty="0"/>
          </a:p>
        </p:txBody>
      </p:sp>
      <p:sp>
        <p:nvSpPr>
          <p:cNvPr id="45" name="Text 35"/>
          <p:cNvSpPr/>
          <p:nvPr/>
        </p:nvSpPr>
        <p:spPr>
          <a:xfrm>
            <a:off x="995781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في المجتمع</a:t>
            </a:r>
            <a:endParaRPr lang="en-US" sz="1100" dirty="0"/>
          </a:p>
        </p:txBody>
      </p:sp>
      <p:sp>
        <p:nvSpPr>
          <p:cNvPr id="46" name="Shape 3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7" name="Text 3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ضربة الشمس حالة طارئة — اتصل فورًا بـ 999 عند الاشتباه بها</a:t>
            </a:r>
            <a:endParaRPr lang="ar-AE" sz="1200" dirty="0"/>
          </a:p>
        </p:txBody>
      </p:sp>
      <p:sp>
        <p:nvSpPr>
          <p:cNvPr id="48" name="Shape 3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9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50" name="Shape 3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52" name="Shape 4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4" name="Shape 4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6" name="Shape 4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7" name="Text 4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E.14</a:t>
            </a:r>
            <a:endParaRPr lang="en-US" sz="1000" dirty="0"/>
          </a:p>
        </p:txBody>
      </p:sp>
      <p:sp>
        <p:nvSpPr>
          <p:cNvPr id="58" name="Shape 4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9" name="Text 4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 هو الإجهاد الحراري؟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تأثر الجسم بالحرارة وفقدان السوائل والأملاح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تعرق شديد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ضعف أو إرهاق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دوخة أو صداع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غثيان أو رغبة قيء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74523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92811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0996" y="475488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75107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تقلصات عضلية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344271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362559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08476" y="475488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444855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عطش شديد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614019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632307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05956" y="475488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714603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جلد رطب أو بارد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883767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9" name="Shape 28"/>
          <p:cNvSpPr/>
          <p:nvPr/>
        </p:nvSpPr>
        <p:spPr>
          <a:xfrm>
            <a:off x="902055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03436" y="4754880"/>
            <a:ext cx="320040" cy="320040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984351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تسارع النبض والتنفس</a:t>
            </a:r>
            <a:endParaRPr lang="en-US" sz="1300" dirty="0"/>
          </a:p>
        </p:txBody>
      </p:sp>
      <p:sp>
        <p:nvSpPr>
          <p:cNvPr id="42" name="Shape 30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الإجهاد الحراري قد يتحول إلى حالة أخطر إذا لم يتم التبريد ومراقبة الحالة</a:t>
            </a:r>
            <a:endParaRPr lang="ar-AE" sz="1200" dirty="0"/>
          </a:p>
        </p:txBody>
      </p:sp>
      <p:sp>
        <p:nvSpPr>
          <p:cNvPr id="44" name="Shape 32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10" descr="/home/claude/assets/social_icons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33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4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35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6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37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8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39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0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E.14</a:t>
            </a:r>
            <a:endParaRPr lang="en-US" sz="1000" dirty="0"/>
          </a:p>
        </p:txBody>
      </p:sp>
      <p:sp>
        <p:nvSpPr>
          <p:cNvPr id="54" name="Shape 41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2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 هي ضربة الشمس؟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حالة أكثر خطورة — فشل الجسم في التحكم بحرارته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371600" y="2926080"/>
            <a:ext cx="2286000" cy="2286000"/>
          </a:xfrm>
          <a:prstGeom prst="ellipse">
            <a:avLst/>
          </a:prstGeom>
          <a:solidFill>
            <a:srgbClr val="FEF2F2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3383280"/>
            <a:ext cx="1371600" cy="13716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154680" y="4617720"/>
            <a:ext cx="594360" cy="594360"/>
          </a:xfrm>
          <a:prstGeom prst="ellipse">
            <a:avLst/>
          </a:prstGeom>
          <a:solidFill>
            <a:srgbClr val="DC2626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1840" y="4754880"/>
            <a:ext cx="320040" cy="32004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846320" y="2697480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11320272" y="272491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6" name="Text 10"/>
          <p:cNvSpPr/>
          <p:nvPr/>
        </p:nvSpPr>
        <p:spPr>
          <a:xfrm>
            <a:off x="11320272" y="27249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4983480" y="2697480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ارتفاع شديد في الحرارة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4846320" y="3090672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11320272" y="3118104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0" name="Text 14"/>
          <p:cNvSpPr/>
          <p:nvPr/>
        </p:nvSpPr>
        <p:spPr>
          <a:xfrm>
            <a:off x="11320272" y="3118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983480" y="3090672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ارتباك أو تصرف غير طبيعي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846320" y="3483864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11320272" y="351129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4" name="Text 18"/>
          <p:cNvSpPr/>
          <p:nvPr/>
        </p:nvSpPr>
        <p:spPr>
          <a:xfrm>
            <a:off x="11320272" y="3511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983480" y="3483864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فقدان وعي أو ضعف استجابة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846320" y="3877056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11320272" y="390448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8" name="Text 22"/>
          <p:cNvSpPr/>
          <p:nvPr/>
        </p:nvSpPr>
        <p:spPr>
          <a:xfrm>
            <a:off x="11320272" y="3904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983480" y="3877056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تشنجات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4846320" y="4270248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11320272" y="429768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2" name="Text 26"/>
          <p:cNvSpPr/>
          <p:nvPr/>
        </p:nvSpPr>
        <p:spPr>
          <a:xfrm>
            <a:off x="11320272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4983480" y="4270248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صداع شديد ودوخة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4846320" y="4663440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11320272" y="469087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6" name="Text 30"/>
          <p:cNvSpPr/>
          <p:nvPr/>
        </p:nvSpPr>
        <p:spPr>
          <a:xfrm>
            <a:off x="11320272" y="4690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4983480" y="4663440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جلد ساخن جدًا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4846320" y="5056632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11320272" y="5084064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0" name="Text 34"/>
          <p:cNvSpPr/>
          <p:nvPr/>
        </p:nvSpPr>
        <p:spPr>
          <a:xfrm>
            <a:off x="11320272" y="5084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41" name="Text 35"/>
          <p:cNvSpPr/>
          <p:nvPr/>
        </p:nvSpPr>
        <p:spPr>
          <a:xfrm>
            <a:off x="4983480" y="5056632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تدهور سريع في الحالة</a:t>
            </a:r>
            <a:endParaRPr lang="en-US" sz="1200" dirty="0"/>
          </a:p>
        </p:txBody>
      </p:sp>
      <p:sp>
        <p:nvSpPr>
          <p:cNvPr id="42" name="Shape 3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إجراء عاجل: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فورًا بـ 999، وابدأ بتبريد المصاب إذا كان آمنًا</a:t>
            </a:r>
            <a:endParaRPr lang="ar-AE" sz="1200" dirty="0"/>
          </a:p>
        </p:txBody>
      </p:sp>
      <p:sp>
        <p:nvSpPr>
          <p:cNvPr id="44" name="Shape 3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4" descr="/home/claude/assets/social_icon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3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4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4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4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E.14</a:t>
            </a:r>
            <a:endParaRPr lang="en-US" sz="1000" dirty="0"/>
          </a:p>
        </p:txBody>
      </p:sp>
      <p:sp>
        <p:nvSpPr>
          <p:cNvPr id="54" name="Shape 4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الفرق بين الإجهاد الحراري وضربة الشمس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معرفة الفرق تساعد على تقدير الخطورة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153912" y="2606040"/>
            <a:ext cx="5577840" cy="50292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إجهاد حراري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8554212" y="3246120"/>
            <a:ext cx="777240" cy="777240"/>
          </a:xfrm>
          <a:prstGeom prst="ellipse">
            <a:avLst/>
          </a:prstGeom>
          <a:solidFill>
            <a:srgbClr val="D1FAE5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14232" y="3401568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428232" y="416052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تعب ودوخة •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6428232" y="449884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تعرق شديد •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6428232" y="4837176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تحسن تدريجي بالراحة •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57200" y="2606040"/>
            <a:ext cx="557784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57200" y="2606040"/>
            <a:ext cx="5577840" cy="5029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20" name="Text 15"/>
          <p:cNvSpPr/>
          <p:nvPr/>
        </p:nvSpPr>
        <p:spPr>
          <a:xfrm>
            <a:off x="640080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ضربة شمس</a:t>
            </a:r>
            <a:endParaRPr lang="en-US" sz="1800" dirty="0"/>
          </a:p>
        </p:txBody>
      </p:sp>
      <p:sp>
        <p:nvSpPr>
          <p:cNvPr id="21" name="Shape 16"/>
          <p:cNvSpPr/>
          <p:nvPr/>
        </p:nvSpPr>
        <p:spPr>
          <a:xfrm>
            <a:off x="2857500" y="3246120"/>
            <a:ext cx="777240" cy="777240"/>
          </a:xfrm>
          <a:prstGeom prst="ellipse">
            <a:avLst/>
          </a:prstGeom>
          <a:solidFill>
            <a:srgbClr val="FEE2E2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17520" y="3401568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31520" y="416052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ارتباك أو فقدان وعي •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731520" y="449884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تشنجات •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731520" y="4837176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تدهور سريع — اتصل بـ 999 •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توعوية: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إذا تغير وعي المصاب أو ظهرت تشنجات أو فقدان وعي، اتصل فورًا بـ 999</a:t>
            </a:r>
            <a:endParaRPr lang="ar-AE" sz="1200" dirty="0"/>
          </a:p>
        </p:txBody>
      </p:sp>
      <p:sp>
        <p:nvSpPr>
          <p:cNvPr id="28" name="Shape 22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29" name="Image 4" descr="/home/claude/assets/social_icon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36" name="Shape 29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E.14</a:t>
            </a:r>
            <a:endParaRPr lang="en-US" sz="1000" dirty="0"/>
          </a:p>
        </p:txBody>
      </p:sp>
      <p:sp>
        <p:nvSpPr>
          <p:cNvPr id="38" name="Shape 31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الفئات الأكثر عرضة للمخاطر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تحتاج إلى عناية إضافية في الأجواء الحارة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الأطفال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كبار السن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أصحاب الأمراض المزمنة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العمال في الخارج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74523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92811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0996" y="475488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75107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الرياضيون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344271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362559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08476" y="475488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444855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الحجاج والمعتمرون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614019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632307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05956" y="475488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714603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غير شاربي السوائل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883767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9" name="Shape 28"/>
          <p:cNvSpPr/>
          <p:nvPr/>
        </p:nvSpPr>
        <p:spPr>
          <a:xfrm>
            <a:off x="902055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03436" y="4754880"/>
            <a:ext cx="320040" cy="320040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984351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أماكن سيئة التهوية</a:t>
            </a:r>
            <a:endParaRPr lang="en-US" sz="1300" dirty="0"/>
          </a:p>
        </p:txBody>
      </p:sp>
      <p:sp>
        <p:nvSpPr>
          <p:cNvPr id="42" name="Shape 30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الوقاية تبدأ بتقليل التعرض للحرارة ومراقبة العلامات المبكرة</a:t>
            </a:r>
            <a:endParaRPr lang="ar-AE" sz="1200" dirty="0"/>
          </a:p>
        </p:txBody>
      </p:sp>
      <p:sp>
        <p:nvSpPr>
          <p:cNvPr id="44" name="Shape 32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10" descr="/home/claude/assets/social_icons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33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4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35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6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37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8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39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0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E.14</a:t>
            </a:r>
            <a:endParaRPr lang="en-US" sz="1000" dirty="0"/>
          </a:p>
        </p:txBody>
      </p:sp>
      <p:sp>
        <p:nvSpPr>
          <p:cNvPr id="54" name="Shape 41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2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أسباب وعوامل تزيد الخطر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تجنّبها يقلل الحالات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تعرض مباشر للشمس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جهد بدني في الحر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قلة شرب السوائل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ملابس ثقيلة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74523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928116" y="45720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0996" y="475488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75107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ازدحام وسوء تهوية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344271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3625596" y="45720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08476" y="475488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444855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عدم أخذ راحة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614019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6323076" y="45720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05956" y="475488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714603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تجاهل الإرهاق المبكر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883767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9" name="Shape 28"/>
          <p:cNvSpPr/>
          <p:nvPr/>
        </p:nvSpPr>
        <p:spPr>
          <a:xfrm>
            <a:off x="9020556" y="45720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03436" y="4754880"/>
            <a:ext cx="320040" cy="320040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984351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حالات صحية وأدوية</a:t>
            </a:r>
            <a:endParaRPr lang="en-US" sz="1300" dirty="0"/>
          </a:p>
        </p:txBody>
      </p:sp>
      <p:sp>
        <p:nvSpPr>
          <p:cNvPr id="42" name="Shape 30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تراكم التعب والحرارة قد يجعل الحالة تظهر فجأة — لا تتجاهل العلامات المبكرة</a:t>
            </a:r>
            <a:endParaRPr lang="ar-AE" sz="1200" dirty="0"/>
          </a:p>
        </p:txBody>
      </p:sp>
      <p:sp>
        <p:nvSpPr>
          <p:cNvPr id="44" name="Shape 32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10" descr="/home/claude/assets/social_icons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33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4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35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6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37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8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39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0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E.14</a:t>
            </a:r>
            <a:endParaRPr lang="en-US" sz="1000" dirty="0"/>
          </a:p>
        </p:txBody>
      </p:sp>
      <p:sp>
        <p:nvSpPr>
          <p:cNvPr id="54" name="Shape 41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2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الأولي عند ظهور أعراض الحرارة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تدخل مبكر يمنع التطور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أوقف النشاط فورًا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انقله لمكان بارد أو مظلل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ساعده على الجلوس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خفف الملابس الثقيلة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قدّم الماء إن كان واعيًا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كمادات باردة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راقب الحالة ولا تتركه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التدخل المبكر قد يمنع تطور الإجهاد الحراري إلى حالة أكثر خطورة</a:t>
            </a:r>
            <a:endParaRPr lang="ar-AE" sz="1200" dirty="0"/>
          </a:p>
        </p:txBody>
      </p:sp>
      <p:sp>
        <p:nvSpPr>
          <p:cNvPr id="40" name="Shape 3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E.14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التعامل مع الإجهاد الحراري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رعاية أولية آمنة مع المراقبة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انقله لمكان مظلل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ساعده على الراحة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ماء ببطء إن قدر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كمادات باردة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خفف الملابس الزائدة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راقب التحسن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عند عدم التحسن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تعطِ المصاب مشروبات إذا كان غير واعٍ أو غير قادر على البلع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E.14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التعامل مع ضربة الشمس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حالة طارئة — تبريد سريع وطلب مساعدة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371600" y="2926080"/>
            <a:ext cx="2286000" cy="2286000"/>
          </a:xfrm>
          <a:prstGeom prst="ellipse">
            <a:avLst/>
          </a:prstGeom>
          <a:solidFill>
            <a:srgbClr val="FEF2F2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3383280"/>
            <a:ext cx="1371600" cy="13716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154680" y="4617720"/>
            <a:ext cx="594360" cy="594360"/>
          </a:xfrm>
          <a:prstGeom prst="ellipse">
            <a:avLst/>
          </a:prstGeom>
          <a:solidFill>
            <a:srgbClr val="DC2626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1840" y="4754880"/>
            <a:ext cx="320040" cy="32004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846320" y="2697480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11320272" y="272491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6" name="Text 10"/>
          <p:cNvSpPr/>
          <p:nvPr/>
        </p:nvSpPr>
        <p:spPr>
          <a:xfrm>
            <a:off x="11320272" y="27249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4983480" y="2697480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فورًا بـ 999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4846320" y="3090672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11320272" y="3118104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0" name="Text 14"/>
          <p:cNvSpPr/>
          <p:nvPr/>
        </p:nvSpPr>
        <p:spPr>
          <a:xfrm>
            <a:off x="11320272" y="3118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983480" y="3090672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انقله لمكان بارد آمن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846320" y="3483864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11320272" y="351129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4" name="Text 18"/>
          <p:cNvSpPr/>
          <p:nvPr/>
        </p:nvSpPr>
        <p:spPr>
          <a:xfrm>
            <a:off x="11320272" y="3511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983480" y="3483864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ابدأ التبريد بسرعة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846320" y="3877056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11320272" y="390448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8" name="Text 22"/>
          <p:cNvSpPr/>
          <p:nvPr/>
        </p:nvSpPr>
        <p:spPr>
          <a:xfrm>
            <a:off x="11320272" y="3904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983480" y="3877056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ماء بارد أو كمادات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4846320" y="4270248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11320272" y="429768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2" name="Text 26"/>
          <p:cNvSpPr/>
          <p:nvPr/>
        </p:nvSpPr>
        <p:spPr>
          <a:xfrm>
            <a:off x="11320272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4983480" y="4270248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المتجمهرين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4846320" y="4663440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11320272" y="469087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6" name="Text 30"/>
          <p:cNvSpPr/>
          <p:nvPr/>
        </p:nvSpPr>
        <p:spPr>
          <a:xfrm>
            <a:off x="11320272" y="4690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4983480" y="4663440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راقب التنفس والاستجابة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4846320" y="5056632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11320272" y="5084064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0" name="Text 34"/>
          <p:cNvSpPr/>
          <p:nvPr/>
        </p:nvSpPr>
        <p:spPr>
          <a:xfrm>
            <a:off x="11320272" y="5084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41" name="Text 35"/>
          <p:cNvSpPr/>
          <p:nvPr/>
        </p:nvSpPr>
        <p:spPr>
          <a:xfrm>
            <a:off x="4983480" y="5056632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تتركه حتى المختصين</a:t>
            </a:r>
            <a:endParaRPr lang="en-US" sz="1200" dirty="0"/>
          </a:p>
        </p:txBody>
      </p:sp>
      <p:sp>
        <p:nvSpPr>
          <p:cNvPr id="42" name="Shape 3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في ضربة الشمس — التبريد السريع وطلب المساعدة هما الأساس</a:t>
            </a:r>
            <a:endParaRPr lang="ar-AE" sz="1200" dirty="0"/>
          </a:p>
        </p:txBody>
      </p:sp>
      <p:sp>
        <p:nvSpPr>
          <p:cNvPr id="44" name="Shape 3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4" descr="/home/claude/assets/social_icon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3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4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4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4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E.14</a:t>
            </a:r>
            <a:endParaRPr lang="en-US" sz="1000" dirty="0"/>
          </a:p>
        </p:txBody>
      </p:sp>
      <p:sp>
        <p:nvSpPr>
          <p:cNvPr id="54" name="Shape 4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تفعل إذا فقد المصاب الوعي؟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علامة خطيرة تحتاج تصرفًا فوريًا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371600" y="2926080"/>
            <a:ext cx="2286000" cy="2286000"/>
          </a:xfrm>
          <a:prstGeom prst="ellipse">
            <a:avLst/>
          </a:prstGeom>
          <a:solidFill>
            <a:srgbClr val="FEF2F2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3383280"/>
            <a:ext cx="1371600" cy="13716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154680" y="4617720"/>
            <a:ext cx="594360" cy="594360"/>
          </a:xfrm>
          <a:prstGeom prst="ellipse">
            <a:avLst/>
          </a:prstGeom>
          <a:solidFill>
            <a:srgbClr val="DC2626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1840" y="4754880"/>
            <a:ext cx="320040" cy="32004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846320" y="2697480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11320272" y="272491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6" name="Text 10"/>
          <p:cNvSpPr/>
          <p:nvPr/>
        </p:nvSpPr>
        <p:spPr>
          <a:xfrm>
            <a:off x="11320272" y="27249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4983480" y="2697480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تأكد من سلامة المكان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4846320" y="3090672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11320272" y="3118104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0" name="Text 14"/>
          <p:cNvSpPr/>
          <p:nvPr/>
        </p:nvSpPr>
        <p:spPr>
          <a:xfrm>
            <a:off x="11320272" y="3118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983480" y="3090672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فورًا بـ 999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846320" y="3483864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11320272" y="351129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4" name="Text 18"/>
          <p:cNvSpPr/>
          <p:nvPr/>
        </p:nvSpPr>
        <p:spPr>
          <a:xfrm>
            <a:off x="11320272" y="3511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983480" y="3483864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تحقق من التنفس الطبيعي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846320" y="3877056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11320272" y="390448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8" name="Text 22"/>
          <p:cNvSpPr/>
          <p:nvPr/>
        </p:nvSpPr>
        <p:spPr>
          <a:xfrm>
            <a:off x="11320272" y="3904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983480" y="3877056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طعام أو شراب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4846320" y="4270248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11320272" y="429768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2" name="Text 26"/>
          <p:cNvSpPr/>
          <p:nvPr/>
        </p:nvSpPr>
        <p:spPr>
          <a:xfrm>
            <a:off x="11320272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4983480" y="4270248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استمر في التبريد الآمن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4846320" y="4663440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11320272" y="469087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6" name="Text 30"/>
          <p:cNvSpPr/>
          <p:nvPr/>
        </p:nvSpPr>
        <p:spPr>
          <a:xfrm>
            <a:off x="11320272" y="4690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4983480" y="4663440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تعليمات الموظف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4846320" y="5056632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11320272" y="5084064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0" name="Text 34"/>
          <p:cNvSpPr/>
          <p:nvPr/>
        </p:nvSpPr>
        <p:spPr>
          <a:xfrm>
            <a:off x="11320272" y="5084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41" name="Text 35"/>
          <p:cNvSpPr/>
          <p:nvPr/>
        </p:nvSpPr>
        <p:spPr>
          <a:xfrm>
            <a:off x="4983480" y="5056632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توجيهات CPR إن لزم</a:t>
            </a:r>
            <a:endParaRPr lang="en-US" sz="1200" dirty="0"/>
          </a:p>
        </p:txBody>
      </p:sp>
      <p:sp>
        <p:nvSpPr>
          <p:cNvPr id="42" name="Shape 3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توقف التبريد إلا بتوجيه المختصين أو إذا أصبح المكان غير آمن</a:t>
            </a:r>
            <a:endParaRPr lang="ar-AE" sz="1200" dirty="0"/>
          </a:p>
        </p:txBody>
      </p:sp>
      <p:sp>
        <p:nvSpPr>
          <p:cNvPr id="44" name="Shape 3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4" descr="/home/claude/assets/social_icon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3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4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4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4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E.14</a:t>
            </a:r>
            <a:endParaRPr lang="en-US" sz="1000" dirty="0"/>
          </a:p>
        </p:txBody>
      </p:sp>
      <p:sp>
        <p:nvSpPr>
          <p:cNvPr id="54" name="Shape 4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التشنجات أو الارتباك بسبب الحرارة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علامات خطورة في الأجواء الحارة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فورًا بـ 999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الأجسام الخطرة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تضع شيئًا في الفم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تقيّد حركته بقوة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انقله لمكان أبرد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ابدأ التبريد الآمن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تغير الوعي أو التشنجات مع الحرارة يستدعي طلب المساعدة فورًا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E.14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لا تفعل عند الإجهاد وضربة الشمس؟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تصرفات قد تؤخر المساعدة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تتركه وحده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ماء لغير الواعي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تؤخر الاتصال بـ 999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عودة فورية للنشاط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تبقه في مكان حار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تتجاهل الصداع الشديد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تعامل ضربة الشمس كإرهاق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توعوية: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الخطأ الأكبر هو الانتظار عند علامات الخطورة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E.14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الوقاية أثناء الأجواء الحارة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أفضل طريقة لتقليل الحالات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شرب الماء بانتظام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تجنب ذروة الشمس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ملابس خفيفة مناسبة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غطاء للرأس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راحة في مكان مكيف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تقليل الجهد البدني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مراقبة الفئات المعرضة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تنتظر الشعور بالعطش الشديد حتى تشرب الماء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E.14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في الفعاليات والمناطق العامة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استعداد إضافي في الحر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مناطق ظل أو تبريد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مياه شرب كافية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لوحات توعوية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نقاط إسعاف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مراقبة الفئات المعرضة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تنظيم الحشود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إبلاغ مبكر عن الأعراض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الزحام والحرارة يزيدان الضغط على الجسم — التنظيم والتهوية مهمان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E.14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للعمال والأنشطة الخارجية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احتياطات خاصة في الأماكن المفتوحة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تنظيم العمل بالحرارة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فترات راحة منتظمة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شرب الماء على فترات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ملابس وقاية مناسبة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مراقبة الزملاء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إيقاف العمل عند الخطورة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الإبلاغ الفوري عن الدوخة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العمل يمكن تعويضه، أما صحة الإنسان فهي الأولوية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E.14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الأطفال وكبار السن في الحرارة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يتأثرون بسرعة أكبر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تتركهم في مركبة متوقفة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ماء وراحة بانتظام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تجنب الخروج وقت الذروة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متابعة أي تغير بالسلوك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أماكن مكيفة أو مظللة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انتباه للأدوية والحالات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 مهم: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ترك شخص داخل مركبة متوقفة في الحر قد يؤدي لخطر شديد خلال وقت قصير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E.14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متى نتصل برقم الطوارئ 999؟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تأخر طلب المساعدة عند الخطورة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فقدان الوعي أو ضعف الاستجابة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ارتباك أو تصرف غير طبيعي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تشنجات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صعوبة في التنفس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تدهور سريع في الحالة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عدم تحسن بعد التبريد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صداع شديد ودوخة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5605272" y="441655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0" name="Text 36"/>
          <p:cNvSpPr/>
          <p:nvPr/>
        </p:nvSpPr>
        <p:spPr>
          <a:xfrm>
            <a:off x="5605272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8</a:t>
            </a:r>
            <a:endParaRPr lang="en-US" sz="1100" dirty="0"/>
          </a:p>
        </p:txBody>
      </p:sp>
      <p:sp>
        <p:nvSpPr>
          <p:cNvPr id="41" name="Text 37"/>
          <p:cNvSpPr/>
          <p:nvPr/>
        </p:nvSpPr>
        <p:spPr>
          <a:xfrm>
            <a:off x="594360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حالة لطفل أو كبير سن</a:t>
            </a:r>
            <a:endParaRPr lang="en-US" sz="1300" dirty="0"/>
          </a:p>
        </p:txBody>
      </p:sp>
      <p:sp>
        <p:nvSpPr>
          <p:cNvPr id="42" name="Shape 38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عند الشك في ضربة الشمس، اتصل بالطوارئ وابدأ التبريد فورًا</a:t>
            </a:r>
            <a:endParaRPr lang="ar-AE" sz="1200" dirty="0"/>
          </a:p>
        </p:txBody>
      </p:sp>
      <p:sp>
        <p:nvSpPr>
          <p:cNvPr id="44" name="Shape 4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4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4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E.14</a:t>
            </a:r>
            <a:endParaRPr lang="en-US" sz="1000" dirty="0"/>
          </a:p>
        </p:txBody>
      </p:sp>
      <p:sp>
        <p:nvSpPr>
          <p:cNvPr id="54" name="Shape 4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دور الموجودين في المكان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تنظيم سريع لتبريد المصاب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شخص يتصل بـ 999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شخص ينقله للظل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شخص يحضر كمادات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شخص يبعد المتجمهرين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شخص يراقب التنفس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شخص يفتح طريق الإسعاف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توعوية: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التعاون المنظم يقلل الارتباك ويساعد على التبريد بسرعة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E.14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ولا تفعل عند الإجهاد الحراري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ممارسات صحيحة وأخرى يجب تجنّبها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153912" y="2606040"/>
            <a:ext cx="5577840" cy="50292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 ✓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11320272" y="3291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1320272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336792" y="3246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أوقف النشاط فور الأعراض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11320272" y="3749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1320272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336792" y="3703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انقله لمكان بارد أو مظلل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11320272" y="42062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1320272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336792" y="41605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ابدأ التبريد الآمن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11320272" y="46634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1320272" y="4663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6336792" y="46177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ماء فقط للواعي القادر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11320272" y="51206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1320272" y="5120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6336792" y="50749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راقب التنفس والاستجابة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11320272" y="5577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11320272" y="5577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6336792" y="5532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عند الخطورة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11320272" y="6035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11320272" y="6035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6336792" y="5989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ابقَ معه حتى التحسن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457200" y="2606040"/>
            <a:ext cx="5577840" cy="5029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36" name="Text 32"/>
          <p:cNvSpPr/>
          <p:nvPr/>
        </p:nvSpPr>
        <p:spPr>
          <a:xfrm>
            <a:off x="640080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تفعل  ✕</a:t>
            </a:r>
            <a:endParaRPr lang="en-US" sz="1800" dirty="0"/>
          </a:p>
        </p:txBody>
      </p:sp>
      <p:sp>
        <p:nvSpPr>
          <p:cNvPr id="37" name="Shape 33"/>
          <p:cNvSpPr/>
          <p:nvPr/>
        </p:nvSpPr>
        <p:spPr>
          <a:xfrm>
            <a:off x="5623560" y="3291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5623560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40080" y="3246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تتركه وحده</a:t>
            </a:r>
            <a:endParaRPr lang="en-US" sz="1300" dirty="0"/>
          </a:p>
        </p:txBody>
      </p:sp>
      <p:sp>
        <p:nvSpPr>
          <p:cNvPr id="40" name="Shape 36"/>
          <p:cNvSpPr/>
          <p:nvPr/>
        </p:nvSpPr>
        <p:spPr>
          <a:xfrm>
            <a:off x="5623560" y="3749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5623560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640080" y="3703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طعام أو شراب لغير الواعي</a:t>
            </a:r>
            <a:endParaRPr lang="en-US" sz="1300" dirty="0"/>
          </a:p>
        </p:txBody>
      </p:sp>
      <p:sp>
        <p:nvSpPr>
          <p:cNvPr id="43" name="Shape 39"/>
          <p:cNvSpPr/>
          <p:nvPr/>
        </p:nvSpPr>
        <p:spPr>
          <a:xfrm>
            <a:off x="5623560" y="42062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5623560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45" name="Text 41"/>
          <p:cNvSpPr/>
          <p:nvPr/>
        </p:nvSpPr>
        <p:spPr>
          <a:xfrm>
            <a:off x="640080" y="41605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تؤخر طلب المساعدة</a:t>
            </a:r>
            <a:endParaRPr lang="en-US" sz="1300" dirty="0"/>
          </a:p>
        </p:txBody>
      </p:sp>
      <p:sp>
        <p:nvSpPr>
          <p:cNvPr id="46" name="Shape 42"/>
          <p:cNvSpPr/>
          <p:nvPr/>
        </p:nvSpPr>
        <p:spPr>
          <a:xfrm>
            <a:off x="5623560" y="46634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623560" y="4663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48" name="Text 44"/>
          <p:cNvSpPr/>
          <p:nvPr/>
        </p:nvSpPr>
        <p:spPr>
          <a:xfrm>
            <a:off x="640080" y="46177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عودة سريعة للنشاط</a:t>
            </a:r>
            <a:endParaRPr lang="en-US" sz="1300" dirty="0"/>
          </a:p>
        </p:txBody>
      </p:sp>
      <p:sp>
        <p:nvSpPr>
          <p:cNvPr id="49" name="Shape 45"/>
          <p:cNvSpPr/>
          <p:nvPr/>
        </p:nvSpPr>
        <p:spPr>
          <a:xfrm>
            <a:off x="5623560" y="51206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5623560" y="5120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51" name="Text 47"/>
          <p:cNvSpPr/>
          <p:nvPr/>
        </p:nvSpPr>
        <p:spPr>
          <a:xfrm>
            <a:off x="640080" y="50749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تتجاهل الصداع الشديد</a:t>
            </a:r>
            <a:endParaRPr lang="en-US" sz="1300" dirty="0"/>
          </a:p>
        </p:txBody>
      </p:sp>
      <p:sp>
        <p:nvSpPr>
          <p:cNvPr id="52" name="Shape 48"/>
          <p:cNvSpPr/>
          <p:nvPr/>
        </p:nvSpPr>
        <p:spPr>
          <a:xfrm>
            <a:off x="5623560" y="5577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5623560" y="5577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54" name="Text 50"/>
          <p:cNvSpPr/>
          <p:nvPr/>
        </p:nvSpPr>
        <p:spPr>
          <a:xfrm>
            <a:off x="640080" y="5532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تبقه في مكان حار</a:t>
            </a:r>
            <a:endParaRPr lang="en-US" sz="1300" dirty="0"/>
          </a:p>
        </p:txBody>
      </p:sp>
      <p:sp>
        <p:nvSpPr>
          <p:cNvPr id="55" name="Shape 51"/>
          <p:cNvSpPr/>
          <p:nvPr/>
        </p:nvSpPr>
        <p:spPr>
          <a:xfrm>
            <a:off x="5623560" y="6035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5623560" y="6035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57" name="Text 53"/>
          <p:cNvSpPr/>
          <p:nvPr/>
        </p:nvSpPr>
        <p:spPr>
          <a:xfrm>
            <a:off x="640080" y="5989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تصور الحالة</a:t>
            </a:r>
            <a:endParaRPr lang="en-US" sz="1300" dirty="0"/>
          </a:p>
        </p:txBody>
      </p:sp>
      <p:sp>
        <p:nvSpPr>
          <p:cNvPr id="58" name="Shape 54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59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60" name="Shape 55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1" name="Text 56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62" name="Shape 57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64" name="Shape 59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5" name="Text 60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66" name="Shape 61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7" name="Text 62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E.14</a:t>
            </a:r>
            <a:endParaRPr lang="en-US" sz="1000" dirty="0"/>
          </a:p>
        </p:txBody>
      </p:sp>
      <p:sp>
        <p:nvSpPr>
          <p:cNvPr id="68" name="Shape 63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9" name="Text 64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سيناريوهات تفاعلية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تطبيق عملي لما تعلمته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336792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1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525512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شخص في فعالية خارجية شعر بدوخة وتعرق وضعف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336792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73952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أوقف النشاط، انقله للظل، أعطه ماء إن كان واعيًا، وراقب الحالة</a:t>
            </a:r>
            <a:endParaRPr lang="ar-AE" sz="1200" dirty="0"/>
          </a:p>
        </p:txBody>
      </p:sp>
      <p:sp>
        <p:nvSpPr>
          <p:cNvPr id="16" name="Shape 12"/>
          <p:cNvSpPr/>
          <p:nvPr/>
        </p:nvSpPr>
        <p:spPr>
          <a:xfrm>
            <a:off x="457200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8" name="Text 14"/>
          <p:cNvSpPr/>
          <p:nvPr/>
        </p:nvSpPr>
        <p:spPr>
          <a:xfrm>
            <a:off x="640080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2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828800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عامل أصبح مرتبكًا ولا يجيب بوضوح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40080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77240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فورًا بـ 999، انقله لمكان أبرد، ابدأ التبريد، وراقب التنفس</a:t>
            </a:r>
            <a:endParaRPr lang="ar-AE" sz="1200" dirty="0"/>
          </a:p>
        </p:txBody>
      </p:sp>
      <p:sp>
        <p:nvSpPr>
          <p:cNvPr id="22" name="Shape 18"/>
          <p:cNvSpPr/>
          <p:nvPr/>
        </p:nvSpPr>
        <p:spPr>
          <a:xfrm>
            <a:off x="6153912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336792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6336792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3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7525512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طفل في مكان حار ظهر عليه نعاس غير معتاد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6336792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473952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انقله لمكان بارد، برّده، لا تتركه، واتصل بـ 999 عند الخطورة</a:t>
            </a:r>
            <a:endParaRPr lang="ar-AE" sz="1200" dirty="0"/>
          </a:p>
        </p:txBody>
      </p:sp>
      <p:sp>
        <p:nvSpPr>
          <p:cNvPr id="28" name="Shape 24"/>
          <p:cNvSpPr/>
          <p:nvPr/>
        </p:nvSpPr>
        <p:spPr>
          <a:xfrm>
            <a:off x="457200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40080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30" name="Text 26"/>
          <p:cNvSpPr/>
          <p:nvPr/>
        </p:nvSpPr>
        <p:spPr>
          <a:xfrm>
            <a:off x="640080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4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1828800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شخص تحسن ويريد العودة فورًا للنشاط تحت الشمس</a:t>
            </a:r>
            <a:endParaRPr 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640080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77240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تسمح بالعودة السريعة، استمر بالراحة والمراقبة حتى الاستقرار</a:t>
            </a:r>
            <a:endParaRPr lang="ar-AE" sz="1200" dirty="0"/>
          </a:p>
        </p:txBody>
      </p:sp>
      <p:sp>
        <p:nvSpPr>
          <p:cNvPr id="34" name="Shape 3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6" name="Shape 3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E.14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اختبر معلوماتك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أسئلة سريعة لتقييم فهمك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57200" y="2606040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109960" y="2779776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2852928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0080" y="2679192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س1: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 أول إجراء عند ظهور أعراض الإجهاد الحراري؟</a:t>
            </a:r>
            <a:endParaRPr lang="ar-AE" sz="1400" dirty="0"/>
          </a:p>
        </p:txBody>
      </p:sp>
      <p:sp>
        <p:nvSpPr>
          <p:cNvPr id="14" name="Text 9"/>
          <p:cNvSpPr/>
          <p:nvPr/>
        </p:nvSpPr>
        <p:spPr>
          <a:xfrm>
            <a:off x="640080" y="2990088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إيقاف النشاط، نقله لمكان بارد، وبدء التبريد الآمن مع المراقبة</a:t>
            </a:r>
            <a:endParaRPr lang="ar-AE" sz="1200" dirty="0"/>
          </a:p>
        </p:txBody>
      </p:sp>
      <p:sp>
        <p:nvSpPr>
          <p:cNvPr id="15" name="Shape 10"/>
          <p:cNvSpPr/>
          <p:nvPr/>
        </p:nvSpPr>
        <p:spPr>
          <a:xfrm>
            <a:off x="457200" y="3374136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11109960" y="3547872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3621024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0080" y="3447288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س2: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متى يجب الاتصال بـ 999؟</a:t>
            </a:r>
            <a:endParaRPr lang="ar-AE" sz="1400" dirty="0"/>
          </a:p>
        </p:txBody>
      </p:sp>
      <p:sp>
        <p:nvSpPr>
          <p:cNvPr id="19" name="Text 13"/>
          <p:cNvSpPr/>
          <p:nvPr/>
        </p:nvSpPr>
        <p:spPr>
          <a:xfrm>
            <a:off x="640080" y="3758184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عند فقدان الوعي، أو الارتباك، أو التشنجات، أو صعوبة التنفس، أو عدم التحسن</a:t>
            </a:r>
            <a:endParaRPr lang="ar-AE" sz="1200" dirty="0"/>
          </a:p>
        </p:txBody>
      </p:sp>
      <p:sp>
        <p:nvSpPr>
          <p:cNvPr id="20" name="Shape 14"/>
          <p:cNvSpPr/>
          <p:nvPr/>
        </p:nvSpPr>
        <p:spPr>
          <a:xfrm>
            <a:off x="457200" y="4142232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11109960" y="4315968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4389120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40080" y="4215384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س3: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يجوز إعطاء الماء لشخص غير واعٍ؟</a:t>
            </a:r>
            <a:endParaRPr lang="ar-AE" sz="1400" dirty="0"/>
          </a:p>
        </p:txBody>
      </p:sp>
      <p:sp>
        <p:nvSpPr>
          <p:cNvPr id="24" name="Text 17"/>
          <p:cNvSpPr/>
          <p:nvPr/>
        </p:nvSpPr>
        <p:spPr>
          <a:xfrm>
            <a:off x="640080" y="4526280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لا، لا يُعطى الشخص غير الواعي ماءً أو طعامًا — اتصل فورًا بـ 999</a:t>
            </a:r>
            <a:endParaRPr lang="ar-AE" sz="1200" dirty="0"/>
          </a:p>
        </p:txBody>
      </p:sp>
      <p:sp>
        <p:nvSpPr>
          <p:cNvPr id="25" name="Shape 18"/>
          <p:cNvSpPr/>
          <p:nvPr/>
        </p:nvSpPr>
        <p:spPr>
          <a:xfrm>
            <a:off x="457200" y="4910328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11109960" y="5084064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5157216"/>
            <a:ext cx="274320" cy="27432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40080" y="4983480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س4: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 الفرق الأهم بين الإجهاد وضربة الشمس؟</a:t>
            </a:r>
            <a:endParaRPr lang="ar-AE" sz="1400" dirty="0"/>
          </a:p>
        </p:txBody>
      </p:sp>
      <p:sp>
        <p:nvSpPr>
          <p:cNvPr id="29" name="Text 21"/>
          <p:cNvSpPr/>
          <p:nvPr/>
        </p:nvSpPr>
        <p:spPr>
          <a:xfrm>
            <a:off x="640080" y="5294376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ضربة الشمس أخطر — تغير في الوعي وتشنجات، تحتاج اتصالًا فوريًا وتبريدًا سريعًا</a:t>
            </a:r>
            <a:endParaRPr lang="ar-AE" sz="1200" dirty="0"/>
          </a:p>
        </p:txBody>
      </p:sp>
      <p:sp>
        <p:nvSpPr>
          <p:cNvPr id="30" name="Shape 22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1" name="Image 6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3" name="Text 24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4" name="Shape 25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5" name="Text 26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36" name="Shape 27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28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38" name="Shape 29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0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E.14</a:t>
            </a:r>
            <a:endParaRPr lang="en-US" sz="1000" dirty="0"/>
          </a:p>
        </p:txBody>
      </p:sp>
      <p:sp>
        <p:nvSpPr>
          <p:cNvPr id="40" name="Shape 31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2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62956" y="1280160"/>
            <a:ext cx="1463040" cy="146304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7276" y="1554480"/>
            <a:ext cx="914400" cy="9144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4747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4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شكرًا لكم</a:t>
            </a:r>
            <a:endParaRPr lang="en-US" sz="4400" dirty="0"/>
          </a:p>
        </p:txBody>
      </p:sp>
      <p:sp>
        <p:nvSpPr>
          <p:cNvPr id="11" name="Text 6"/>
          <p:cNvSpPr/>
          <p:nvPr/>
        </p:nvSpPr>
        <p:spPr>
          <a:xfrm>
            <a:off x="457200" y="42976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6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التعرف المبكر، التبريد، وطلب المساعدة فورًا قد ينقذ حياة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5637276" y="47548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457200" y="4983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تتجاهل الدوخة • تبريد آمن • لا ماء لغير الواعي • اتصل بـ 999 عند الخطورة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2286000" y="5440680"/>
            <a:ext cx="7589520" cy="685800"/>
          </a:xfrm>
          <a:prstGeom prst="roundRect">
            <a:avLst>
              <a:gd name="adj" fmla="val 6667"/>
            </a:avLst>
          </a:prstGeom>
          <a:solidFill>
            <a:srgbClr val="EEF3FA"/>
          </a:solidFill>
          <a:ln w="9525">
            <a:solidFill>
              <a:srgbClr val="0B4EA2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2286000" y="54406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i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"في الحر الشديد، سرعة التصرف والتبريد قد تحمي حياة إنسان"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7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E.14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1764</Words>
  <Application>Microsoft Office PowerPoint</Application>
  <PresentationFormat>شاشة عريضة</PresentationFormat>
  <Paragraphs>424</Paragraphs>
  <Slides>23</Slides>
  <Notes>23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23</vt:i4>
      </vt:variant>
    </vt:vector>
  </HeadingPairs>
  <TitlesOfParts>
    <vt:vector size="27" baseType="lpstr">
      <vt:lpstr>Arial</vt:lpstr>
      <vt:lpstr>Calibri</vt:lpstr>
      <vt:lpstr>Tajawal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التعامل مع ضربات الشمس والإجهاد الحراري</dc:title>
  <dc:subject>PptxGenJS Presentation</dc:subject>
  <dc:creator>هيئة أبوظبي للدفاع المدني</dc:creator>
  <cp:lastModifiedBy>Lenovo</cp:lastModifiedBy>
  <cp:revision>1</cp:revision>
  <dcterms:created xsi:type="dcterms:W3CDTF">2026-05-07T23:53:43Z</dcterms:created>
  <dcterms:modified xsi:type="dcterms:W3CDTF">2026-05-08T00:27:08Z</dcterms:modified>
</cp:coreProperties>
</file>