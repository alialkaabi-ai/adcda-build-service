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6243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21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3.png"/><Relationship Id="rId5" Type="http://schemas.openxmlformats.org/officeDocument/2006/relationships/image" Target="../media/image30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37.png"/><Relationship Id="rId5" Type="http://schemas.openxmlformats.org/officeDocument/2006/relationships/image" Target="../media/image34.png"/><Relationship Id="rId10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.png"/><Relationship Id="rId5" Type="http://schemas.openxmlformats.org/officeDocument/2006/relationships/image" Target="../media/image37.png"/><Relationship Id="rId10" Type="http://schemas.openxmlformats.org/officeDocument/2006/relationships/image" Target="../media/image36.png"/><Relationship Id="rId4" Type="http://schemas.openxmlformats.org/officeDocument/2006/relationships/image" Target="../media/image2.png"/><Relationship Id="rId9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12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27.png"/><Relationship Id="rId5" Type="http://schemas.openxmlformats.org/officeDocument/2006/relationships/image" Target="../media/image11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.png"/><Relationship Id="rId7" Type="http://schemas.openxmlformats.org/officeDocument/2006/relationships/image" Target="../media/image4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45.png"/><Relationship Id="rId5" Type="http://schemas.openxmlformats.org/officeDocument/2006/relationships/image" Target="../media/image34.png"/><Relationship Id="rId10" Type="http://schemas.openxmlformats.org/officeDocument/2006/relationships/image" Target="../media/image44.png"/><Relationship Id="rId4" Type="http://schemas.openxmlformats.org/officeDocument/2006/relationships/image" Target="../media/image2.png"/><Relationship Id="rId9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45.png"/><Relationship Id="rId5" Type="http://schemas.openxmlformats.org/officeDocument/2006/relationships/image" Target="../media/image46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4.png"/><Relationship Id="rId5" Type="http://schemas.openxmlformats.org/officeDocument/2006/relationships/image" Target="../media/image48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37.png"/><Relationship Id="rId10" Type="http://schemas.openxmlformats.org/officeDocument/2006/relationships/image" Target="../media/image50.png"/><Relationship Id="rId4" Type="http://schemas.openxmlformats.org/officeDocument/2006/relationships/image" Target="../media/image2.png"/><Relationship Id="rId9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51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ضربات الشمس والإجهاد الحراري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وعي مبكر، تبريد آمن، واستجابة فورية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"حالات مرتبطة بارتفاع الحرارة، تحتاج إلى تبريد آمن وطلب المساعدة فورًا عند علامات الخطورة"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بالإجهاد الحراري وضربات الشمس؟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الأجواء الحارة قد يفقد الجسم قدرته على التبريد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تعرّف مبكر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على الإجهاد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التطور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ضربة شمس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الفئات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الأكثر عرضة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استجابة سريعة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الخطورة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أمان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الفعاليات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الوقاية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المجتمع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ضربة الشمس حالة طارئة — اتصل فورًا بـ 999 عند الاشتباه بها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هو الإجهاد الحراري؟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تأثر الجسم بالحرارة وفقدان السوائل والأملاح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تعرق شديد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أو إرهاق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دوخة أو صداع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غثيان أو رغبة قيء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تقلصات عضلية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عطش شديد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جلد رطب أو بارد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تسارع النبض والتنفس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الإجهاد الحراري قد يتحول إلى حالة أخطر إذا لم يتم التبريد ومراقبة الحالة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هي ضربة الشمس؟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أكثر خطورة — فشل الجسم في التحكم بحرارته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شديد في الحرارة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ارتباك أو تصرف غير طبيعي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وعي أو ضعف استجابة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تشنجات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صداع شديد ودوخة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جلد ساخن جدًا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تدهور سريع في الحالة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 عاجل: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999، وابدأ بتبريد المصاب إذا كان آمنًا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الفرق بين الإجهاد الحراري وضربة الشمس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الفرق تساعد على تقدير الخطورة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إجهاد حراري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554212" y="3246120"/>
            <a:ext cx="777240" cy="777240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3401568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428232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تعب ودوخة •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428232" y="44988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تعرق شديد •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6428232" y="483717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تحسن تدريجي بالراحة •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57200" y="2606040"/>
            <a:ext cx="55778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0" name="Text 15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ضربة شمس</a:t>
            </a:r>
            <a:endParaRPr lang="en-US" sz="1800" dirty="0"/>
          </a:p>
        </p:txBody>
      </p:sp>
      <p:sp>
        <p:nvSpPr>
          <p:cNvPr id="21" name="Shape 16"/>
          <p:cNvSpPr/>
          <p:nvPr/>
        </p:nvSpPr>
        <p:spPr>
          <a:xfrm>
            <a:off x="2857500" y="3246120"/>
            <a:ext cx="777240" cy="77724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7520" y="3401568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152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ارتباك أو فقدان وعي •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731520" y="44988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تشنجات •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731520" y="483717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تدهور سريع — اتصل بـ 999 •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تغير وعي المصاب أو ظهرت تشنجات أو فقدان وعي، اتصل فورًا بـ 999</a:t>
            </a:r>
            <a:endParaRPr lang="ar-AE" sz="1200" dirty="0"/>
          </a:p>
        </p:txBody>
      </p:sp>
      <p:sp>
        <p:nvSpPr>
          <p:cNvPr id="28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29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الفئات الأكثر عرضة للمخاطر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إلى عناية إضافية في الأجواء الحارة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الأمراض المزمنة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العمال في الخارج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الرياضيون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الحجاج والمعتمرون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شاربي السوائل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أماكن سيئة التهوية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تبدأ بتقليل التعرض للحرارة ومراقبة العلامات المبكرة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أسباب وعوامل تزيد الخطر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تجنّبها يقلل الحالات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تعرض مباشر للشمس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جهد بدني في الحر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قلة شرب السوائل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ملابس ثقيلة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ازدحام وسوء تهوية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أخذ راحة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الإرهاق المبكر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صحية وأدوية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تراكم التعب والحرارة قد يجعل الحالة تظهر فجأة — لا تتجاهل العلامات المبكرة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الأولي عند ظهور أعراض الحرارة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تدخل مبكر يمنع التطور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النشاط فورًا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لمكان بارد أو مظلل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على الجلوس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الملابس الثقيلة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قدّم الماء إن كان واعيًا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كمادات باردة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الحالة ولا تتركه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التدخل المبكر قد يمنع تطور الإجهاد الحراري إلى حالة أكثر خطورة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الإجهاد الحراري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رعاية أولية آمنة مع المراقبة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لمكان مظلل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على الراحة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ماء ببطء إن قدر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كمادات باردة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الملابس الزائدة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التحسن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عدم التحسن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تعطِ المصاب مشروبات إذا كان غير واعٍ أو غير قادر على البلع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ضربة الشمس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طارئة — تبريد سريع وطلب 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لمكان بارد آمن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ابدأ التبريد بسرعة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ماء بارد أو كمادات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والاستجابة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حتى المختصين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ضربة الشمس — التبريد السريع وطلب المساعدة هما الأساس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فقد المصاب الوعي؟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علامة خطيرة تحتاج تصرفًا فوريًا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التنفس الطبيعي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أو شراب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استمر في التبريد الآمن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الموظف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توجيهات CPR إن لزم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توقف التبريد إلا بتوجيه المختصين أو إذا أصبح المكان غير آمن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التشنجات أو الارتباك بسبب الحرارة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خطورة في الأجواء الحارة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الأجسام الخطرة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شيئًا في الفم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تقيّد حركته بقوة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لمكان أبرد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ابدأ التبريد الآمن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تغير الوعي أو التشنجات مع الحرارة يستدعي طلب المساعدة فورًا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لا تفعل عند الإجهاد وضربة الشمس؟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قد تؤخر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وحده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لغير الواعي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الاتصال بـ 999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عودة فورية للنشاط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تبقه في مكان حار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الصداع الشديد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تعامل ضربة الشمس كإرهاق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الخطأ الأكبر هو الانتظار عند علامات الخطورة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أثناء الأجواء الحارة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أفضل طريقة لتقليل الحالات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شرب الماء بانتظام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ذروة الشمس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ملابس خفيفة مناسبة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غطاء للرأس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راحة في مكان مكيف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الجهد البدني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الفئات المعرضة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الشعور بالعطش الشديد حتى تشرب الماء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الفعاليات والمناطق العامة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استعداد إضافي في الحر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مناطق ظل أو تبريد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مياه شرب كافية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توعوية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نقاط إسعاف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الفئات المعرضة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الحشود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إبلاغ مبكر عن الأعراض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الزحام والحرارة يزيدان الضغط على الجسم — التنظيم والتهوية مهمان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للعمال والأنشطة الخارجية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احتياطات خاصة في الأماكن المفتوحة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العمل بالحرارة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فترات راحة منتظمة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شرب الماء على فترات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ملابس وقاية مناسبة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الزملاء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إيقاف العمل عند الخطورة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الفوري عن الدوخة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 يمكن تعويضه، أما صحة الإنسان فهي الأولوية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وكبار السن في الحرارة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يتأثرون بسرعة أكبر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في مركبة متوقفة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ماء وراحة بانتظام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الخروج وقت الذروة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أي تغير بالسلوك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أماكن مكيفة أو مظللة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انتباه للأدوية والحالات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شخص داخل مركبة متوقفة في الحر قد يؤدي لخطر شديد خلال وقت قصير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نتصل برقم الطوارئ 999؟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تأخر طلب المساعدة عند الخطورة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الوعي أو ضعف الاستجابة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ارتباك أو تصرف غير طبيعي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تشنجات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التنفس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تدهور سريع في الحالة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تحسن بعد التبريد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صداع شديد ودوخة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لطفل أو كبير سن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الشك في ضربة الشمس، اتصل بالطوارئ وابدأ التبريد فورًا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الموجودين في المكان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سريع لتبريد المصاب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ينقله للظل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يحضر كمادات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يبعد المتجمهرين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يراقب التنفس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يفتح طريق الإسعاف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التعاون المنظم يقلل الارتباك ويساعد على التبريد بسرعة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الإجهاد الحراري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النشاط فور الأعراض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لمكان بارد أو مظلل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ابدأ التبريد الآمن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ماء فقط للواعي القادر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والاستجابة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الخطورة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معه حتى التحسن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وحده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أو شراب لغير الواعي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طلب المساعدة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عودة سريعة للنشاط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الصداع الشديد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تبقه في مكان حار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الحالة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في فعالية خارجية شعر بدوخة وتعرق وضعف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النشاط، انقله للظل، أعطه ماء إن كان واعيًا، وراقب الحالة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عامل أصبح مرتبكًا ولا يجيب بوضوح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999، انقله لمكان أبرد، ابدأ التبريد، وراقب التنفس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في مكان حار ظهر عليه نعاس غير معتاد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لمكان بارد، برّده، لا تتركه، واتصل بـ 999 عند الخطورة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تحسن ويريد العودة فورًا للنشاط تحت الشمس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تسمح بالعودة السريعة، استمر بالراحة والمراقبة حتى الاستقرار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أول إجراء عند ظهور أعراض الإجهاد الحراري؟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إيقاف النشاط، نقله لمكان بارد، وبدء التبريد الآمن مع المراقبة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يجب الاتصال بـ 999؟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فقدان الوعي، أو الارتباك، أو التشنجات، أو صعوبة التنفس، أو عدم التحسن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إعطاء الماء لشخص غير واعٍ؟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لا يُعطى الشخص غير الواعي ماءً أو طعامًا — اتصل فورًا بـ 999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الفرق الأهم بين الإجهاد وضربة الشمس؟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ضربة الشمس أخطر — تغير في الوعي وتشنجات، تحتاج اتصالًا فوريًا وتبريدًا سريعًا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التعرف المبكر، التبريد، وطلب المساعدة فورًا قد ينقذ حياة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الدوخة • تبريد آمن • لا ماء لغير الواعي • اتصل بـ 999 عند الخطورة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"في الحر الشديد، سرعة التصرف والتبريد قد تحمي حياة إنسان"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E.14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1764</Words>
  <Application>Microsoft Office PowerPoint</Application>
  <PresentationFormat>شاشة عريضة</PresentationFormat>
  <Paragraphs>424</Paragraphs>
  <Slides>23</Slides>
  <Notes>23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23</vt:i4>
      </vt:variant>
    </vt:vector>
  </HeadingPairs>
  <TitlesOfParts>
    <vt:vector size="27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التعامل مع ضربات الشمس والإجهاد الحراري</dc:title>
  <dc:subject>PptxGenJS Presentation</dc:subject>
  <dc:creator>هيئة أبوظبي للدفاع المدني</dc:creator>
  <cp:lastModifiedBy>Lenovo</cp:lastModifiedBy>
  <cp:revision>1</cp:revision>
  <dcterms:created xsi:type="dcterms:W3CDTF">2026-05-07T23:53:43Z</dcterms:created>
  <dcterms:modified xsi:type="dcterms:W3CDTF">2026-05-08T00:27:08Z</dcterms:modified>
</cp:coreProperties>
</file>