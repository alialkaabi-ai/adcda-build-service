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511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16.png"/><Relationship Id="rId5" Type="http://schemas.openxmlformats.org/officeDocument/2006/relationships/image" Target="../media/image13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7.png"/><Relationship Id="rId5" Type="http://schemas.openxmlformats.org/officeDocument/2006/relationships/image" Target="../media/image32.png"/><Relationship Id="rId10" Type="http://schemas.openxmlformats.org/officeDocument/2006/relationships/image" Target="../media/image36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8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43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4.png"/><Relationship Id="rId5" Type="http://schemas.openxmlformats.org/officeDocument/2006/relationships/image" Target="../media/image34.png"/><Relationship Id="rId10" Type="http://schemas.openxmlformats.org/officeDocument/2006/relationships/image" Target="../media/image46.png"/><Relationship Id="rId4" Type="http://schemas.openxmlformats.org/officeDocument/2006/relationships/image" Target="../media/image2.png"/><Relationship Id="rId9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4.png"/><Relationship Id="rId5" Type="http://schemas.openxmlformats.org/officeDocument/2006/relationships/image" Target="../media/image32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3.png"/><Relationship Id="rId5" Type="http://schemas.openxmlformats.org/officeDocument/2006/relationships/image" Target="../media/image47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1.png"/><Relationship Id="rId7" Type="http://schemas.openxmlformats.org/officeDocument/2006/relationships/image" Target="../media/image4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53.png"/><Relationship Id="rId5" Type="http://schemas.openxmlformats.org/officeDocument/2006/relationships/image" Target="../media/image48.png"/><Relationship Id="rId10" Type="http://schemas.openxmlformats.org/officeDocument/2006/relationships/image" Target="../media/image52.png"/><Relationship Id="rId4" Type="http://schemas.openxmlformats.org/officeDocument/2006/relationships/image" Target="../media/image2.png"/><Relationship Id="rId9" Type="http://schemas.openxmlformats.org/officeDocument/2006/relationships/image" Target="../media/image5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.png"/><Relationship Id="rId5" Type="http://schemas.openxmlformats.org/officeDocument/2006/relationships/image" Target="../media/image32.png"/><Relationship Id="rId10" Type="http://schemas.openxmlformats.org/officeDocument/2006/relationships/image" Target="../media/image54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5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الجلطات والسكتات الدماغية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دقيقة مهمة — التعرف السريع وطلب المساعدة الفورية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"حالات طارئة تحتاج إلى سرعة في التعرف على العلامات وطلب المساعدة فورًا وطمأنة المصاب"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بهذا الموضوع؟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تأخير المساعدة قد يزيد خطورة الحالة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تعرّف مبكر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على علامات الخطر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التأخر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طلب المساعدة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الأخطاء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كإعطاء أدوية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طمأنة المصاب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وتنظيم المكان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استجابة سريعة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للحالات الطارئة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الإسعاف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المجتمع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الاشتباه بجلطة أو سكتة دماغية، لا تنتظر تحسن الأعراض، واتصل فورًا بـ 999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بالسكتة الدماغية؟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تأثر تدفق الدم إلى جزء من الدماغ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مفاجئ بالأطراف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الكلام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توازن أو دوخة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تغير مفاجئ في الرؤية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 شديد مفاجئ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في الاستجابة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تظهر علامة واحدة فقط — تعامل مع الحالة بجدية واطلب المساعدة فورًا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 FAST للتعرف على السكتة الدماغية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 سريع لأهم العلامات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2356" y="2606040"/>
            <a:ext cx="2697480" cy="301752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606040"/>
            <a:ext cx="2697480" cy="1005840"/>
          </a:xfrm>
          <a:prstGeom prst="rect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562356" y="265176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</a:t>
            </a:r>
            <a:endParaRPr lang="en-US" sz="6000" dirty="0"/>
          </a:p>
        </p:txBody>
      </p:sp>
      <p:sp>
        <p:nvSpPr>
          <p:cNvPr id="13" name="Text 9"/>
          <p:cNvSpPr/>
          <p:nvPr/>
        </p:nvSpPr>
        <p:spPr>
          <a:xfrm>
            <a:off x="562356" y="365760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Face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62356" y="39776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2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الوجه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1613916" y="4389120"/>
            <a:ext cx="594360" cy="59436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8216" y="45034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9516" y="5074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ميلان أو ضعف في أحد جانبي الوجه؟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3351276" y="2606040"/>
            <a:ext cx="2697480" cy="301752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3351276" y="2606040"/>
            <a:ext cx="2697480" cy="1005840"/>
          </a:xfrm>
          <a:prstGeom prst="rect">
            <a:avLst/>
          </a:prstGeom>
          <a:solidFill>
            <a:srgbClr val="0B4EA2"/>
          </a:solidFill>
          <a:ln/>
        </p:spPr>
      </p:sp>
      <p:sp>
        <p:nvSpPr>
          <p:cNvPr id="20" name="Text 15"/>
          <p:cNvSpPr/>
          <p:nvPr/>
        </p:nvSpPr>
        <p:spPr>
          <a:xfrm>
            <a:off x="3351276" y="265176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</a:t>
            </a:r>
            <a:endParaRPr lang="en-US" sz="6000" dirty="0"/>
          </a:p>
        </p:txBody>
      </p:sp>
      <p:sp>
        <p:nvSpPr>
          <p:cNvPr id="21" name="Text 16"/>
          <p:cNvSpPr/>
          <p:nvPr/>
        </p:nvSpPr>
        <p:spPr>
          <a:xfrm>
            <a:off x="3351276" y="365760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Arm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3351276" y="39776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2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الذراع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4402836" y="4389120"/>
            <a:ext cx="594360" cy="59436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503420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3488436" y="5074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رفع أحد الذراعين؟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140196" y="2606040"/>
            <a:ext cx="2697480" cy="301752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140196" y="2606040"/>
            <a:ext cx="2697480" cy="1005840"/>
          </a:xfrm>
          <a:prstGeom prst="rect">
            <a:avLst/>
          </a:prstGeom>
          <a:solidFill>
            <a:srgbClr val="0B4EA2"/>
          </a:solidFill>
          <a:ln/>
        </p:spPr>
      </p:sp>
      <p:sp>
        <p:nvSpPr>
          <p:cNvPr id="28" name="Text 22"/>
          <p:cNvSpPr/>
          <p:nvPr/>
        </p:nvSpPr>
        <p:spPr>
          <a:xfrm>
            <a:off x="6140196" y="265176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S</a:t>
            </a:r>
            <a:endParaRPr lang="en-US" sz="6000" dirty="0"/>
          </a:p>
        </p:txBody>
      </p:sp>
      <p:sp>
        <p:nvSpPr>
          <p:cNvPr id="29" name="Text 23"/>
          <p:cNvSpPr/>
          <p:nvPr/>
        </p:nvSpPr>
        <p:spPr>
          <a:xfrm>
            <a:off x="6140196" y="365760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Speech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6140196" y="39776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2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الكلام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7191756" y="4389120"/>
            <a:ext cx="594360" cy="59436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6056" y="4503420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6277356" y="5074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أو عدم وضوح في التحدث؟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929116" y="2606040"/>
            <a:ext cx="2697480" cy="301752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929116" y="2606040"/>
            <a:ext cx="2697480" cy="10058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6" name="Text 29"/>
          <p:cNvSpPr/>
          <p:nvPr/>
        </p:nvSpPr>
        <p:spPr>
          <a:xfrm>
            <a:off x="8929116" y="265176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T</a:t>
            </a:r>
            <a:endParaRPr lang="en-US" sz="6000" dirty="0"/>
          </a:p>
        </p:txBody>
      </p:sp>
      <p:sp>
        <p:nvSpPr>
          <p:cNvPr id="37" name="Text 30"/>
          <p:cNvSpPr/>
          <p:nvPr/>
        </p:nvSpPr>
        <p:spPr>
          <a:xfrm>
            <a:off x="8929116" y="365760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Time</a:t>
            </a:r>
            <a:endParaRPr lang="en-US" sz="1400" dirty="0"/>
          </a:p>
        </p:txBody>
      </p:sp>
      <p:sp>
        <p:nvSpPr>
          <p:cNvPr id="38" name="Text 31"/>
          <p:cNvSpPr/>
          <p:nvPr/>
        </p:nvSpPr>
        <p:spPr>
          <a:xfrm>
            <a:off x="8929116" y="39776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2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الوقت</a:t>
            </a:r>
            <a:endParaRPr lang="en-US" sz="2000" dirty="0"/>
          </a:p>
        </p:txBody>
      </p:sp>
      <p:sp>
        <p:nvSpPr>
          <p:cNvPr id="39" name="Shape 32"/>
          <p:cNvSpPr/>
          <p:nvPr/>
        </p:nvSpPr>
        <p:spPr>
          <a:xfrm>
            <a:off x="9980676" y="4389120"/>
            <a:ext cx="594360" cy="59436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4976" y="4503420"/>
            <a:ext cx="365760" cy="365760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066276" y="5074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 عند أي علامة</a:t>
            </a:r>
            <a:endParaRPr lang="en-US" sz="1100" dirty="0"/>
          </a:p>
        </p:txBody>
      </p:sp>
      <p:sp>
        <p:nvSpPr>
          <p:cNvPr id="42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ظهور كل العلامات — ظهور علامة واحدة قد يكون كافيًا لطلب المساعدة</a:t>
            </a:r>
            <a:endParaRPr lang="ar-AE" sz="1200" dirty="0"/>
          </a:p>
        </p:txBody>
      </p:sp>
      <p:sp>
        <p:nvSpPr>
          <p:cNvPr id="44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54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أخرى قد ترتبط بالسكتة الدماغية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إضافة إلى FAST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توازن مفاجئ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مفاجئة في المشي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تشوش أو فقدان الرؤية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شديدة غير معتادة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 شديد مفاجئ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تنميل في جهة من الجسم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أو عدم فهم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فورًا، واذكر وقت بداية الأعراض إذا كان معروفًا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بالنوبة القلبية؟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قد تشير لأعراض قلبية تحتاج تدخلًا فوريًا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أو ضغط في وسط الصدر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يمتد للذراع أو الفك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ضيق في التنفس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تعرق شديد أو شحوب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غثيان أو دوخة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تعب شديد غير معتاد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الأعراض قد تختلف من شخص لآخر — لا تنتظر ظهور كل العلامات</a:t>
            </a:r>
            <a:endParaRPr lang="ar-AE" sz="1200" dirty="0"/>
          </a:p>
        </p:txBody>
      </p:sp>
      <p:sp>
        <p:nvSpPr>
          <p:cNvPr id="40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نتصل برقم الطوارئ 999؟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عند الاشتباه بأي علامة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مفاجئ في الأطراف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الكلام أو الفهم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أو ضغط في الصدر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ضيق تنفس غير معتاد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وعي أو ضعف استجابة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 شديد مفاجئ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أو فقدان توازن مفاجئ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أعراض غير طبيعية مفاجئة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الانتظار أو قيادة المصاب بنفسك قد يؤخر وصول الرعاية المناسبة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تقول عند الاتصال بالطوارئ؟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معلومات واضحة تسرّع التقييم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بدقة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عمر المصاب التقريبي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الأعراض التي ظهرت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بداية الأعراض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واعٍ ويتنفس؟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يوجد ألم في الصدر؟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حالة صحية معروفة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تنه المكالمة إلا إذا طلب منك موظف الطوارئ ذلك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مع السكتة الدماغية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المصاب من السقوط أو الاختناق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اجعله يجلس أو يستلقي بأمان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أدوية دون توجيه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والاستجابة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طمئنه: المساعدة قادمة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وقت بداية الأعراض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إذا تحسنت الأعراض، يجب عدم تجاهل الحالة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مع ألم الصدر أو الاشتباه القلبي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كحالة طارئة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اجلسه في وضع مريح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شجّعه على الراحة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طمئنه وابقَ معه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والاستجابة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أدوية دون توجيه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الموظف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تجعل المصاب يقود المركبة أو ينتقل بنفسه عند وجود أعراض خطيرة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فقد المصاب الوعي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علامة خطيرة تحتاج تصرفًا سريعًا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التنفس الطبيعي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CPR من الموظف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إحضار AED إن توفر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المصاب وحده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 مع صعوبة التنفس حالة طارئة جدًا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تعطِ طعامًا أو شرابًا أو أدوية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يكون خطرًا إذا كان غير قادر على البلع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أو طعام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أدوية دون توجيه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الوقوف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يقود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دورك الأساسي هو طلب المساعدة وطمأنة المصاب ومراقبة حالته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أهمية معرفة وقت بداية الأعراض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أهم المعلومات التي يحتاجها المختصون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83464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9407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94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83464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بدأت الأعراض؟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33756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3969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3969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33756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كان آخر وقت طبيعي؟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84048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8999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8999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84048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ظهرت فجأة أم تدريجيًا؟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34340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4028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4028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34340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تحسنت ثم عادت؟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84632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9057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9057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84632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توجد أمراض أو أدوية؟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تسجيل الوقت أو تذكره قد يساعد المختصين في اتخاذ القرار المناسب</a:t>
            </a:r>
            <a:endParaRPr lang="ar-AE" sz="1200" dirty="0"/>
          </a:p>
        </p:txBody>
      </p:sp>
      <p:sp>
        <p:nvSpPr>
          <p:cNvPr id="34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المصاب بهدوء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الطمأنة جزء من الإسعاف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تحدث بصوت هادئ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قل: المساعدة في الطريق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تكثر من الأسئلة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التجمهر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خصوصيته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تصوير أو نشر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لا يعني التأخير — اتصل بالطوارئ أولًا ثم طمئن المصاب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الحالات داخل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الأسرة أول من يلاحظ التغير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تحسن الأعراض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فورًا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 الطريق للإسعاف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معلومات صحية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تنقله بنفسك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الموقع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سرعة الأسرة في التعرف وطلب المساعدة قد تساهم في تقليل التأخير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الحالات في العمل أو الأماكن العامة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لتسهيل وصول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يرشد فرق الإسعاف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مساحة وخصوصية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تجمهر أو تصوير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وقت بداية الأعراض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تنقله إلا عند الخطر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تقسيم الأدوار يقلل الفوضى ويساعد على الاستجابة السريعة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أخطاء شائعة يجب تجنبها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تؤخر المساعدة أو 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انتظار زوال الأعراض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تفسيرها كتعب عادي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إعطاء طعام أو شراب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دون توجيه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السماح بقيادة المركبة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تحريك مصاب غير مستقر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تجمهر أو تصوير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التأخير هو الخطأ الأكبر عند الاشتباه بجلطة أو سكتة دماغية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وتقليل عوامل الخطر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إرشادات عامة بنمط حياة صحي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الضغط والسكر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بالأدوية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نشاط بدني مناسب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غذاء متوازن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التدخين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وزن صحي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مراجعة الطبيب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هذه الإرشادات عامة ولا تغني عن استشارة الطبيب أو المتابعة الصحية المنتظمة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الموجودين في المكان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تعاون منظم لتنظيم الاستجابة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يطمئن المصاب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يبعد المتجمهرين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يفتح الطريق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يجمع وقت الأعراض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يحضر AED إن لزم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التعاون المنظم أفضل من الارتباك أو التجمهر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الجلطات والسكتات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قاعدة FAST للتعرف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الجلوس بأمان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والاستجابة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وقت بداية الأعراض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طمئنه ووفّر له الخصوصية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تحسن الأعراض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أدوية دون توجيه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يقود المركبة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حول المصاب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أو تنشر الحالة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 إن كان غير مستقر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ظهر عليه ميلان مفاجئ في الوجه وصعوبة في الكلام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999، طمئن المصاب، وسجّل وقت بداية الأعراض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يشعر بضغط شديد في الصدر وضيق تنفس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999، اجلسه في وضع مريح، ولا تعطه أدوية دون توجيه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المصاب يقول إن الأعراض تخف ويريد الانتظار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تنتظر، اتصل بـ 999، لأن تحسن الأعراض لا يعني زوال الخطر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تجمع أشخاص حول المصاب وبدأ أحدهم بالتصوير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المتجمهرين، امنع التصوير، ووفّر خصوصية ومساحة للمصاب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تعني قاعدة FAST في السكتة الدماغية؟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الوجه والذراع والكلام والوقت — فحص العلامات والاتصال الفوري بـ 999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ننتظر تحسن الأعراض عند الاشتباه بسكتة؟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الاتصال فورًا بـ 999 حتى إذا تحسنت الأعراض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نفعل عند ألم الصدر مع ضيق تنفس؟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الاتصال فورًا بـ 999، إجلاس المصاب في وضع مريح، ومراقبة حالته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نعرف وقت بداية الأعراض؟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 المعلومة تساعد المختصين في تقييم الحالة واتخاذ القرار المناسب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السريع على العلامات وعدم الانتظار قد ينقذ حياة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FAST للتعرف • لا تنتظر • اتصل بـ 999 • لا طعام أو دواء • اذكر وقت الأعراض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"في حالات الجلطات والسكتات، كل دقيقة مهمة"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E.11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1762</Words>
  <Application>Microsoft Office PowerPoint</Application>
  <PresentationFormat>شاشة عريضة</PresentationFormat>
  <Paragraphs>419</Paragraphs>
  <Slides>23</Slides>
  <Notes>23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23</vt:i4>
      </vt:variant>
    </vt:vector>
  </HeadingPairs>
  <TitlesOfParts>
    <vt:vector size="27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التعامل مع الجلطات والسكتات الدماغية</dc:title>
  <dc:subject>PptxGenJS Presentation</dc:subject>
  <dc:creator>هيئة أبوظبي للدفاع المدني</dc:creator>
  <cp:lastModifiedBy>Lenovo</cp:lastModifiedBy>
  <cp:revision>1</cp:revision>
  <dcterms:created xsi:type="dcterms:W3CDTF">2026-05-07T21:13:38Z</dcterms:created>
  <dcterms:modified xsi:type="dcterms:W3CDTF">2026-05-08T00:25:35Z</dcterms:modified>
</cp:coreProperties>
</file>