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8641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4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4.png"/><Relationship Id="rId5" Type="http://schemas.openxmlformats.org/officeDocument/2006/relationships/image" Target="../media/image18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4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2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0.png"/><Relationship Id="rId5" Type="http://schemas.openxmlformats.org/officeDocument/2006/relationships/image" Target="../media/image25.png"/><Relationship Id="rId10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12.png"/><Relationship Id="rId5" Type="http://schemas.openxmlformats.org/officeDocument/2006/relationships/image" Target="../media/image19.pn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12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28.png"/><Relationship Id="rId5" Type="http://schemas.openxmlformats.org/officeDocument/2006/relationships/image" Target="../media/image39.png"/><Relationship Id="rId10" Type="http://schemas.openxmlformats.org/officeDocument/2006/relationships/image" Target="../media/image37.png"/><Relationship Id="rId4" Type="http://schemas.openxmlformats.org/officeDocument/2006/relationships/image" Target="../media/image2.png"/><Relationship Id="rId9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4.png"/><Relationship Id="rId5" Type="http://schemas.openxmlformats.org/officeDocument/2006/relationships/image" Target="../media/image24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44.png"/><Relationship Id="rId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openxmlformats.org/officeDocument/2006/relationships/image" Target="../media/image2.png"/><Relationship Id="rId9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4.png"/><Relationship Id="rId5" Type="http://schemas.openxmlformats.org/officeDocument/2006/relationships/image" Target="../media/image19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12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39.png"/><Relationship Id="rId5" Type="http://schemas.openxmlformats.org/officeDocument/2006/relationships/image" Target="../media/image35.png"/><Relationship Id="rId10" Type="http://schemas.openxmlformats.org/officeDocument/2006/relationships/image" Target="../media/image41.png"/><Relationship Id="rId4" Type="http://schemas.openxmlformats.org/officeDocument/2006/relationships/image" Target="../media/image2.png"/><Relationship Id="rId9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6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6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التشنجات والصرع</a:t>
            </a:r>
            <a:endParaRPr lang="en-US" sz="36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هدوء، حماية المصاب، ومراقبة بدون تدخل عشوائي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"التصرف الصحيح يعتمد على حماية المصاب من الأذى وعدم تقييد حركته ومراقبته إلى حين تحسنه أو وصول المختصين"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E.10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بالتشنجات والصرع؟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المعرفة تقلل الخوف وتحمي المصاب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المصاب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أثناء التشنج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التصرف الخاطئ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كتقييد الحركة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بهدوء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بدل الارتباك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وقت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الاتصال بـ 999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دعم محترم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بعد النوبة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ثقافة الإسعاف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المنزل والعمل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معظم المساعدة تكون في تأمين المكان ومراقبة المصاب، لا في إيقاف التشنج بالقوة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E.10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المقصود بالتشنجات؟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اضطراب مؤقت في نشاط الجسم بأشكال مختلفة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حركات لا إرادية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ضعف في الاستجابة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تيبّس أو ارتخاء مفاجئ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ارتباك قبل أو بعد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تحديق أو شرود مؤقت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سقوط مفاجئ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ليس كل تشنج يعني صرعًا — قد توجد أسباب أخرى تحتاج إلى تقييم من مختصين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E.10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المقصود بالصرع؟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حالة صحية قد تسبب نوبات متكررة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846320" y="278892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1320272" y="283464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4" name="Text 9"/>
          <p:cNvSpPr/>
          <p:nvPr/>
        </p:nvSpPr>
        <p:spPr>
          <a:xfrm>
            <a:off x="11320272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983480" y="278892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تشخيص سابق لدى البعض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46320" y="3236976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1320272" y="328269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8" name="Text 13"/>
          <p:cNvSpPr/>
          <p:nvPr/>
        </p:nvSpPr>
        <p:spPr>
          <a:xfrm>
            <a:off x="11320272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983480" y="3236976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نوبات تختلف بالشكل والمدة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846320" y="3685032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1320272" y="37307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2" name="Text 17"/>
          <p:cNvSpPr/>
          <p:nvPr/>
        </p:nvSpPr>
        <p:spPr>
          <a:xfrm>
            <a:off x="11320272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983480" y="3685032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بعضها بحركات جسدية واضحة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846320" y="4133088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1320272" y="41788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6" name="Text 21"/>
          <p:cNvSpPr/>
          <p:nvPr/>
        </p:nvSpPr>
        <p:spPr>
          <a:xfrm>
            <a:off x="1132027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983480" y="4133088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بعضها شرود أو فقدان وعي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846320" y="4581144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1320272" y="4626864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0" name="Text 25"/>
          <p:cNvSpPr/>
          <p:nvPr/>
        </p:nvSpPr>
        <p:spPr>
          <a:xfrm>
            <a:off x="11320272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983480" y="458114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ليس كل نوبة تحتاج طوارئ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4846320" y="502920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1320272" y="5074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4" name="Text 29"/>
          <p:cNvSpPr/>
          <p:nvPr/>
        </p:nvSpPr>
        <p:spPr>
          <a:xfrm>
            <a:off x="11320272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4983480" y="502920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حالات معينة تستدعي الاتصال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احترام خصوصية المصاب وعدم التجمهر حوله جزء من التصرف الصحيح</a:t>
            </a:r>
            <a:endParaRPr lang="ar-AE" sz="1200" dirty="0"/>
          </a:p>
        </p:txBody>
      </p:sp>
      <p:sp>
        <p:nvSpPr>
          <p:cNvPr id="38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9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E.10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قد تسبق التشنج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تظهر مبكرًا أو تحدث النوبة فجأة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دوخة أو ارتباك مفاجئ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في التركيز أو الكلام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تغير في السلوك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شعور غير معتاد للمصاب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فقدان مفاجئ للتوازن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تحديق أو شرود غير طبيعي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 الشخص على الجلوس أو الابتعاد عن مصادر الخطر، وراقب حالته بهدوء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E.10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تأمين المكان أولًا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المصاب من الأذى المحيط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أجسام حادة أو صلبة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زجاج أو أدوات قابلة للكسر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حركة مركبات أو دراجات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سلالم أو حواف مرتفعة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مصادر حرارة أو نار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ازدحام أو تجمهر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تحاول إيقاف التشنج بالقوة — اجعل المكان حول المصاب أكثر أمانًا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E.10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 أثناء التشنج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هدوء وتركيز على الحماية والمراقبة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هدوئك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الأشياء الخطرة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 شيئًا لينًا تحت الرأس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تقيّد حركة المصاب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شيئًا في الفم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مدة التشنج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ابقَ معه حتى الانتهاء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محاولة تثبيت المصاب بالقوة قد تسبب ضررًا له أو لمن يحاول مساعدته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E.10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لا تفعل أثناء التشنج؟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تصرفات شائعة خاطئة قد تزيد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شيئًا في الفم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تفتح الفم بالقوة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تقيّد الذراعين أو الساقين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توقف الحركة بالقوة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ماء أو طعام أثناء النوبة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تنقله إلا عند الخطر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تتجمهر أو تصور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المساعدة الصحيحة أحيانًا تكون في الامتناع عن التصرف الخاطئ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E.10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مراقبة مدة التشنج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تحدد الحاجة للطوارئ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846320" y="283464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1320272" y="289407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4" name="Text 9"/>
          <p:cNvSpPr/>
          <p:nvPr/>
        </p:nvSpPr>
        <p:spPr>
          <a:xfrm>
            <a:off x="11320272" y="28940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983480" y="2834640"/>
            <a:ext cx="6199632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وقت بداية النوبة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46320" y="333756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1320272" y="339699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8" name="Text 13"/>
          <p:cNvSpPr/>
          <p:nvPr/>
        </p:nvSpPr>
        <p:spPr>
          <a:xfrm>
            <a:off x="11320272" y="33969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983480" y="3337560"/>
            <a:ext cx="6199632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إذا استمرت طويلًا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846320" y="384048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1320272" y="389991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2" name="Text 17"/>
          <p:cNvSpPr/>
          <p:nvPr/>
        </p:nvSpPr>
        <p:spPr>
          <a:xfrm>
            <a:off x="11320272" y="38999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983480" y="3840480"/>
            <a:ext cx="6199632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التنفس بعد النوبة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846320" y="434340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1320272" y="44028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6" name="Text 21"/>
          <p:cNvSpPr/>
          <p:nvPr/>
        </p:nvSpPr>
        <p:spPr>
          <a:xfrm>
            <a:off x="11320272" y="44028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983480" y="4343400"/>
            <a:ext cx="6199632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لاحظ تكرار النوبة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846320" y="484632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1320272" y="490575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0" name="Text 25"/>
          <p:cNvSpPr/>
          <p:nvPr/>
        </p:nvSpPr>
        <p:spPr>
          <a:xfrm>
            <a:off x="11320272" y="49057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983480" y="4846320"/>
            <a:ext cx="6199632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المختصين بالملاحظات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استمرت النوبة طويلًا، أو تكررت، أو لم يستعد الوعي، أو ظهرت علامات خطورة</a:t>
            </a:r>
            <a:endParaRPr lang="ar-AE" sz="1200" dirty="0"/>
          </a:p>
        </p:txBody>
      </p:sp>
      <p:sp>
        <p:nvSpPr>
          <p:cNvPr id="34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E.10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بعد انتهاء التشنج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المصاب قد يكون مرهقًا أو مرتبكًا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تحدث معه بهدوء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تجعله يقف مباشرة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اشرح ما حدث باختصار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وفّر له خصوصية ومساحة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إصابة السقوط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طعام حتى الوعي الكامل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ابقَ معه حتى الاستقرار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الارتباك بعد النوبة قد يكون طبيعيًا، لكن استمرار عدم الاستجابة يستدعي الطوارئ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E.10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وضعية الإفاقة بعد التشنج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كان غير مستجيب لكنه يتنفس طبيعيًا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غير مستجيب مع تنفس طبيعي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اشتباه بإصابة خطيرة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المكان آمن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اتباع تعليمات موظف 999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مراقبة التنفس باستمرار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كان هناك سقوط قوي أو إصابة في الرأس، لا تحرك المصاب إلا عند الخطر المباشر</a:t>
            </a:r>
            <a:endParaRPr lang="ar-AE" sz="1200" dirty="0"/>
          </a:p>
        </p:txBody>
      </p:sp>
      <p:sp>
        <p:nvSpPr>
          <p:cNvPr id="32" name="Shape 2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E.10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نتصل برقم الطوارئ 999؟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بعض الحالات تستدعي المساعدة فورًا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استمرار التشنج طويلًا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تكرار النوبة أكثر من مرة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استعادة الوعي بعد النوبة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التنفس أو تغير الحالة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نوبة في الماء أو قرب خطر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إصابة المصاب أثناء السقوط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نوبة لأول مرة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نوبة لطفل أو كبير سن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الشك في خطورة الحالة، اتصل بالطوارئ ولا تنتظر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E.10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التشنجات عند الأطفال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تكون مخيفة للأهل والمشرفين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هدوئك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الأشياء الخطرة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شيئًا في الفم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تقيّد حركته بالقوة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مدة النوبة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الخطورة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طعام حتى الوعي الكامل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 حالة تشنج عند الطفل تحتاج إلى متابعة من ولي الأمر والجهات الصحية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E.10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التشنجات في الأماكن العامة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المكان وحماية الخصوصية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المتجمهرين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امنع التصوير أو النشر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وفّر مساحة آمنة حوله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يتصل بـ 999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يرشد فرق الإسعاف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تنقله إلا عند الخطر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احترام كرامة المصاب وخصوصيته جزء من الإسعاف الصحيح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E.10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التشنجات في المدرسة أو العمل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استعداد منظم للحالات الطارئة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توعية المشرفين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الحالات المعلنة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حفظ معلومات الطوارئ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التجمهر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توثيق مدة النوبة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اتصال بـ 999 عند الخطورة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إبلاغ ولي الأمر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الاستعداد المسبق يقلل الارتباك ويحمي المصاب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E.10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المصاب المعروف بالصرع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يكون لديه خطة أو تعليمات خاصة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اسأل بهدوء عن المساعدة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احترم خصوصيته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التعليمات الموثقة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دواء دون تعليمات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الخطورة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ابقَ معه حتى الاستقرار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الاتصال بالطوارئ في كل حالة لا يعني تجاهل علامات الخطورة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E.10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أخطاء شائعة عند التشنجات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تنتشر بسبب الخوف أو معلومات غير دقيقة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وضع ملعقة في الفم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فتح الفم بالقوة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تقييد المصاب بقوة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صب الماء عليه بعنف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شراب أو طعام قبل الوعي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تجمهر أو تصوير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تركه وحده مباشرة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الهادئ المبني على المعرفة أفضل من محاولات عشوائية تضر المصاب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E.10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 الموجودين في المكان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الاستجابة بشكل أفضل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يبعد المخاطر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يراقب المدة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يتصل بـ 999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يبعد المتجمهرين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يمنع التصوير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يفتح الطريق للإسعاف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يطمئن المصاب بعدها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التعاون المنظم يقلل الفوضى ويحمي المصاب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E.10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عند التشنجات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هدوئك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الأشياء الخطرة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 شيئًا لينًا تحت الرأس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مدة التشنج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ابقَ معه حتى الوعي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الخطورة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وفّر الخصوصية وامنع التجمهر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شيئًا في الفم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تقيّد حركته بالقوة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توقف التشنج بالقوة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ماء أو طعام أثناء النوبة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تحركه إلا عند الخطر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تصور أو تنشر الحالة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 وحده بعد النوبة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E.10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في مكان عام بدأ يعاني من تشنجات والناس تجمعوا حوله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المتجمهرين، أزل الأشياء الخطرة، راقب المدة، واتصل بـ 999 عند الخطورة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أحدهم حاول وضع جسم في فم المصاب أثناء التشنج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امنعه فورًا، لأن وضع أي جسم في الفم تصرف خاطئ وقد يسبب ضررًا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انتهت النوبة لكن المصاب مرتبك ولا يستطيع الوقوف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طمأنه، لا تجبره على الوقوف، راقبه، واتصل بـ 999 إن لم يتحسن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حدثت النوبة بعد سقوط قوي ويشتكي من ألم الرقبة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تحركه، أمّن المكان، واتصل فورًا بـ 999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E.10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أهم إجراء أثناء حدوث التشنج؟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المصاب بإبعاد الأشياء الخطرة ومراقبة حالته دون تقييد حركته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وضع شيء في فم المصاب أثناء التشنج؟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لا يجب وضع أي شيء في فم المصاب أثناء التشنج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يجب الاتصال بـ 999؟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استمرار النوبة طويلًا، أو تكرارها، أو عدم استعادة الوعي، أو حدوث إصابة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بعد انتهاء النوبة؟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طمأنته، مراقبته، عدم إجباره على الوقوف، والبقاء معه حتى يستقر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E.10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الصحيح يعتمد على الهدوء وتأمين المكان وعدم تقييد المصاب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شيئًا في الفم • لا تقيّده • أبعد المخاطر • راقب المدة • اتصل بـ 999 عند الخطورة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"هدوؤك ومعرفتك بالتصرف الصحيح قد يحميان المصاب وقت التشنج"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E.10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1706</Words>
  <Application>Microsoft Office PowerPoint</Application>
  <PresentationFormat>شاشة عريضة</PresentationFormat>
  <Paragraphs>387</Paragraphs>
  <Slides>22</Slides>
  <Notes>22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22</vt:i4>
      </vt:variant>
    </vt:vector>
  </HeadingPairs>
  <TitlesOfParts>
    <vt:vector size="26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التعامل مع التشنجات والصرع</dc:title>
  <dc:subject>PptxGenJS Presentation</dc:subject>
  <dc:creator>هيئة أبوظبي للدفاع المدني</dc:creator>
  <cp:lastModifiedBy>Lenovo</cp:lastModifiedBy>
  <cp:revision>1</cp:revision>
  <dcterms:created xsi:type="dcterms:W3CDTF">2026-05-07T21:08:54Z</dcterms:created>
  <dcterms:modified xsi:type="dcterms:W3CDTF">2026-05-08T00:25:16Z</dcterms:modified>
</cp:coreProperties>
</file>