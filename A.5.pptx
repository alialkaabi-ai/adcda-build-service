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11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8890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4.png"/><Relationship Id="rId5" Type="http://schemas.openxmlformats.org/officeDocument/2006/relationships/image" Target="../media/image17.png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6.png"/><Relationship Id="rId5" Type="http://schemas.openxmlformats.org/officeDocument/2006/relationships/image" Target="../media/image22.png"/><Relationship Id="rId10" Type="http://schemas.openxmlformats.org/officeDocument/2006/relationships/image" Target="../media/image25.png"/><Relationship Id="rId4" Type="http://schemas.openxmlformats.org/officeDocument/2006/relationships/image" Target="../media/image2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26.png"/><Relationship Id="rId5" Type="http://schemas.openxmlformats.org/officeDocument/2006/relationships/image" Target="../media/image28.png"/><Relationship Id="rId10" Type="http://schemas.openxmlformats.org/officeDocument/2006/relationships/image" Target="../media/image27.png"/><Relationship Id="rId4" Type="http://schemas.openxmlformats.org/officeDocument/2006/relationships/image" Target="../media/image2.png"/><Relationship Id="rId9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.png"/><Relationship Id="rId7" Type="http://schemas.openxmlformats.org/officeDocument/2006/relationships/image" Target="../media/image31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11.png"/><Relationship Id="rId10" Type="http://schemas.openxmlformats.org/officeDocument/2006/relationships/image" Target="../media/image34.png"/><Relationship Id="rId4" Type="http://schemas.openxmlformats.org/officeDocument/2006/relationships/image" Target="../media/image2.png"/><Relationship Id="rId9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11" Type="http://schemas.openxmlformats.org/officeDocument/2006/relationships/image" Target="../media/image40.png"/><Relationship Id="rId5" Type="http://schemas.openxmlformats.org/officeDocument/2006/relationships/image" Target="../media/image36.png"/><Relationship Id="rId10" Type="http://schemas.openxmlformats.org/officeDocument/2006/relationships/image" Target="../media/image39.png"/><Relationship Id="rId4" Type="http://schemas.openxmlformats.org/officeDocument/2006/relationships/image" Target="../media/image2.png"/><Relationship Id="rId9" Type="http://schemas.openxmlformats.org/officeDocument/2006/relationships/image" Target="../media/image3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31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11" Type="http://schemas.openxmlformats.org/officeDocument/2006/relationships/image" Target="../media/image30.png"/><Relationship Id="rId5" Type="http://schemas.openxmlformats.org/officeDocument/2006/relationships/image" Target="../media/image41.png"/><Relationship Id="rId10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4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40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17236" y="1325880"/>
            <a:ext cx="1554480" cy="1554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1556" y="1691640"/>
            <a:ext cx="1005840" cy="7772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6576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3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في المختبرات المدرسية</a:t>
            </a:r>
            <a:endParaRPr lang="en-US" sz="3800" dirty="0"/>
          </a:p>
        </p:txBody>
      </p:sp>
      <p:sp>
        <p:nvSpPr>
          <p:cNvPr id="11" name="Text 6"/>
          <p:cNvSpPr/>
          <p:nvPr/>
        </p:nvSpPr>
        <p:spPr>
          <a:xfrm>
            <a:off x="457200" y="45262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8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التجربة الآمنة تبدأ بالالتزام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5637276" y="49834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1188720" y="525780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i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"المختبر بيئة للتعلم والاكتشاف، والالتزام بإرشادات السلامة يحمي الجميع"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5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A.5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نتعلم السلامة في المختبرات؟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أدوات ومواد تتطلب انتباهًا واتباعًا دقيقًا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25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1065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3876" y="3200400"/>
            <a:ext cx="457200" cy="4572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859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16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الطلبة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16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والمعلمين من الإصابات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2711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3351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9876" y="3200400"/>
            <a:ext cx="457200" cy="4572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3145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2802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2802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 الحروق والجروح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997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5637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65876" y="3200400"/>
            <a:ext cx="457200" cy="4572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5431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5088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الأدوات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5088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والأجهزة المختبرية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7283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7923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51876" y="3200400"/>
            <a:ext cx="457200" cy="45720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7717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7374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تنفيذ منظم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7374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للتجارب التعليمية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9569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10209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37876" y="3200400"/>
            <a:ext cx="457200" cy="457200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10003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9660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المسؤولية</a:t>
            </a:r>
            <a:endParaRPr lang="en-US" sz="1400" dirty="0"/>
          </a:p>
        </p:txBody>
      </p:sp>
      <p:sp>
        <p:nvSpPr>
          <p:cNvPr id="39" name="Text 30"/>
          <p:cNvSpPr/>
          <p:nvPr/>
        </p:nvSpPr>
        <p:spPr>
          <a:xfrm>
            <a:off x="9660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والانضباط داخل المختبر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1" name="Text 32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اتباع التعليمات قبل بدء التجربة أهم من سرعة تنفيذها</a:t>
            </a:r>
            <a:endParaRPr lang="ar-AE" sz="1200" dirty="0"/>
          </a:p>
        </p:txBody>
      </p:sp>
      <p:sp>
        <p:nvSpPr>
          <p:cNvPr id="42" name="Shape 33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3" name="Image 7" descr="/home/claude/assets/social_icon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4" name="Shape 34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5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6" name="Shape 36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7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8" name="Shape 38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9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0" name="Shape 40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1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A.5</a:t>
            </a:r>
            <a:endParaRPr lang="en-US" sz="1000" dirty="0"/>
          </a:p>
        </p:txBody>
      </p:sp>
      <p:sp>
        <p:nvSpPr>
          <p:cNvPr id="52" name="Shape 42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3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قبل دخول المختبر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الاستعداد الصحيح يقلل احتمالية وقوع الحوادث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التزم بتوجيهات المعلم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تدخل دون إذن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اربط الشعر الطويل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أطعمة أو مشروبات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أغراض غير مرتبطة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اعرف مخارج الطوارئ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انتبه للوحات التحذير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الانضباط قبل التجربة جزء من سلامة التجربة نفسها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A.5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معدات الحماية الشخصية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للحد من مخاطر التعرض للإصابات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937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509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9576" y="3200400"/>
            <a:ext cx="457200" cy="4572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452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852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النظارات الواقية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852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العينين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236829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282549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4096" y="3200400"/>
            <a:ext cx="457200" cy="4572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261975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245973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القفازات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245973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المناسبة لكل تجربة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24281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70001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8616" y="3200400"/>
            <a:ext cx="457200" cy="4572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449427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433425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المعطف المختبري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433425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الملابس والجلد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11733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57453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3136" y="3200400"/>
            <a:ext cx="457200" cy="45720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636879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620877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الكمامة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620877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عند الحاجة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799185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844905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7656" y="3200400"/>
            <a:ext cx="457200" cy="457200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824331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808329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الأحذية المغلقة</a:t>
            </a:r>
            <a:endParaRPr lang="en-US" sz="1400" dirty="0"/>
          </a:p>
        </p:txBody>
      </p:sp>
      <p:sp>
        <p:nvSpPr>
          <p:cNvPr id="39" name="Text 30"/>
          <p:cNvSpPr/>
          <p:nvPr/>
        </p:nvSpPr>
        <p:spPr>
          <a:xfrm>
            <a:off x="808329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القدمين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98663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103235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52176" y="3200400"/>
            <a:ext cx="457200" cy="457200"/>
          </a:xfrm>
          <a:prstGeom prst="rect">
            <a:avLst/>
          </a:prstGeom>
        </p:spPr>
      </p:pic>
      <p:sp>
        <p:nvSpPr>
          <p:cNvPr id="43" name="Shape 33"/>
          <p:cNvSpPr/>
          <p:nvPr/>
        </p:nvSpPr>
        <p:spPr>
          <a:xfrm>
            <a:off x="101178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99578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واقي الوجه</a:t>
            </a:r>
            <a:endParaRPr lang="en-US" sz="1400" dirty="0"/>
          </a:p>
        </p:txBody>
      </p:sp>
      <p:sp>
        <p:nvSpPr>
          <p:cNvPr id="45" name="Text 35"/>
          <p:cNvSpPr/>
          <p:nvPr/>
        </p:nvSpPr>
        <p:spPr>
          <a:xfrm>
            <a:off x="99578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في تجارب محددة</a:t>
            </a:r>
            <a:endParaRPr lang="en-US" sz="1100" dirty="0"/>
          </a:p>
        </p:txBody>
      </p:sp>
      <p:sp>
        <p:nvSpPr>
          <p:cNvPr id="46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7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معدات الحماية ليست اختيارية عندما يطلبها المعلم</a:t>
            </a:r>
            <a:endParaRPr lang="ar-AE" sz="1200" dirty="0"/>
          </a:p>
        </p:txBody>
      </p:sp>
      <p:sp>
        <p:nvSpPr>
          <p:cNvPr id="48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9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50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52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4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6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7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A.5</a:t>
            </a:r>
            <a:endParaRPr lang="en-US" sz="1000" dirty="0"/>
          </a:p>
        </p:txBody>
      </p:sp>
      <p:sp>
        <p:nvSpPr>
          <p:cNvPr id="58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9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التعامل الآمن مع المواد الكيميائية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تتطلب الحذر والإشراف الدائم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7947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6235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310896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8531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تلمس دون إذن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25983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44271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5596" y="310896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26567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تشم المواد مباشرة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0896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تتذوق أي مادة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902055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20343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86316" y="310896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002639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تخلط عشوائيًا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7947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56235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236" y="457200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38531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اقرأ ملصقات التحذير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325983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344271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25596" y="457200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426567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الكمية المحددة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614019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632307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05956" y="457200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714603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أبعدها عن الوجه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902055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9" name="Shape 28"/>
          <p:cNvSpPr/>
          <p:nvPr/>
        </p:nvSpPr>
        <p:spPr>
          <a:xfrm>
            <a:off x="920343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86316" y="4572000"/>
            <a:ext cx="320040" cy="320040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1002639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الانسكاب</a:t>
            </a:r>
            <a:endParaRPr lang="en-US" sz="1300" dirty="0"/>
          </a:p>
        </p:txBody>
      </p:sp>
      <p:sp>
        <p:nvSpPr>
          <p:cNvPr id="42" name="Shape 30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قاعدة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أي مادة كيميائية إلا بالطريقة التي يشرحها المعلم</a:t>
            </a:r>
            <a:endParaRPr lang="ar-AE" sz="1200" dirty="0"/>
          </a:p>
        </p:txBody>
      </p:sp>
      <p:sp>
        <p:nvSpPr>
          <p:cNvPr id="44" name="Shape 3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10" descr="/home/claude/assets/social_icons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3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3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3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A.5</a:t>
            </a:r>
            <a:endParaRPr lang="en-US" sz="1000" dirty="0"/>
          </a:p>
        </p:txBody>
      </p:sp>
      <p:sp>
        <p:nvSpPr>
          <p:cNvPr id="54" name="Shape 4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التعامل مع الأدوات الزجاجية والحادة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قد تسبب إصابات إذا استُخدمت بطريقة غير آمنة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افحص قبل الاستخدام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زجاجًا متشققًا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احمل الزجاج بحذر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ضع الحادة في أماكنها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توجهها للآخرين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أي كسر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تجمع الزجاج بيدك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الإبلاغ عن الأدوات التالفة يحميك ويحمي زملاءك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A.5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عند استخدام الأجهزة ومصادر الحرارة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تحتاج إلى إشراف دائم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تشغّل دون إذن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 المعلم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التمديدات عن السوائل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تلمس الساخن مباشرة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أدوات الحمل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القابلة للاشتعال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أطفئ بعد الانتهاء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مصادر الحرارة والأجهزة الكهربائية تحتاج إلى إشراف دائم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A.5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السلوك الآمن داخل المختبر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السلوك المنظم يقلل المخاطر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التزم بالهدوء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تركض أو تتحرك بعشوائية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تمزح أثناء التجارب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تلمس أدوات غير مخصصة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حافظ على ترتيب مساحتك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تتنقل بين المجموعات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التعليمات خطوة بخطوة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المختبر ليس مكانًا للمزاح أو التجربة العشوائية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A.5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عند حدوث انسكاب أو كسر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 يمنع تفاقم الخطر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توقف عن العمل فورًا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عن موقع الانسكاب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المعلم مباشرة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تلمس المادة المنسكبة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تجمع الزجاج بيدك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امنع الآخرين من الاقتراب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 المعلم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الإبلاغ السريع أفضل من محاولة معالجة الموقف دون معرفة</a:t>
            </a:r>
            <a:endParaRPr lang="ar-AE" sz="1200" dirty="0"/>
          </a:p>
        </p:txBody>
      </p:sp>
      <p:sp>
        <p:nvSpPr>
          <p:cNvPr id="40" name="Shape 3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A.5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معدات السلامة داخل المختبر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تُستخدم إلا بتوجيه من المعلم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طفاية الحريق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بطانية الحريق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دش الطوارئ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غسالة العين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صندوق الإسعافات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مخارج الطوارئ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لوحات الإرشاد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معدات السلامة وُضعت للاستخدام وقت الحاجة فقط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A.5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عند حدوث إصابة؟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 بسرعة وهدوء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المعلم فورًا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22783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31012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310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22783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عن مصدر الخطر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84962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93192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931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84962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تحاول العلاج دون توجيه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تلمس الأدوات المسببة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322783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331012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3310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322783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 الممرض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84962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93192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931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84962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في الحالات الطارئة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الإبلاغ الفوري يساعد في تقديم المساعدة المناسبة بسرعة</a:t>
            </a:r>
            <a:endParaRPr lang="ar-AE" sz="1200" dirty="0"/>
          </a:p>
        </p:txBody>
      </p:sp>
      <p:sp>
        <p:nvSpPr>
          <p:cNvPr id="36" name="Shape 3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3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A.5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ولا تفعل في المختبر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ممارسات صحيحة وأخرى يجب تجنّبها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153912" y="2606040"/>
            <a:ext cx="5577840" cy="5029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 ✓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11320272" y="3319272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1320272" y="3319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336792" y="3246120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 المعلم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1320272" y="384048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1320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336792" y="3767328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معدات الحماية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11320272" y="4361688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1320272" y="4361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336792" y="4288536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اقرأ ملصقات التحذير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11320272" y="488289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1320272" y="4882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336792" y="4809744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حافظ على ترتيب مساحتك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11320272" y="5404104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1320272" y="5404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336792" y="5330952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الانسكابات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11320272" y="5925312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1320272" y="5925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336792" y="5852160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اعرف مخارج الطوارئ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457200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457200" y="2606040"/>
            <a:ext cx="5577840" cy="502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3" name="Text 29"/>
          <p:cNvSpPr/>
          <p:nvPr/>
        </p:nvSpPr>
        <p:spPr>
          <a:xfrm>
            <a:off x="640080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تفعل  ✕</a:t>
            </a:r>
            <a:endParaRPr lang="en-US" sz="1800" dirty="0"/>
          </a:p>
        </p:txBody>
      </p:sp>
      <p:sp>
        <p:nvSpPr>
          <p:cNvPr id="34" name="Shape 30"/>
          <p:cNvSpPr/>
          <p:nvPr/>
        </p:nvSpPr>
        <p:spPr>
          <a:xfrm>
            <a:off x="5623560" y="3319272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5623560" y="3319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640080" y="3246120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تدخل المختبر دون إذن</a:t>
            </a:r>
            <a:endParaRPr lang="en-US" sz="1300" dirty="0"/>
          </a:p>
        </p:txBody>
      </p:sp>
      <p:sp>
        <p:nvSpPr>
          <p:cNvPr id="37" name="Shape 33"/>
          <p:cNvSpPr/>
          <p:nvPr/>
        </p:nvSpPr>
        <p:spPr>
          <a:xfrm>
            <a:off x="5623560" y="384048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623560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40080" y="3767328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تلمس المواد عشوائيًا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5623560" y="4361688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623560" y="4361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640080" y="4288536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تشم أو تتذوق المواد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5623560" y="488289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623560" y="4882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640080" y="4809744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تخلط دون توجيه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>
            <a:off x="5623560" y="5404104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623560" y="5404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640080" y="5330952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تركض أو تمزح</a:t>
            </a:r>
            <a:endParaRPr lang="en-US" sz="1300" dirty="0"/>
          </a:p>
        </p:txBody>
      </p:sp>
      <p:sp>
        <p:nvSpPr>
          <p:cNvPr id="49" name="Shape 45"/>
          <p:cNvSpPr/>
          <p:nvPr/>
        </p:nvSpPr>
        <p:spPr>
          <a:xfrm>
            <a:off x="5623560" y="5925312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5623560" y="5925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640080" y="5852160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المعدات دون توجيه</a:t>
            </a:r>
            <a:endParaRPr lang="en-US" sz="1300" dirty="0"/>
          </a:p>
        </p:txBody>
      </p:sp>
      <p:sp>
        <p:nvSpPr>
          <p:cNvPr id="52" name="Shape 4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53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54" name="Shape 4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56" name="Shape 5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7" name="Text 5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8" name="Shape 5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60" name="Shape 5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A.5</a:t>
            </a:r>
            <a:endParaRPr lang="en-US" sz="1000" dirty="0"/>
          </a:p>
        </p:txBody>
      </p:sp>
      <p:sp>
        <p:nvSpPr>
          <p:cNvPr id="62" name="Shape 5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سيناريوهات تفاعلية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تطبيق عملي لما تعلمته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336792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1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525512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انسكبت مادة على طاولة المختبر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36792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73952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عن الموقع وأبلغ المعلم فورًا</a:t>
            </a:r>
            <a:endParaRPr lang="ar-AE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8" name="Text 14"/>
          <p:cNvSpPr/>
          <p:nvPr/>
        </p:nvSpPr>
        <p:spPr>
          <a:xfrm>
            <a:off x="640080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2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828800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لاحظت أن أداة زجاجية متشققة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40080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77240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تستخدمها، وأبلغ المعلم أو فني المختبر</a:t>
            </a:r>
            <a:endParaRPr lang="ar-AE" sz="1200" dirty="0"/>
          </a:p>
        </p:txBody>
      </p:sp>
      <p:sp>
        <p:nvSpPr>
          <p:cNvPr id="22" name="Shape 18"/>
          <p:cNvSpPr/>
          <p:nvPr/>
        </p:nvSpPr>
        <p:spPr>
          <a:xfrm>
            <a:off x="6153912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336792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6336792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3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7525512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زميلك يحاول خلط مواد دون إذن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6336792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473952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تجنّب المشاركة، وأبلغ المعلم</a:t>
            </a:r>
            <a:endParaRPr lang="ar-AE" sz="1200" dirty="0"/>
          </a:p>
        </p:txBody>
      </p:sp>
      <p:sp>
        <p:nvSpPr>
          <p:cNvPr id="28" name="Shape 24"/>
          <p:cNvSpPr/>
          <p:nvPr/>
        </p:nvSpPr>
        <p:spPr>
          <a:xfrm>
            <a:off x="457200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40080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30" name="Text 26"/>
          <p:cNvSpPr/>
          <p:nvPr/>
        </p:nvSpPr>
        <p:spPr>
          <a:xfrm>
            <a:off x="640080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4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828800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شعرت بتهيج في العين أثناء التجربة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640080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77240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المعلم فورًا واتبع تعليمات غسالة العين</a:t>
            </a:r>
            <a:endParaRPr lang="ar-AE" sz="1200" dirty="0"/>
          </a:p>
        </p:txBody>
      </p:sp>
      <p:sp>
        <p:nvSpPr>
          <p:cNvPr id="34" name="Shape 3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A.5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اختبر معلوماتك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أسئلة سريعة لتقييم فهمك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201400" y="2706624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2770632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0080" y="2651760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س1: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يجوز لمس المواد الكيميائية دون إذن؟</a:t>
            </a:r>
            <a:endParaRPr lang="ar-AE" sz="1300" dirty="0"/>
          </a:p>
        </p:txBody>
      </p:sp>
      <p:sp>
        <p:nvSpPr>
          <p:cNvPr id="14" name="Text 9"/>
          <p:cNvSpPr/>
          <p:nvPr/>
        </p:nvSpPr>
        <p:spPr>
          <a:xfrm>
            <a:off x="640080" y="2898648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لا، يجب استخدامها فقط بتوجيه من المعلم</a:t>
            </a:r>
            <a:endParaRPr lang="ar-AE" sz="1100" dirty="0"/>
          </a:p>
        </p:txBody>
      </p:sp>
      <p:sp>
        <p:nvSpPr>
          <p:cNvPr id="15" name="Shape 10"/>
          <p:cNvSpPr/>
          <p:nvPr/>
        </p:nvSpPr>
        <p:spPr>
          <a:xfrm>
            <a:off x="457200" y="3209544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1201400" y="3310128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3374136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080" y="3255264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س2: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عند كسر أداة زجاجية؟</a:t>
            </a:r>
            <a:endParaRPr lang="ar-AE" sz="1300" dirty="0"/>
          </a:p>
        </p:txBody>
      </p:sp>
      <p:sp>
        <p:nvSpPr>
          <p:cNvPr id="19" name="Text 13"/>
          <p:cNvSpPr/>
          <p:nvPr/>
        </p:nvSpPr>
        <p:spPr>
          <a:xfrm>
            <a:off x="640080" y="3502152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أبتعد وأبلغ المعلم، ولا أجمع الزجاج بيدي</a:t>
            </a:r>
            <a:endParaRPr lang="ar-AE" sz="1100" dirty="0"/>
          </a:p>
        </p:txBody>
      </p:sp>
      <p:sp>
        <p:nvSpPr>
          <p:cNvPr id="20" name="Shape 14"/>
          <p:cNvSpPr/>
          <p:nvPr/>
        </p:nvSpPr>
        <p:spPr>
          <a:xfrm>
            <a:off x="457200" y="3813048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1201400" y="3913632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3977640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0080" y="3858768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س3: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يجوز إدخال الطعام أو الشراب للمختبر؟</a:t>
            </a:r>
            <a:endParaRPr lang="ar-AE" sz="1300" dirty="0"/>
          </a:p>
        </p:txBody>
      </p:sp>
      <p:sp>
        <p:nvSpPr>
          <p:cNvPr id="24" name="Text 17"/>
          <p:cNvSpPr/>
          <p:nvPr/>
        </p:nvSpPr>
        <p:spPr>
          <a:xfrm>
            <a:off x="640080" y="4105656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لا، حفاظًا على السلامة والنظافة</a:t>
            </a:r>
            <a:endParaRPr lang="ar-AE" sz="1100" dirty="0"/>
          </a:p>
        </p:txBody>
      </p:sp>
      <p:sp>
        <p:nvSpPr>
          <p:cNvPr id="25" name="Shape 18"/>
          <p:cNvSpPr/>
          <p:nvPr/>
        </p:nvSpPr>
        <p:spPr>
          <a:xfrm>
            <a:off x="457200" y="4416552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11201400" y="4517136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4581144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40080" y="4462272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س4: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نستخدم معدات الحماية الشخصية؟</a:t>
            </a:r>
            <a:endParaRPr lang="ar-AE" sz="1300" dirty="0"/>
          </a:p>
        </p:txBody>
      </p:sp>
      <p:sp>
        <p:nvSpPr>
          <p:cNvPr id="29" name="Text 21"/>
          <p:cNvSpPr/>
          <p:nvPr/>
        </p:nvSpPr>
        <p:spPr>
          <a:xfrm>
            <a:off x="640080" y="4709160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للحد من التعرض للإصابات أثناء التجارب</a:t>
            </a:r>
            <a:endParaRPr lang="ar-AE" sz="1100" dirty="0"/>
          </a:p>
        </p:txBody>
      </p:sp>
      <p:sp>
        <p:nvSpPr>
          <p:cNvPr id="30" name="Shape 22"/>
          <p:cNvSpPr/>
          <p:nvPr/>
        </p:nvSpPr>
        <p:spPr>
          <a:xfrm>
            <a:off x="457200" y="5020056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11201400" y="5120640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5184648"/>
            <a:ext cx="237744" cy="237744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40080" y="5065776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س5: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إذا لاحظت خطرًا في المختبر؟</a:t>
            </a:r>
            <a:endParaRPr lang="ar-AE" sz="1300" dirty="0"/>
          </a:p>
        </p:txBody>
      </p:sp>
      <p:sp>
        <p:nvSpPr>
          <p:cNvPr id="34" name="Text 25"/>
          <p:cNvSpPr/>
          <p:nvPr/>
        </p:nvSpPr>
        <p:spPr>
          <a:xfrm>
            <a:off x="640080" y="5312664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أبتعد عن الخطر وأبلغ المعلم فورًا</a:t>
            </a:r>
            <a:endParaRPr lang="ar-AE" sz="1100" dirty="0"/>
          </a:p>
        </p:txBody>
      </p:sp>
      <p:sp>
        <p:nvSpPr>
          <p:cNvPr id="35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6" name="Image 7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7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8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9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0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1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2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3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A.5</a:t>
            </a:r>
            <a:endParaRPr lang="en-US" sz="1000" dirty="0"/>
          </a:p>
        </p:txBody>
      </p:sp>
      <p:sp>
        <p:nvSpPr>
          <p:cNvPr id="45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6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62956" y="1280160"/>
            <a:ext cx="1463040" cy="146304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7276" y="1691640"/>
            <a:ext cx="914400" cy="6858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4747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4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شكرًا لكم</a:t>
            </a:r>
            <a:endParaRPr lang="en-US" sz="4400" dirty="0"/>
          </a:p>
        </p:txBody>
      </p:sp>
      <p:sp>
        <p:nvSpPr>
          <p:cNvPr id="11" name="Text 6"/>
          <p:cNvSpPr/>
          <p:nvPr/>
        </p:nvSpPr>
        <p:spPr>
          <a:xfrm>
            <a:off x="457200" y="4297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7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في المختبر مسؤولية الجميع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5637276" y="47548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تدخل دون إذن • اتبع التعليمات • معدات الحماية • لا تخلط المواد • أبلغ عن الخطر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2286000" y="5440680"/>
            <a:ext cx="7589520" cy="685800"/>
          </a:xfrm>
          <a:prstGeom prst="roundRect">
            <a:avLst>
              <a:gd name="adj" fmla="val 6667"/>
            </a:avLst>
          </a:prstGeom>
          <a:solidFill>
            <a:srgbClr val="EEF3FA"/>
          </a:solidFill>
          <a:ln w="9525">
            <a:solidFill>
              <a:srgbClr val="0B4EA2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2286000" y="54406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i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"التجربة الناجحة هي التجربة التي تنتهي بتعلّم آمن"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7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A.5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1066</Words>
  <Application>Microsoft Office PowerPoint</Application>
  <PresentationFormat>شاشة عريضة</PresentationFormat>
  <Paragraphs>272</Paragraphs>
  <Slides>15</Slides>
  <Notes>15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15</vt:i4>
      </vt:variant>
    </vt:vector>
  </HeadingPairs>
  <TitlesOfParts>
    <vt:vector size="19" baseType="lpstr">
      <vt:lpstr>Arial</vt:lpstr>
      <vt:lpstr>Calibri</vt:lpstr>
      <vt:lpstr>Tajawal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السلامة في المختبرات المدرسية</dc:title>
  <dc:subject>PptxGenJS Presentation</dc:subject>
  <dc:creator>هيئة أبوظبي للدفاع المدني</dc:creator>
  <cp:lastModifiedBy>Lenovo</cp:lastModifiedBy>
  <cp:revision>1</cp:revision>
  <dcterms:created xsi:type="dcterms:W3CDTF">2026-05-06T11:25:23Z</dcterms:created>
  <dcterms:modified xsi:type="dcterms:W3CDTF">2026-05-06T12:32:22Z</dcterms:modified>
</cp:coreProperties>
</file>