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7" d="100"/>
          <a:sy n="97" d="100"/>
        </p:scale>
        <p:origin x="115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0488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4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2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.png"/><Relationship Id="rId7" Type="http://schemas.openxmlformats.org/officeDocument/2006/relationships/image" Target="../media/image13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2.png"/><Relationship Id="rId9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.png"/><Relationship Id="rId7" Type="http://schemas.openxmlformats.org/officeDocument/2006/relationships/image" Target="../media/image19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11" Type="http://schemas.openxmlformats.org/officeDocument/2006/relationships/image" Target="../media/image14.png"/><Relationship Id="rId5" Type="http://schemas.openxmlformats.org/officeDocument/2006/relationships/image" Target="../media/image13.png"/><Relationship Id="rId10" Type="http://schemas.openxmlformats.org/officeDocument/2006/relationships/image" Target="../media/image22.png"/><Relationship Id="rId4" Type="http://schemas.openxmlformats.org/officeDocument/2006/relationships/image" Target="../media/image2.png"/><Relationship Id="rId9" Type="http://schemas.openxmlformats.org/officeDocument/2006/relationships/image" Target="../media/image2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.png"/><Relationship Id="rId7" Type="http://schemas.openxmlformats.org/officeDocument/2006/relationships/image" Target="../media/image16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11" Type="http://schemas.openxmlformats.org/officeDocument/2006/relationships/image" Target="../media/image26.png"/><Relationship Id="rId5" Type="http://schemas.openxmlformats.org/officeDocument/2006/relationships/image" Target="../media/image12.png"/><Relationship Id="rId10" Type="http://schemas.openxmlformats.org/officeDocument/2006/relationships/image" Target="../media/image25.png"/><Relationship Id="rId4" Type="http://schemas.openxmlformats.org/officeDocument/2006/relationships/image" Target="../media/image2.png"/><Relationship Id="rId9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1.png"/><Relationship Id="rId7" Type="http://schemas.openxmlformats.org/officeDocument/2006/relationships/image" Target="../media/image16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11" Type="http://schemas.openxmlformats.org/officeDocument/2006/relationships/image" Target="../media/image14.png"/><Relationship Id="rId5" Type="http://schemas.openxmlformats.org/officeDocument/2006/relationships/image" Target="../media/image12.png"/><Relationship Id="rId10" Type="http://schemas.openxmlformats.org/officeDocument/2006/relationships/image" Target="../media/image30.png"/><Relationship Id="rId4" Type="http://schemas.openxmlformats.org/officeDocument/2006/relationships/image" Target="../media/image2.png"/><Relationship Id="rId9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1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11" Type="http://schemas.openxmlformats.org/officeDocument/2006/relationships/image" Target="../media/image4.png"/><Relationship Id="rId5" Type="http://schemas.openxmlformats.org/officeDocument/2006/relationships/image" Target="../media/image12.png"/><Relationship Id="rId10" Type="http://schemas.openxmlformats.org/officeDocument/2006/relationships/image" Target="../media/image16.png"/><Relationship Id="rId4" Type="http://schemas.openxmlformats.org/officeDocument/2006/relationships/image" Target="../media/image2.png"/><Relationship Id="rId9" Type="http://schemas.openxmlformats.org/officeDocument/2006/relationships/image" Target="../media/image28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1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11" Type="http://schemas.openxmlformats.org/officeDocument/2006/relationships/image" Target="../media/image4.png"/><Relationship Id="rId5" Type="http://schemas.openxmlformats.org/officeDocument/2006/relationships/image" Target="../media/image33.png"/><Relationship Id="rId10" Type="http://schemas.openxmlformats.org/officeDocument/2006/relationships/image" Target="../media/image38.png"/><Relationship Id="rId4" Type="http://schemas.openxmlformats.org/officeDocument/2006/relationships/image" Target="../media/image2.png"/><Relationship Id="rId9" Type="http://schemas.openxmlformats.org/officeDocument/2006/relationships/image" Target="../media/image37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13" Type="http://schemas.openxmlformats.org/officeDocument/2006/relationships/image" Target="../media/image4.png"/><Relationship Id="rId3" Type="http://schemas.openxmlformats.org/officeDocument/2006/relationships/image" Target="../media/image1.png"/><Relationship Id="rId7" Type="http://schemas.openxmlformats.org/officeDocument/2006/relationships/image" Target="../media/image16.png"/><Relationship Id="rId12" Type="http://schemas.openxmlformats.org/officeDocument/2006/relationships/image" Target="../media/image2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.png"/><Relationship Id="rId11" Type="http://schemas.openxmlformats.org/officeDocument/2006/relationships/image" Target="../media/image14.png"/><Relationship Id="rId5" Type="http://schemas.openxmlformats.org/officeDocument/2006/relationships/image" Target="../media/image32.png"/><Relationship Id="rId10" Type="http://schemas.openxmlformats.org/officeDocument/2006/relationships/image" Target="../media/image31.png"/><Relationship Id="rId4" Type="http://schemas.openxmlformats.org/officeDocument/2006/relationships/image" Target="../media/image2.png"/><Relationship Id="rId9" Type="http://schemas.openxmlformats.org/officeDocument/2006/relationships/image" Target="../media/image41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1.png"/><Relationship Id="rId7" Type="http://schemas.openxmlformats.org/officeDocument/2006/relationships/image" Target="../media/image26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11" Type="http://schemas.openxmlformats.org/officeDocument/2006/relationships/image" Target="../media/image14.png"/><Relationship Id="rId5" Type="http://schemas.openxmlformats.org/officeDocument/2006/relationships/image" Target="../media/image16.png"/><Relationship Id="rId10" Type="http://schemas.openxmlformats.org/officeDocument/2006/relationships/image" Target="../media/image40.png"/><Relationship Id="rId4" Type="http://schemas.openxmlformats.org/officeDocument/2006/relationships/image" Target="../media/image2.png"/><Relationship Id="rId9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2.png"/><Relationship Id="rId5" Type="http://schemas.openxmlformats.org/officeDocument/2006/relationships/image" Target="../media/image17.png"/><Relationship Id="rId4" Type="http://schemas.openxmlformats.org/officeDocument/2006/relationships/image" Target="../media/image2.png"/><Relationship Id="rId9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28.png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Shape 3"/>
          <p:cNvSpPr/>
          <p:nvPr/>
        </p:nvSpPr>
        <p:spPr>
          <a:xfrm>
            <a:off x="5088636" y="1097280"/>
            <a:ext cx="2011680" cy="2011680"/>
          </a:xfrm>
          <a:prstGeom prst="ellipse">
            <a:avLst/>
          </a:prstGeom>
          <a:solidFill>
            <a:srgbClr val="DCE7F5">
              <a:alpha val="50000"/>
            </a:srgbClr>
          </a:solidFill>
          <a:ln/>
        </p:spPr>
      </p:sp>
      <p:sp>
        <p:nvSpPr>
          <p:cNvPr id="8" name="Shape 4"/>
          <p:cNvSpPr/>
          <p:nvPr/>
        </p:nvSpPr>
        <p:spPr>
          <a:xfrm>
            <a:off x="5317236" y="1325880"/>
            <a:ext cx="1554480" cy="155448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91556" y="1600200"/>
            <a:ext cx="1005840" cy="100584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57200" y="365760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3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الإخلاء الآمن في مكان العمل</a:t>
            </a:r>
            <a:endParaRPr lang="en-US" sz="3800" dirty="0"/>
          </a:p>
        </p:txBody>
      </p:sp>
      <p:sp>
        <p:nvSpPr>
          <p:cNvPr id="11" name="Text 6"/>
          <p:cNvSpPr/>
          <p:nvPr/>
        </p:nvSpPr>
        <p:spPr>
          <a:xfrm>
            <a:off x="457200" y="452628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8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التزام الموظفين أساس سلامة المنشأة</a:t>
            </a:r>
            <a:endParaRPr lang="en-US" sz="1800" dirty="0"/>
          </a:p>
        </p:txBody>
      </p:sp>
      <p:sp>
        <p:nvSpPr>
          <p:cNvPr id="12" name="Shape 7"/>
          <p:cNvSpPr/>
          <p:nvPr/>
        </p:nvSpPr>
        <p:spPr>
          <a:xfrm>
            <a:off x="5637276" y="4983480"/>
            <a:ext cx="914400" cy="0"/>
          </a:xfrm>
          <a:prstGeom prst="line">
            <a:avLst/>
          </a:prstGeom>
          <a:noFill/>
          <a:ln w="25400">
            <a:solidFill>
              <a:srgbClr val="0B4EA2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1371600" y="5257800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300" i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"الإخلاء الآمن في مكان العمل يعتمد على الهدوء، الالتزام بالتعليمات، ومعرفة مسارات الخروج ونقطة التجمع"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15" name="Image 3" descr="/home/claude/assets/social_icon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17" name="Text 1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18" name="Shape 1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F.4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لماذا نتعلم الإخلاء في مكان العمل؟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الطوارئ قد تحدث بشكل مفاجئ، والاستعداد ينقذ الأرواح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49377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5097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79576" y="3200400"/>
            <a:ext cx="457200" cy="457200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74523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58521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حماية الجميع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58521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الموظفين والزوار والمتعاملين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236829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282549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54096" y="3200400"/>
            <a:ext cx="457200" cy="457200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261975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20" name="Text 14"/>
          <p:cNvSpPr/>
          <p:nvPr/>
        </p:nvSpPr>
        <p:spPr>
          <a:xfrm>
            <a:off x="245973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تقليل الإصابات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245973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أثناء الطوارئ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424281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470001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28616" y="3200400"/>
            <a:ext cx="457200" cy="457200"/>
          </a:xfrm>
          <a:prstGeom prst="rect">
            <a:avLst/>
          </a:prstGeom>
        </p:spPr>
      </p:pic>
      <p:sp>
        <p:nvSpPr>
          <p:cNvPr id="25" name="Shape 18"/>
          <p:cNvSpPr/>
          <p:nvPr/>
        </p:nvSpPr>
        <p:spPr>
          <a:xfrm>
            <a:off x="449427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26" name="Text 19"/>
          <p:cNvSpPr/>
          <p:nvPr/>
        </p:nvSpPr>
        <p:spPr>
          <a:xfrm>
            <a:off x="433425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تنظيم الخروج</a:t>
            </a:r>
            <a:endParaRPr lang="en-US" sz="1400" dirty="0"/>
          </a:p>
        </p:txBody>
      </p:sp>
      <p:sp>
        <p:nvSpPr>
          <p:cNvPr id="27" name="Text 20"/>
          <p:cNvSpPr/>
          <p:nvPr/>
        </p:nvSpPr>
        <p:spPr>
          <a:xfrm>
            <a:off x="433425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حركة منظمة من المنشأة</a:t>
            </a:r>
            <a:endParaRPr lang="en-US" sz="1100" dirty="0"/>
          </a:p>
        </p:txBody>
      </p:sp>
      <p:sp>
        <p:nvSpPr>
          <p:cNvPr id="28" name="Shape 21"/>
          <p:cNvSpPr/>
          <p:nvPr/>
        </p:nvSpPr>
        <p:spPr>
          <a:xfrm>
            <a:off x="611733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657453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03136" y="3200400"/>
            <a:ext cx="457200" cy="457200"/>
          </a:xfrm>
          <a:prstGeom prst="rect">
            <a:avLst/>
          </a:prstGeom>
        </p:spPr>
      </p:pic>
      <p:sp>
        <p:nvSpPr>
          <p:cNvPr id="31" name="Shape 23"/>
          <p:cNvSpPr/>
          <p:nvPr/>
        </p:nvSpPr>
        <p:spPr>
          <a:xfrm>
            <a:off x="636879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32" name="Text 24"/>
          <p:cNvSpPr/>
          <p:nvPr/>
        </p:nvSpPr>
        <p:spPr>
          <a:xfrm>
            <a:off x="620877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دعم الطوارئ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620877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تسهيل عمل فرق الإطفاء</a:t>
            </a:r>
            <a:endParaRPr lang="en-US" sz="1100" dirty="0"/>
          </a:p>
        </p:txBody>
      </p:sp>
      <p:sp>
        <p:nvSpPr>
          <p:cNvPr id="34" name="Shape 26"/>
          <p:cNvSpPr/>
          <p:nvPr/>
        </p:nvSpPr>
        <p:spPr>
          <a:xfrm>
            <a:off x="799185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844905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77656" y="3200400"/>
            <a:ext cx="457200" cy="457200"/>
          </a:xfrm>
          <a:prstGeom prst="rect">
            <a:avLst/>
          </a:prstGeom>
        </p:spPr>
      </p:pic>
      <p:sp>
        <p:nvSpPr>
          <p:cNvPr id="37" name="Shape 28"/>
          <p:cNvSpPr/>
          <p:nvPr/>
        </p:nvSpPr>
        <p:spPr>
          <a:xfrm>
            <a:off x="824331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38" name="Text 29"/>
          <p:cNvSpPr/>
          <p:nvPr/>
        </p:nvSpPr>
        <p:spPr>
          <a:xfrm>
            <a:off x="808329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منع التدافع</a:t>
            </a:r>
            <a:endParaRPr lang="en-US" sz="1400" dirty="0"/>
          </a:p>
        </p:txBody>
      </p:sp>
      <p:sp>
        <p:nvSpPr>
          <p:cNvPr id="39" name="Text 30"/>
          <p:cNvSpPr/>
          <p:nvPr/>
        </p:nvSpPr>
        <p:spPr>
          <a:xfrm>
            <a:off x="808329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تجنب الارتباك والفوضى</a:t>
            </a:r>
            <a:endParaRPr lang="en-US" sz="1100" dirty="0"/>
          </a:p>
        </p:txBody>
      </p:sp>
      <p:sp>
        <p:nvSpPr>
          <p:cNvPr id="40" name="Shape 31"/>
          <p:cNvSpPr/>
          <p:nvPr/>
        </p:nvSpPr>
        <p:spPr>
          <a:xfrm>
            <a:off x="986637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41" name="Shape 32"/>
          <p:cNvSpPr/>
          <p:nvPr/>
        </p:nvSpPr>
        <p:spPr>
          <a:xfrm>
            <a:off x="1032357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4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552176" y="3200400"/>
            <a:ext cx="457200" cy="457200"/>
          </a:xfrm>
          <a:prstGeom prst="rect">
            <a:avLst/>
          </a:prstGeom>
        </p:spPr>
      </p:pic>
      <p:sp>
        <p:nvSpPr>
          <p:cNvPr id="43" name="Shape 33"/>
          <p:cNvSpPr/>
          <p:nvPr/>
        </p:nvSpPr>
        <p:spPr>
          <a:xfrm>
            <a:off x="1011783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44" name="Text 34"/>
          <p:cNvSpPr/>
          <p:nvPr/>
        </p:nvSpPr>
        <p:spPr>
          <a:xfrm>
            <a:off x="995781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نقطة التجمع</a:t>
            </a:r>
            <a:endParaRPr lang="en-US" sz="1400" dirty="0"/>
          </a:p>
        </p:txBody>
      </p:sp>
      <p:sp>
        <p:nvSpPr>
          <p:cNvPr id="45" name="Text 35"/>
          <p:cNvSpPr/>
          <p:nvPr/>
        </p:nvSpPr>
        <p:spPr>
          <a:xfrm>
            <a:off x="995781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التأكد من سلامة الجميع</a:t>
            </a:r>
            <a:endParaRPr lang="en-US" sz="1100" dirty="0"/>
          </a:p>
        </p:txBody>
      </p:sp>
      <p:sp>
        <p:nvSpPr>
          <p:cNvPr id="46" name="Shape 36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47" name="Text 37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تذكَّر: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معرفة خطة الإخلاء قبل الطوارئ تساعد على التصرف الصحيح عند الحاجة</a:t>
            </a:r>
            <a:endParaRPr lang="ar-AE" sz="1200" dirty="0"/>
          </a:p>
        </p:txBody>
      </p:sp>
      <p:sp>
        <p:nvSpPr>
          <p:cNvPr id="48" name="Shape 38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9" name="Image 8" descr="/home/claude/assets/social_icon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50" name="Shape 39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40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52" name="Shape 41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3" name="Text 42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54" name="Shape 43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5" name="Text 44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56" name="Shape 45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7" name="Text 46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F.4</a:t>
            </a:r>
            <a:endParaRPr lang="en-US" sz="1000" dirty="0"/>
          </a:p>
        </p:txBody>
      </p:sp>
      <p:sp>
        <p:nvSpPr>
          <p:cNvPr id="58" name="Shape 47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9" name="Text 48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ما المقصود بالإخلاء الآمن في مكان العمل؟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خروج منظم إلى نقطة التجمع وفق خطة معتمدة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معرفة مخارج الطوارئ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الالتزام بمسارات الإخلاء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الاستجابة الفورية للإنذار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اتباع تعليمات السلامة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227685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ترك الأغراض الشخصية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عدم استخدام المصاعد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767181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66344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البقاء في نقطة التجمع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الإخلاء ليس خروجًا عشوائيًا، بل عملية منظمة لحماية الأرواح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F.4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متى يتم الإخلاء؟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حالات تستدعي مغادرة المنشأة فورًا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إنذار الحريق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دخان أو احتراق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نشوب حريق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تسرب غاز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227685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خلل في سلامة المبنى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حادث داخل المنشأة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767181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66344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توجيه رسمي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تذكَّر: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تنتظر رؤية الخطر بنفسك — اتبع توجيهات الإخلاء فورًا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F.4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عند سماع جهاز الإنذار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تعامل بجدية ولا تفترض أنه تجربة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199632" y="2606040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11347704" y="2688336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12" name="Text 8"/>
          <p:cNvSpPr/>
          <p:nvPr/>
        </p:nvSpPr>
        <p:spPr>
          <a:xfrm>
            <a:off x="11347704" y="2688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6336792" y="2606040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توقف فورًا عن العمل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199632" y="3182112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11347704" y="3264408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16" name="Text 12"/>
          <p:cNvSpPr/>
          <p:nvPr/>
        </p:nvSpPr>
        <p:spPr>
          <a:xfrm>
            <a:off x="11347704" y="32644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6336792" y="3182112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حافظ على الهدوء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6199632" y="3758184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11347704" y="3840480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20" name="Text 16"/>
          <p:cNvSpPr/>
          <p:nvPr/>
        </p:nvSpPr>
        <p:spPr>
          <a:xfrm>
            <a:off x="11347704" y="3840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6336792" y="3758184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أوقف الأجهزة إن كان آمنًا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6199632" y="4334256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11347704" y="4416552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24" name="Text 20"/>
          <p:cNvSpPr/>
          <p:nvPr/>
        </p:nvSpPr>
        <p:spPr>
          <a:xfrm>
            <a:off x="11347704" y="44165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6336792" y="4334256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اترك الأغراض الشخصية</a:t>
            </a:r>
            <a:endParaRPr lang="en-US" sz="1300" dirty="0"/>
          </a:p>
        </p:txBody>
      </p:sp>
      <p:sp>
        <p:nvSpPr>
          <p:cNvPr id="26" name="Shape 22"/>
          <p:cNvSpPr/>
          <p:nvPr/>
        </p:nvSpPr>
        <p:spPr>
          <a:xfrm>
            <a:off x="457200" y="2606040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5605272" y="2688336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28" name="Text 24"/>
          <p:cNvSpPr/>
          <p:nvPr/>
        </p:nvSpPr>
        <p:spPr>
          <a:xfrm>
            <a:off x="5605272" y="2688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100" dirty="0"/>
          </a:p>
        </p:txBody>
      </p:sp>
      <p:sp>
        <p:nvSpPr>
          <p:cNvPr id="29" name="Text 25"/>
          <p:cNvSpPr/>
          <p:nvPr/>
        </p:nvSpPr>
        <p:spPr>
          <a:xfrm>
            <a:off x="594360" y="2606040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اتبع أقرب مسار إخلاء</a:t>
            </a:r>
            <a:endParaRPr lang="en-US" sz="1300" dirty="0"/>
          </a:p>
        </p:txBody>
      </p:sp>
      <p:sp>
        <p:nvSpPr>
          <p:cNvPr id="30" name="Shape 26"/>
          <p:cNvSpPr/>
          <p:nvPr/>
        </p:nvSpPr>
        <p:spPr>
          <a:xfrm>
            <a:off x="457200" y="3182112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5605272" y="3264408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32" name="Text 28"/>
          <p:cNvSpPr/>
          <p:nvPr/>
        </p:nvSpPr>
        <p:spPr>
          <a:xfrm>
            <a:off x="5605272" y="32644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100" dirty="0"/>
          </a:p>
        </p:txBody>
      </p:sp>
      <p:sp>
        <p:nvSpPr>
          <p:cNvPr id="33" name="Text 29"/>
          <p:cNvSpPr/>
          <p:nvPr/>
        </p:nvSpPr>
        <p:spPr>
          <a:xfrm>
            <a:off x="594360" y="3182112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تستخدم المصعد</a:t>
            </a:r>
            <a:endParaRPr lang="en-US" sz="1300" dirty="0"/>
          </a:p>
        </p:txBody>
      </p:sp>
      <p:sp>
        <p:nvSpPr>
          <p:cNvPr id="34" name="Shape 30"/>
          <p:cNvSpPr/>
          <p:nvPr/>
        </p:nvSpPr>
        <p:spPr>
          <a:xfrm>
            <a:off x="457200" y="3758184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5605272" y="3840480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36" name="Text 32"/>
          <p:cNvSpPr/>
          <p:nvPr/>
        </p:nvSpPr>
        <p:spPr>
          <a:xfrm>
            <a:off x="5605272" y="3840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7</a:t>
            </a:r>
            <a:endParaRPr lang="en-US" sz="1100" dirty="0"/>
          </a:p>
        </p:txBody>
      </p:sp>
      <p:sp>
        <p:nvSpPr>
          <p:cNvPr id="37" name="Text 33"/>
          <p:cNvSpPr/>
          <p:nvPr/>
        </p:nvSpPr>
        <p:spPr>
          <a:xfrm>
            <a:off x="594360" y="3758184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ساعد الزوار بالتوجيه</a:t>
            </a:r>
            <a:endParaRPr lang="en-US" sz="1300" dirty="0"/>
          </a:p>
        </p:txBody>
      </p:sp>
      <p:sp>
        <p:nvSpPr>
          <p:cNvPr id="38" name="Shape 34"/>
          <p:cNvSpPr/>
          <p:nvPr/>
        </p:nvSpPr>
        <p:spPr>
          <a:xfrm>
            <a:off x="457200" y="4334256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9" name="Shape 35"/>
          <p:cNvSpPr/>
          <p:nvPr/>
        </p:nvSpPr>
        <p:spPr>
          <a:xfrm>
            <a:off x="5605272" y="4416552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40" name="Text 36"/>
          <p:cNvSpPr/>
          <p:nvPr/>
        </p:nvSpPr>
        <p:spPr>
          <a:xfrm>
            <a:off x="5605272" y="44165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8</a:t>
            </a:r>
            <a:endParaRPr lang="en-US" sz="1100" dirty="0"/>
          </a:p>
        </p:txBody>
      </p:sp>
      <p:sp>
        <p:nvSpPr>
          <p:cNvPr id="41" name="Text 37"/>
          <p:cNvSpPr/>
          <p:nvPr/>
        </p:nvSpPr>
        <p:spPr>
          <a:xfrm>
            <a:off x="594360" y="4334256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توجه إلى نقطة التجمع</a:t>
            </a:r>
            <a:endParaRPr lang="en-US" sz="1300" dirty="0"/>
          </a:p>
        </p:txBody>
      </p:sp>
      <p:sp>
        <p:nvSpPr>
          <p:cNvPr id="42" name="Shape 38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 مهمة: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الاستجابة السريعة والمنظمة تقلل المخاطر وتحمي الجميع</a:t>
            </a:r>
            <a:endParaRPr lang="ar-AE" sz="1200" dirty="0"/>
          </a:p>
        </p:txBody>
      </p:sp>
      <p:sp>
        <p:nvSpPr>
          <p:cNvPr id="44" name="Shape 40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5" name="Image 2" descr="/home/claude/assets/social_ic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6" name="Shape 41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42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8" name="Shape 43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44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50" name="Shape 45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46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52" name="Shape 47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3" name="Text 48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F.4</a:t>
            </a:r>
            <a:endParaRPr lang="en-US" sz="1000" dirty="0"/>
          </a:p>
        </p:txBody>
      </p:sp>
      <p:sp>
        <p:nvSpPr>
          <p:cNvPr id="54" name="Shape 49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5" name="Text 50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مسارات الإخلاء ومخارج الطوارئ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يجب أن تكون واضحة وخالية من العوائق دائمًا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تعرّف على أقرب مخرج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اعرف مسارًا بديلًا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تضع معدات في الممرات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تستخدم المخارج للتخزين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227685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تغلق أبواب الطوارئ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اتبع لوحات الإرشاد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767181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66344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أبلغ عن أي عائق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تذكَّر: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المخرج الخالي من العوائق قد ينقذ حياة وقت الطوارئ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F.4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استخدام السلالم وعدم استخدام المصاعد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السلالم وسيلة الخروج الآمنة وقت الحريق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1371600" y="2926080"/>
            <a:ext cx="2286000" cy="2286000"/>
          </a:xfrm>
          <a:prstGeom prst="ellipse">
            <a:avLst/>
          </a:prstGeom>
          <a:solidFill>
            <a:srgbClr val="D1FAE5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0" y="3383280"/>
            <a:ext cx="1371600" cy="137160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3154680" y="4617720"/>
            <a:ext cx="594360" cy="594360"/>
          </a:xfrm>
          <a:prstGeom prst="ellipse">
            <a:avLst/>
          </a:prstGeom>
          <a:solidFill>
            <a:srgbClr val="1B873F"/>
          </a:solidFill>
          <a:ln w="38100">
            <a:solidFill>
              <a:srgbClr val="FFFFFF"/>
            </a:solidFill>
            <a:prstDash val="solid"/>
          </a:ln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91840" y="4754880"/>
            <a:ext cx="320040" cy="320040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4846320" y="2697480"/>
            <a:ext cx="685800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5" name="Shape 9"/>
          <p:cNvSpPr/>
          <p:nvPr/>
        </p:nvSpPr>
        <p:spPr>
          <a:xfrm>
            <a:off x="11320272" y="2734056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16" name="Text 10"/>
          <p:cNvSpPr/>
          <p:nvPr/>
        </p:nvSpPr>
        <p:spPr>
          <a:xfrm>
            <a:off x="11320272" y="27340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000" dirty="0"/>
          </a:p>
        </p:txBody>
      </p:sp>
      <p:sp>
        <p:nvSpPr>
          <p:cNvPr id="17" name="Text 11"/>
          <p:cNvSpPr/>
          <p:nvPr/>
        </p:nvSpPr>
        <p:spPr>
          <a:xfrm>
            <a:off x="4983480" y="2697480"/>
            <a:ext cx="6199632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استخدم السلالم أثناء الإخلاء</a:t>
            </a:r>
            <a:endParaRPr lang="en-US" sz="1200" dirty="0"/>
          </a:p>
        </p:txBody>
      </p:sp>
      <p:sp>
        <p:nvSpPr>
          <p:cNvPr id="18" name="Shape 12"/>
          <p:cNvSpPr/>
          <p:nvPr/>
        </p:nvSpPr>
        <p:spPr>
          <a:xfrm>
            <a:off x="4846320" y="3136392"/>
            <a:ext cx="685800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11320272" y="3172968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20" name="Text 14"/>
          <p:cNvSpPr/>
          <p:nvPr/>
        </p:nvSpPr>
        <p:spPr>
          <a:xfrm>
            <a:off x="11320272" y="31729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4983480" y="3136392"/>
            <a:ext cx="6199632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تستخدم المصاعد أثناء الحريق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4846320" y="3575304"/>
            <a:ext cx="685800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11320272" y="3611880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24" name="Text 18"/>
          <p:cNvSpPr/>
          <p:nvPr/>
        </p:nvSpPr>
        <p:spPr>
          <a:xfrm>
            <a:off x="11320272" y="36118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4983480" y="3575304"/>
            <a:ext cx="6199632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انزل بهدوء دون تدافع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4846320" y="4014216"/>
            <a:ext cx="685800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11320272" y="4050792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28" name="Text 22"/>
          <p:cNvSpPr/>
          <p:nvPr/>
        </p:nvSpPr>
        <p:spPr>
          <a:xfrm>
            <a:off x="11320272" y="40507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4983480" y="4014216"/>
            <a:ext cx="6199632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امسك الدرابزين عند الحاجة</a:t>
            </a:r>
            <a:endParaRPr lang="en-US" sz="1200" dirty="0"/>
          </a:p>
        </p:txBody>
      </p:sp>
      <p:sp>
        <p:nvSpPr>
          <p:cNvPr id="30" name="Shape 24"/>
          <p:cNvSpPr/>
          <p:nvPr/>
        </p:nvSpPr>
        <p:spPr>
          <a:xfrm>
            <a:off x="4846320" y="4453128"/>
            <a:ext cx="685800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11320272" y="4489704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32" name="Text 26"/>
          <p:cNvSpPr/>
          <p:nvPr/>
        </p:nvSpPr>
        <p:spPr>
          <a:xfrm>
            <a:off x="11320272" y="44897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000" dirty="0"/>
          </a:p>
        </p:txBody>
      </p:sp>
      <p:sp>
        <p:nvSpPr>
          <p:cNvPr id="33" name="Text 27"/>
          <p:cNvSpPr/>
          <p:nvPr/>
        </p:nvSpPr>
        <p:spPr>
          <a:xfrm>
            <a:off x="4983480" y="4453128"/>
            <a:ext cx="6199632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تتوقف في السلم</a:t>
            </a:r>
            <a:endParaRPr lang="en-US" sz="1200" dirty="0"/>
          </a:p>
        </p:txBody>
      </p:sp>
      <p:sp>
        <p:nvSpPr>
          <p:cNvPr id="34" name="Shape 28"/>
          <p:cNvSpPr/>
          <p:nvPr/>
        </p:nvSpPr>
        <p:spPr>
          <a:xfrm>
            <a:off x="4846320" y="4892040"/>
            <a:ext cx="685800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5" name="Shape 29"/>
          <p:cNvSpPr/>
          <p:nvPr/>
        </p:nvSpPr>
        <p:spPr>
          <a:xfrm>
            <a:off x="11320272" y="4928616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36" name="Text 30"/>
          <p:cNvSpPr/>
          <p:nvPr/>
        </p:nvSpPr>
        <p:spPr>
          <a:xfrm>
            <a:off x="11320272" y="49286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4983480" y="4892040"/>
            <a:ext cx="6199632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اترك مساحة لفرق الطوارئ</a:t>
            </a:r>
            <a:endParaRPr lang="en-US" sz="1200" dirty="0"/>
          </a:p>
        </p:txBody>
      </p:sp>
      <p:sp>
        <p:nvSpPr>
          <p:cNvPr id="38" name="Shape 32"/>
          <p:cNvSpPr/>
          <p:nvPr/>
        </p:nvSpPr>
        <p:spPr>
          <a:xfrm>
            <a:off x="4846320" y="5330952"/>
            <a:ext cx="685800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9" name="Shape 33"/>
          <p:cNvSpPr/>
          <p:nvPr/>
        </p:nvSpPr>
        <p:spPr>
          <a:xfrm>
            <a:off x="11320272" y="5367528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40" name="Text 34"/>
          <p:cNvSpPr/>
          <p:nvPr/>
        </p:nvSpPr>
        <p:spPr>
          <a:xfrm>
            <a:off x="11320272" y="53675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7</a:t>
            </a:r>
            <a:endParaRPr lang="en-US" sz="1000" dirty="0"/>
          </a:p>
        </p:txBody>
      </p:sp>
      <p:sp>
        <p:nvSpPr>
          <p:cNvPr id="41" name="Text 35"/>
          <p:cNvSpPr/>
          <p:nvPr/>
        </p:nvSpPr>
        <p:spPr>
          <a:xfrm>
            <a:off x="4983480" y="5330952"/>
            <a:ext cx="6199632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تحمل أغراضًا كبيرة</a:t>
            </a:r>
            <a:endParaRPr lang="en-US" sz="1200" dirty="0"/>
          </a:p>
        </p:txBody>
      </p:sp>
      <p:sp>
        <p:nvSpPr>
          <p:cNvPr id="42" name="Shape 36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43" name="Text 37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المصاعد قد تتعطل أو تتوقف في موقع خطر أثناء الطوارئ</a:t>
            </a:r>
            <a:endParaRPr lang="ar-AE" sz="1200" dirty="0"/>
          </a:p>
        </p:txBody>
      </p:sp>
      <p:sp>
        <p:nvSpPr>
          <p:cNvPr id="44" name="Shape 38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5" name="Image 4" descr="/home/claude/assets/social_icon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6" name="Shape 39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40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8" name="Shape 41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42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50" name="Shape 43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44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52" name="Shape 45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3" name="Text 46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F.4</a:t>
            </a:r>
            <a:endParaRPr lang="en-US" sz="1000" dirty="0"/>
          </a:p>
        </p:txBody>
      </p:sp>
      <p:sp>
        <p:nvSpPr>
          <p:cNvPr id="54" name="Shape 47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5" name="Text 48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دور الموظف أثناء الإخلاء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لكل موظف دور في نجاح عملية الإخلاء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199632" y="2606040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11347704" y="2688336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12" name="Text 8"/>
          <p:cNvSpPr/>
          <p:nvPr/>
        </p:nvSpPr>
        <p:spPr>
          <a:xfrm>
            <a:off x="11347704" y="2688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6336792" y="2606040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الالتزام بخطة الإخلاء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199632" y="3182112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11347704" y="3264408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16" name="Text 12"/>
          <p:cNvSpPr/>
          <p:nvPr/>
        </p:nvSpPr>
        <p:spPr>
          <a:xfrm>
            <a:off x="11347704" y="32644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6336792" y="3182112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عدم تجاهل الإنذار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6199632" y="3758184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11347704" y="3840480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20" name="Text 16"/>
          <p:cNvSpPr/>
          <p:nvPr/>
        </p:nvSpPr>
        <p:spPr>
          <a:xfrm>
            <a:off x="11347704" y="3840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6336792" y="3758184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عدم العودة للمكتب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6199632" y="4334256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11347704" y="4416552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24" name="Text 20"/>
          <p:cNvSpPr/>
          <p:nvPr/>
        </p:nvSpPr>
        <p:spPr>
          <a:xfrm>
            <a:off x="11347704" y="44165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6336792" y="4334256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مساعدة الزوار بالتوجيه</a:t>
            </a:r>
            <a:endParaRPr lang="en-US" sz="1300" dirty="0"/>
          </a:p>
        </p:txBody>
      </p:sp>
      <p:sp>
        <p:nvSpPr>
          <p:cNvPr id="26" name="Shape 22"/>
          <p:cNvSpPr/>
          <p:nvPr/>
        </p:nvSpPr>
        <p:spPr>
          <a:xfrm>
            <a:off x="457200" y="2606040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5605272" y="2688336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28" name="Text 24"/>
          <p:cNvSpPr/>
          <p:nvPr/>
        </p:nvSpPr>
        <p:spPr>
          <a:xfrm>
            <a:off x="5605272" y="2688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100" dirty="0"/>
          </a:p>
        </p:txBody>
      </p:sp>
      <p:sp>
        <p:nvSpPr>
          <p:cNvPr id="29" name="Text 25"/>
          <p:cNvSpPr/>
          <p:nvPr/>
        </p:nvSpPr>
        <p:spPr>
          <a:xfrm>
            <a:off x="594360" y="2606040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الإبلاغ عن المحتاجين</a:t>
            </a:r>
            <a:endParaRPr lang="en-US" sz="1300" dirty="0"/>
          </a:p>
        </p:txBody>
      </p:sp>
      <p:sp>
        <p:nvSpPr>
          <p:cNvPr id="30" name="Shape 26"/>
          <p:cNvSpPr/>
          <p:nvPr/>
        </p:nvSpPr>
        <p:spPr>
          <a:xfrm>
            <a:off x="457200" y="3182112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5605272" y="3264408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32" name="Text 28"/>
          <p:cNvSpPr/>
          <p:nvPr/>
        </p:nvSpPr>
        <p:spPr>
          <a:xfrm>
            <a:off x="5605272" y="32644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100" dirty="0"/>
          </a:p>
        </p:txBody>
      </p:sp>
      <p:sp>
        <p:nvSpPr>
          <p:cNvPr id="33" name="Text 29"/>
          <p:cNvSpPr/>
          <p:nvPr/>
        </p:nvSpPr>
        <p:spPr>
          <a:xfrm>
            <a:off x="594360" y="3182112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عدم عرقلة المسارات</a:t>
            </a:r>
            <a:endParaRPr lang="en-US" sz="1300" dirty="0"/>
          </a:p>
        </p:txBody>
      </p:sp>
      <p:sp>
        <p:nvSpPr>
          <p:cNvPr id="34" name="Shape 30"/>
          <p:cNvSpPr/>
          <p:nvPr/>
        </p:nvSpPr>
        <p:spPr>
          <a:xfrm>
            <a:off x="457200" y="3758184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5605272" y="3840480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36" name="Text 32"/>
          <p:cNvSpPr/>
          <p:nvPr/>
        </p:nvSpPr>
        <p:spPr>
          <a:xfrm>
            <a:off x="5605272" y="3840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7</a:t>
            </a:r>
            <a:endParaRPr lang="en-US" sz="1100" dirty="0"/>
          </a:p>
        </p:txBody>
      </p:sp>
      <p:sp>
        <p:nvSpPr>
          <p:cNvPr id="37" name="Text 33"/>
          <p:cNvSpPr/>
          <p:nvPr/>
        </p:nvSpPr>
        <p:spPr>
          <a:xfrm>
            <a:off x="594360" y="3758184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الالتزام بنقطة التجمع</a:t>
            </a:r>
            <a:endParaRPr lang="en-US" sz="1300" dirty="0"/>
          </a:p>
        </p:txBody>
      </p:sp>
      <p:sp>
        <p:nvSpPr>
          <p:cNvPr id="38" name="Shape 34"/>
          <p:cNvSpPr/>
          <p:nvPr/>
        </p:nvSpPr>
        <p:spPr>
          <a:xfrm>
            <a:off x="457200" y="4334256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9" name="Shape 35"/>
          <p:cNvSpPr/>
          <p:nvPr/>
        </p:nvSpPr>
        <p:spPr>
          <a:xfrm>
            <a:off x="5605272" y="4416552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40" name="Text 36"/>
          <p:cNvSpPr/>
          <p:nvPr/>
        </p:nvSpPr>
        <p:spPr>
          <a:xfrm>
            <a:off x="5605272" y="44165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8</a:t>
            </a:r>
            <a:endParaRPr lang="en-US" sz="1100" dirty="0"/>
          </a:p>
        </p:txBody>
      </p:sp>
      <p:sp>
        <p:nvSpPr>
          <p:cNvPr id="41" name="Text 37"/>
          <p:cNvSpPr/>
          <p:nvPr/>
        </p:nvSpPr>
        <p:spPr>
          <a:xfrm>
            <a:off x="594360" y="4334256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انتظار التعليمات قبل العودة</a:t>
            </a:r>
            <a:endParaRPr lang="en-US" sz="1300" dirty="0"/>
          </a:p>
        </p:txBody>
      </p:sp>
      <p:sp>
        <p:nvSpPr>
          <p:cNvPr id="42" name="Shape 38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تذكَّر: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تصرف الموظف الواعي يساعد على حماية فريق العمل بالكامل</a:t>
            </a:r>
            <a:endParaRPr lang="ar-AE" sz="1200" dirty="0"/>
          </a:p>
        </p:txBody>
      </p:sp>
      <p:sp>
        <p:nvSpPr>
          <p:cNvPr id="44" name="Shape 40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5" name="Image 2" descr="/home/claude/assets/social_ic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6" name="Shape 41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42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8" name="Shape 43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44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50" name="Shape 45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46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52" name="Shape 47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3" name="Text 48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F.4</a:t>
            </a:r>
            <a:endParaRPr lang="en-US" sz="1000" dirty="0"/>
          </a:p>
        </p:txBody>
      </p:sp>
      <p:sp>
        <p:nvSpPr>
          <p:cNvPr id="54" name="Shape 49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5" name="Text 50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دور فريق السلامة والمشرفين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مسؤولون عن تنظيم الإخلاء وتوجيه الأفراد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توجيه الأفراد للمخارج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التأكد من خلو المسارات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منع استخدام المصاعد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مساعدة المحتاجين للدعم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227685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التأكد من نقطة التجمع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إبلاغ الجهات المختصة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767181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66344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دعم تطبيق خطة الطوارئ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 للموظفين: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اتباع توجيهات فريق السلامة يساعد على إخلاء أسرع وأكثر تنظيمًا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F.4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التعامل مع الزوار والمتعاملين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الزوار غير ملمين بمخارج الطوارئ ويعتمدون على الموظفين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379476" y="260604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562356" y="294894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236" y="313182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385316" y="260604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وجّه الزوار بهدوء للمخرج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4219956" y="260604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4402836" y="294894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5716" y="313182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225796" y="260604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تترك الزائر دون توجيه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8060436" y="260604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8243316" y="294894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26196" y="313182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9066276" y="260604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تعرض نفسك للخطر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379476" y="416052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562356" y="450342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5236" y="468630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1385316" y="416052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أبلغ السلامة عن المحتاجين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4219956" y="416052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4402836" y="450342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85716" y="468630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5225796" y="416052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اجعل التوجيه مختصرًا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8060436" y="416052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8243316" y="450342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26196" y="468630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9066276" y="416052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امنع التجمع قرب المخارج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5" name="Text 25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الزائر يعتمد على موظفي المنشأة في معرفة التصرف الصحيح أثناء الطوارئ</a:t>
            </a:r>
            <a:endParaRPr lang="ar-AE" sz="1200" dirty="0"/>
          </a:p>
        </p:txBody>
      </p:sp>
      <p:sp>
        <p:nvSpPr>
          <p:cNvPr id="36" name="Shape 26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7" name="Image 8" descr="/home/claude/assets/social_icon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8" name="Shape 27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0" name="Shape 29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0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2" name="Shape 31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2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4" name="Shape 33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4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F.4</a:t>
            </a:r>
            <a:endParaRPr lang="en-US" sz="1000" dirty="0"/>
          </a:p>
        </p:txBody>
      </p:sp>
      <p:sp>
        <p:nvSpPr>
          <p:cNvPr id="46" name="Shape 35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6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مساعدة الفئات الأكثر احتياجًا للدعم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بعض الموظفين والزوار يحتاجون دعمًا إضافيًا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379476" y="260604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562356" y="2903220"/>
            <a:ext cx="777240" cy="77724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236" y="3086100"/>
            <a:ext cx="411480" cy="41148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476756" y="27432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كبار السن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1476756" y="317296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حركة محدودة وحاجة للمساعدة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4219956" y="260604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4402836" y="2903220"/>
            <a:ext cx="777240" cy="77724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5716" y="3086100"/>
            <a:ext cx="411480" cy="41148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317236" y="27432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أصحاب الهمم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5317236" y="317296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ترتيبات إخلاء خاصة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8060436" y="260604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8243316" y="2903220"/>
            <a:ext cx="777240" cy="77724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26196" y="3086100"/>
            <a:ext cx="411480" cy="41148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9157716" y="27432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المرضى</a:t>
            </a:r>
            <a:endParaRPr lang="en-US" sz="1400" dirty="0"/>
          </a:p>
        </p:txBody>
      </p:sp>
      <p:sp>
        <p:nvSpPr>
          <p:cNvPr id="24" name="Text 17"/>
          <p:cNvSpPr/>
          <p:nvPr/>
        </p:nvSpPr>
        <p:spPr>
          <a:xfrm>
            <a:off x="9157716" y="317296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أدوية ومعدات طبية</a:t>
            </a:r>
            <a:endParaRPr lang="en-US" sz="1100" dirty="0"/>
          </a:p>
        </p:txBody>
      </p:sp>
      <p:sp>
        <p:nvSpPr>
          <p:cNvPr id="25" name="Shape 18"/>
          <p:cNvSpPr/>
          <p:nvPr/>
        </p:nvSpPr>
        <p:spPr>
          <a:xfrm>
            <a:off x="379476" y="411480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6" name="Shape 19"/>
          <p:cNvSpPr/>
          <p:nvPr/>
        </p:nvSpPr>
        <p:spPr>
          <a:xfrm>
            <a:off x="562356" y="4411980"/>
            <a:ext cx="777240" cy="77724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5236" y="4594860"/>
            <a:ext cx="411480" cy="41148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1476756" y="425196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النساء الحوامل</a:t>
            </a:r>
            <a:endParaRPr lang="en-US" sz="1400" dirty="0"/>
          </a:p>
        </p:txBody>
      </p:sp>
      <p:sp>
        <p:nvSpPr>
          <p:cNvPr id="29" name="Text 21"/>
          <p:cNvSpPr/>
          <p:nvPr/>
        </p:nvSpPr>
        <p:spPr>
          <a:xfrm>
            <a:off x="1476756" y="468172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تجنّب الإجهاد والاستعجال</a:t>
            </a:r>
            <a:endParaRPr lang="en-US" sz="1100" dirty="0"/>
          </a:p>
        </p:txBody>
      </p:sp>
      <p:sp>
        <p:nvSpPr>
          <p:cNvPr id="30" name="Shape 22"/>
          <p:cNvSpPr/>
          <p:nvPr/>
        </p:nvSpPr>
        <p:spPr>
          <a:xfrm>
            <a:off x="4219956" y="411480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3"/>
          <p:cNvSpPr/>
          <p:nvPr/>
        </p:nvSpPr>
        <p:spPr>
          <a:xfrm>
            <a:off x="4402836" y="4411980"/>
            <a:ext cx="777240" cy="77724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85716" y="4594860"/>
            <a:ext cx="411480" cy="411480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5317236" y="425196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المصابون</a:t>
            </a:r>
            <a:endParaRPr lang="en-US" sz="1400" dirty="0"/>
          </a:p>
        </p:txBody>
      </p:sp>
      <p:sp>
        <p:nvSpPr>
          <p:cNvPr id="34" name="Text 25"/>
          <p:cNvSpPr/>
          <p:nvPr/>
        </p:nvSpPr>
        <p:spPr>
          <a:xfrm>
            <a:off x="5317236" y="468172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صعوبة في الحركة</a:t>
            </a:r>
            <a:endParaRPr lang="en-US" sz="1100" dirty="0"/>
          </a:p>
        </p:txBody>
      </p:sp>
      <p:sp>
        <p:nvSpPr>
          <p:cNvPr id="35" name="Shape 26"/>
          <p:cNvSpPr/>
          <p:nvPr/>
        </p:nvSpPr>
        <p:spPr>
          <a:xfrm>
            <a:off x="8060436" y="411480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6" name="Shape 27"/>
          <p:cNvSpPr/>
          <p:nvPr/>
        </p:nvSpPr>
        <p:spPr>
          <a:xfrm>
            <a:off x="8243316" y="4411980"/>
            <a:ext cx="777240" cy="77724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7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26196" y="4594860"/>
            <a:ext cx="411480" cy="411480"/>
          </a:xfrm>
          <a:prstGeom prst="rect">
            <a:avLst/>
          </a:prstGeom>
        </p:spPr>
      </p:pic>
      <p:sp>
        <p:nvSpPr>
          <p:cNvPr id="38" name="Text 28"/>
          <p:cNvSpPr/>
          <p:nvPr/>
        </p:nvSpPr>
        <p:spPr>
          <a:xfrm>
            <a:off x="9157716" y="425196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الزوار</a:t>
            </a:r>
            <a:endParaRPr lang="en-US" sz="1400" dirty="0"/>
          </a:p>
        </p:txBody>
      </p:sp>
      <p:sp>
        <p:nvSpPr>
          <p:cNvPr id="39" name="Text 29"/>
          <p:cNvSpPr/>
          <p:nvPr/>
        </p:nvSpPr>
        <p:spPr>
          <a:xfrm>
            <a:off x="9157716" y="468172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غير ملمّين بالمبنى</a:t>
            </a:r>
            <a:endParaRPr lang="en-US" sz="1100" dirty="0"/>
          </a:p>
        </p:txBody>
      </p:sp>
      <p:sp>
        <p:nvSpPr>
          <p:cNvPr id="40" name="Shape 30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41" name="Text 31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السلامة الشاملة تعني مراعاة احتياجات جميع الموجودين في المنشأة</a:t>
            </a:r>
            <a:endParaRPr lang="ar-AE" sz="1200" dirty="0"/>
          </a:p>
        </p:txBody>
      </p:sp>
      <p:sp>
        <p:nvSpPr>
          <p:cNvPr id="42" name="Shape 32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3" name="Image 8" descr="/home/claude/assets/social_icon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4" name="Shape 33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4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6" name="Shape 35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6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8" name="Shape 37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8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50" name="Shape 39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40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F.4</a:t>
            </a:r>
            <a:endParaRPr lang="en-US" sz="1000" dirty="0"/>
          </a:p>
        </p:txBody>
      </p:sp>
      <p:sp>
        <p:nvSpPr>
          <p:cNvPr id="52" name="Shape 41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3" name="Text 42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نقطة التجمع في مكان العمل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الموقع الآمن للموظفين والزوار بعد الإخلاء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379476" y="2606040"/>
            <a:ext cx="27889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562356" y="292608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236" y="310896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385316" y="2606040"/>
            <a:ext cx="1600200" cy="13258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التأكد من سلامة الجميع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259836" y="2606040"/>
            <a:ext cx="27889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442716" y="292608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25596" y="310896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265676" y="2606040"/>
            <a:ext cx="1600200" cy="13258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معرفة المفقودين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7889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2608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0896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600200" cy="13258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منع العودة العشوائية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9020556" y="2606040"/>
            <a:ext cx="27889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203436" y="292608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86316" y="310896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10026396" y="2606040"/>
            <a:ext cx="1600200" cy="13258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إتاحة المجال للطوارئ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379476" y="4069080"/>
            <a:ext cx="27889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562356" y="438912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5236" y="457200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1385316" y="4069080"/>
            <a:ext cx="1600200" cy="13258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توجه مباشرة للنقطة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3259836" y="4069080"/>
            <a:ext cx="27889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3442716" y="438912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625596" y="457200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4265676" y="4069080"/>
            <a:ext cx="1600200" cy="13258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ابقَ مع فريقك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6140196" y="4069080"/>
            <a:ext cx="27889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6323076" y="438912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05956" y="457200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7146036" y="4069080"/>
            <a:ext cx="1600200" cy="13258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أبلغ قبل المغادرة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9020556" y="4069080"/>
            <a:ext cx="27889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9" name="Shape 28"/>
          <p:cNvSpPr/>
          <p:nvPr/>
        </p:nvSpPr>
        <p:spPr>
          <a:xfrm>
            <a:off x="9203436" y="438912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40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386316" y="4572000"/>
            <a:ext cx="320040" cy="320040"/>
          </a:xfrm>
          <a:prstGeom prst="rect">
            <a:avLst/>
          </a:prstGeom>
        </p:spPr>
      </p:pic>
      <p:sp>
        <p:nvSpPr>
          <p:cNvPr id="41" name="Text 29"/>
          <p:cNvSpPr/>
          <p:nvPr/>
        </p:nvSpPr>
        <p:spPr>
          <a:xfrm>
            <a:off x="10026396" y="4069080"/>
            <a:ext cx="1600200" cy="13258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تعُد بدون سماح</a:t>
            </a:r>
            <a:endParaRPr lang="en-US" sz="1300" dirty="0"/>
          </a:p>
        </p:txBody>
      </p:sp>
      <p:sp>
        <p:nvSpPr>
          <p:cNvPr id="42" name="Shape 30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تذكَّر: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نقطة التجمع جزء أساسي من عملية الإخلاء، وليست خطوة اختيارية</a:t>
            </a:r>
            <a:endParaRPr lang="ar-AE" sz="1200" dirty="0"/>
          </a:p>
        </p:txBody>
      </p:sp>
      <p:sp>
        <p:nvSpPr>
          <p:cNvPr id="44" name="Shape 32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5" name="Image 10" descr="/home/claude/assets/social_icons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6" name="Shape 33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4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8" name="Shape 35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6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50" name="Shape 37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8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52" name="Shape 39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3" name="Text 40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F.4</a:t>
            </a:r>
            <a:endParaRPr lang="en-US" sz="1000" dirty="0"/>
          </a:p>
        </p:txBody>
      </p:sp>
      <p:sp>
        <p:nvSpPr>
          <p:cNvPr id="54" name="Shape 41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5" name="Text 42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إذا كان مسار الإخلاء غير آمن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قد يكون المسار المعتاد محجوبًا بالدخان أو الحرارة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تدخل منطقة دخان كثيف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استخدم المسار البديل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أبلغ فريق السلامة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انتقل لموقع أكثر أمانًا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227685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أغلق الأبواب خلفك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اتصل بـ 999 وحدد موقعك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767181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66344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اتبع تعليمات الجهات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 مهمة: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تخاطر بالدخول في مسار غير آمن — وضّح موقعك واطلب المساعدة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F.4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التواصل والإبلاغ أثناء الإخلاء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الإبلاغ الدقيق يسرّع الاستجابة ويقلل المخاطر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1005840" y="2606040"/>
            <a:ext cx="1828800" cy="182880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1" name="Shape 7"/>
          <p:cNvSpPr/>
          <p:nvPr/>
        </p:nvSpPr>
        <p:spPr>
          <a:xfrm>
            <a:off x="1170432" y="2770632"/>
            <a:ext cx="1499616" cy="149961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" name="Text 8"/>
          <p:cNvSpPr/>
          <p:nvPr/>
        </p:nvSpPr>
        <p:spPr>
          <a:xfrm>
            <a:off x="1005840" y="29718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999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1005840" y="36393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EMERGENCY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3200400" y="2788920"/>
            <a:ext cx="85496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762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3383280" y="2834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مثال على بلاغ واضح: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3383280" y="32004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i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"يوجد دخان في الطابق الثالث قرب غرفة الاجتماعات، وتم توجيه الموظفين إلى السلم الشرقي"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562356" y="443484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745236" y="464058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8116" y="4823460"/>
            <a:ext cx="320040" cy="32004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568196" y="4434840"/>
            <a:ext cx="1508760" cy="10972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حدد اسم المنشأة والموقع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3351276" y="443484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3534156" y="464058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17036" y="4823460"/>
            <a:ext cx="320040" cy="32004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4357116" y="4434840"/>
            <a:ext cx="1508760" cy="10972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اذكر الطابق ونوع الخطر</a:t>
            </a:r>
            <a:endParaRPr lang="en-US" sz="1300" dirty="0"/>
          </a:p>
        </p:txBody>
      </p:sp>
      <p:sp>
        <p:nvSpPr>
          <p:cNvPr id="25" name="Shape 19"/>
          <p:cNvSpPr/>
          <p:nvPr/>
        </p:nvSpPr>
        <p:spPr>
          <a:xfrm>
            <a:off x="6140196" y="443484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6323076" y="464058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4823460"/>
            <a:ext cx="320040" cy="32004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7146036" y="4434840"/>
            <a:ext cx="1508760" cy="10972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أبلغ عن المحتاجين للمساعدة</a:t>
            </a:r>
            <a:endParaRPr lang="en-US" sz="1300" dirty="0"/>
          </a:p>
        </p:txBody>
      </p:sp>
      <p:sp>
        <p:nvSpPr>
          <p:cNvPr id="29" name="Shape 22"/>
          <p:cNvSpPr/>
          <p:nvPr/>
        </p:nvSpPr>
        <p:spPr>
          <a:xfrm>
            <a:off x="8929116" y="443484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9111996" y="464058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94876" y="4823460"/>
            <a:ext cx="320040" cy="32004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934956" y="4434840"/>
            <a:ext cx="1508760" cy="10972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تجنّب نشر معلومات غير مؤكدة</a:t>
            </a:r>
            <a:endParaRPr lang="en-US" sz="1300" dirty="0"/>
          </a:p>
        </p:txBody>
      </p:sp>
      <p:sp>
        <p:nvSpPr>
          <p:cNvPr id="33" name="Shape 25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4" name="Text 26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تذكَّر: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البلاغ الواضح والدقيق ينقذ الأرواح ويسرّع وصول المساعدة</a:t>
            </a:r>
            <a:endParaRPr lang="ar-AE" sz="1200" dirty="0"/>
          </a:p>
        </p:txBody>
      </p:sp>
      <p:sp>
        <p:nvSpPr>
          <p:cNvPr id="35" name="Shape 27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6" name="Image 6" descr="/home/claude/assets/social_icons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7" name="Shape 28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8" name="Text 29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39" name="Shape 30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0" name="Text 31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1" name="Shape 32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2" name="Text 33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3" name="Shape 34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4" name="Text 35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F.4</a:t>
            </a:r>
            <a:endParaRPr lang="en-US" sz="1000" dirty="0"/>
          </a:p>
        </p:txBody>
      </p:sp>
      <p:sp>
        <p:nvSpPr>
          <p:cNvPr id="45" name="Shape 36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6" name="Text 37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افعل ولا تفعل أثناء الإخلاء في العمل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ممارسات صحيحة وأخرى يجب تجنّبها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153912" y="2606040"/>
            <a:ext cx="5577840" cy="37490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6153912" y="2606040"/>
            <a:ext cx="5577840" cy="502920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12" name="Text 8"/>
          <p:cNvSpPr/>
          <p:nvPr/>
        </p:nvSpPr>
        <p:spPr>
          <a:xfrm>
            <a:off x="6336792" y="260604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8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افعل  ✓</a:t>
            </a:r>
            <a:endParaRPr lang="en-US" sz="1800" dirty="0"/>
          </a:p>
        </p:txBody>
      </p:sp>
      <p:sp>
        <p:nvSpPr>
          <p:cNvPr id="13" name="Shape 9"/>
          <p:cNvSpPr/>
          <p:nvPr/>
        </p:nvSpPr>
        <p:spPr>
          <a:xfrm>
            <a:off x="11320272" y="32918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11320272" y="3291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6336792" y="32461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استجب للإنذار فورًا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11320272" y="37490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11320272" y="3749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6336792" y="37033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اتبع تعليمات السلامة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11320272" y="42062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11320272" y="42062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6336792" y="41605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استخدم السلالم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11320272" y="46634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11320272" y="4663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6336792" y="46177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اترك الأغراض الشخصية</a:t>
            </a:r>
            <a:endParaRPr lang="en-US" sz="1300" dirty="0"/>
          </a:p>
        </p:txBody>
      </p:sp>
      <p:sp>
        <p:nvSpPr>
          <p:cNvPr id="25" name="Shape 21"/>
          <p:cNvSpPr/>
          <p:nvPr/>
        </p:nvSpPr>
        <p:spPr>
          <a:xfrm>
            <a:off x="11320272" y="51206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11320272" y="5120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000" dirty="0"/>
          </a:p>
        </p:txBody>
      </p:sp>
      <p:sp>
        <p:nvSpPr>
          <p:cNvPr id="27" name="Text 23"/>
          <p:cNvSpPr/>
          <p:nvPr/>
        </p:nvSpPr>
        <p:spPr>
          <a:xfrm>
            <a:off x="6336792" y="50749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ساعد الزوار بالتوجيه</a:t>
            </a:r>
            <a:endParaRPr lang="en-US" sz="1300" dirty="0"/>
          </a:p>
        </p:txBody>
      </p:sp>
      <p:sp>
        <p:nvSpPr>
          <p:cNvPr id="28" name="Shape 24"/>
          <p:cNvSpPr/>
          <p:nvPr/>
        </p:nvSpPr>
        <p:spPr>
          <a:xfrm>
            <a:off x="11320272" y="55778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11320272" y="5577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000" dirty="0"/>
          </a:p>
        </p:txBody>
      </p:sp>
      <p:sp>
        <p:nvSpPr>
          <p:cNvPr id="30" name="Text 26"/>
          <p:cNvSpPr/>
          <p:nvPr/>
        </p:nvSpPr>
        <p:spPr>
          <a:xfrm>
            <a:off x="6336792" y="55321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توجه إلى نقطة التجمع</a:t>
            </a:r>
            <a:endParaRPr lang="en-US" sz="1300" dirty="0"/>
          </a:p>
        </p:txBody>
      </p:sp>
      <p:sp>
        <p:nvSpPr>
          <p:cNvPr id="31" name="Shape 27"/>
          <p:cNvSpPr/>
          <p:nvPr/>
        </p:nvSpPr>
        <p:spPr>
          <a:xfrm>
            <a:off x="11320272" y="60350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11320272" y="6035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7</a:t>
            </a:r>
            <a:endParaRPr lang="en-US" sz="1000" dirty="0"/>
          </a:p>
        </p:txBody>
      </p:sp>
      <p:sp>
        <p:nvSpPr>
          <p:cNvPr id="33" name="Text 29"/>
          <p:cNvSpPr/>
          <p:nvPr/>
        </p:nvSpPr>
        <p:spPr>
          <a:xfrm>
            <a:off x="6336792" y="59893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أبلغ عن المحتاجين</a:t>
            </a:r>
            <a:endParaRPr lang="en-US" sz="1300" dirty="0"/>
          </a:p>
        </p:txBody>
      </p:sp>
      <p:sp>
        <p:nvSpPr>
          <p:cNvPr id="34" name="Shape 30"/>
          <p:cNvSpPr/>
          <p:nvPr/>
        </p:nvSpPr>
        <p:spPr>
          <a:xfrm>
            <a:off x="457200" y="2606040"/>
            <a:ext cx="5577840" cy="37490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457200" y="2606040"/>
            <a:ext cx="5577840" cy="502920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36" name="Text 32"/>
          <p:cNvSpPr/>
          <p:nvPr/>
        </p:nvSpPr>
        <p:spPr>
          <a:xfrm>
            <a:off x="640080" y="260604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8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تفعل  ✕</a:t>
            </a:r>
            <a:endParaRPr lang="en-US" sz="1800" dirty="0"/>
          </a:p>
        </p:txBody>
      </p:sp>
      <p:sp>
        <p:nvSpPr>
          <p:cNvPr id="37" name="Shape 33"/>
          <p:cNvSpPr/>
          <p:nvPr/>
        </p:nvSpPr>
        <p:spPr>
          <a:xfrm>
            <a:off x="5623560" y="32918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5623560" y="3291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000" dirty="0"/>
          </a:p>
        </p:txBody>
      </p:sp>
      <p:sp>
        <p:nvSpPr>
          <p:cNvPr id="39" name="Text 35"/>
          <p:cNvSpPr/>
          <p:nvPr/>
        </p:nvSpPr>
        <p:spPr>
          <a:xfrm>
            <a:off x="640080" y="32461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تستخدم المصعد</a:t>
            </a:r>
            <a:endParaRPr lang="en-US" sz="1300" dirty="0"/>
          </a:p>
        </p:txBody>
      </p:sp>
      <p:sp>
        <p:nvSpPr>
          <p:cNvPr id="40" name="Shape 36"/>
          <p:cNvSpPr/>
          <p:nvPr/>
        </p:nvSpPr>
        <p:spPr>
          <a:xfrm>
            <a:off x="5623560" y="37490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5623560" y="3749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000" dirty="0"/>
          </a:p>
        </p:txBody>
      </p:sp>
      <p:sp>
        <p:nvSpPr>
          <p:cNvPr id="42" name="Text 38"/>
          <p:cNvSpPr/>
          <p:nvPr/>
        </p:nvSpPr>
        <p:spPr>
          <a:xfrm>
            <a:off x="640080" y="37033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تعُد إلى المكتب</a:t>
            </a:r>
            <a:endParaRPr lang="en-US" sz="1300" dirty="0"/>
          </a:p>
        </p:txBody>
      </p:sp>
      <p:sp>
        <p:nvSpPr>
          <p:cNvPr id="43" name="Shape 39"/>
          <p:cNvSpPr/>
          <p:nvPr/>
        </p:nvSpPr>
        <p:spPr>
          <a:xfrm>
            <a:off x="5623560" y="42062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44" name="Text 40"/>
          <p:cNvSpPr/>
          <p:nvPr/>
        </p:nvSpPr>
        <p:spPr>
          <a:xfrm>
            <a:off x="5623560" y="42062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000" dirty="0"/>
          </a:p>
        </p:txBody>
      </p:sp>
      <p:sp>
        <p:nvSpPr>
          <p:cNvPr id="45" name="Text 41"/>
          <p:cNvSpPr/>
          <p:nvPr/>
        </p:nvSpPr>
        <p:spPr>
          <a:xfrm>
            <a:off x="640080" y="41605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تحمل أغراضًا تعيق</a:t>
            </a:r>
            <a:endParaRPr lang="en-US" sz="1300" dirty="0"/>
          </a:p>
        </p:txBody>
      </p:sp>
      <p:sp>
        <p:nvSpPr>
          <p:cNvPr id="46" name="Shape 42"/>
          <p:cNvSpPr/>
          <p:nvPr/>
        </p:nvSpPr>
        <p:spPr>
          <a:xfrm>
            <a:off x="5623560" y="46634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47" name="Text 43"/>
          <p:cNvSpPr/>
          <p:nvPr/>
        </p:nvSpPr>
        <p:spPr>
          <a:xfrm>
            <a:off x="5623560" y="4663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000" dirty="0"/>
          </a:p>
        </p:txBody>
      </p:sp>
      <p:sp>
        <p:nvSpPr>
          <p:cNvPr id="48" name="Text 44"/>
          <p:cNvSpPr/>
          <p:nvPr/>
        </p:nvSpPr>
        <p:spPr>
          <a:xfrm>
            <a:off x="640080" y="46177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تركض أو تدفع الآخرين</a:t>
            </a:r>
            <a:endParaRPr lang="en-US" sz="1300" dirty="0"/>
          </a:p>
        </p:txBody>
      </p:sp>
      <p:sp>
        <p:nvSpPr>
          <p:cNvPr id="49" name="Shape 45"/>
          <p:cNvSpPr/>
          <p:nvPr/>
        </p:nvSpPr>
        <p:spPr>
          <a:xfrm>
            <a:off x="5623560" y="51206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50" name="Text 46"/>
          <p:cNvSpPr/>
          <p:nvPr/>
        </p:nvSpPr>
        <p:spPr>
          <a:xfrm>
            <a:off x="5623560" y="5120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000" dirty="0"/>
          </a:p>
        </p:txBody>
      </p:sp>
      <p:sp>
        <p:nvSpPr>
          <p:cNvPr id="51" name="Text 47"/>
          <p:cNvSpPr/>
          <p:nvPr/>
        </p:nvSpPr>
        <p:spPr>
          <a:xfrm>
            <a:off x="640080" y="50749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تقف أمام المداخل</a:t>
            </a:r>
            <a:endParaRPr lang="en-US" sz="1300" dirty="0"/>
          </a:p>
        </p:txBody>
      </p:sp>
      <p:sp>
        <p:nvSpPr>
          <p:cNvPr id="52" name="Shape 48"/>
          <p:cNvSpPr/>
          <p:nvPr/>
        </p:nvSpPr>
        <p:spPr>
          <a:xfrm>
            <a:off x="5623560" y="55778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53" name="Text 49"/>
          <p:cNvSpPr/>
          <p:nvPr/>
        </p:nvSpPr>
        <p:spPr>
          <a:xfrm>
            <a:off x="5623560" y="5577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000" dirty="0"/>
          </a:p>
        </p:txBody>
      </p:sp>
      <p:sp>
        <p:nvSpPr>
          <p:cNvPr id="54" name="Text 50"/>
          <p:cNvSpPr/>
          <p:nvPr/>
        </p:nvSpPr>
        <p:spPr>
          <a:xfrm>
            <a:off x="640080" y="55321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تنشر معلومات غير مؤكدة</a:t>
            </a:r>
            <a:endParaRPr lang="en-US" sz="1300" dirty="0"/>
          </a:p>
        </p:txBody>
      </p:sp>
      <p:sp>
        <p:nvSpPr>
          <p:cNvPr id="55" name="Shape 51"/>
          <p:cNvSpPr/>
          <p:nvPr/>
        </p:nvSpPr>
        <p:spPr>
          <a:xfrm>
            <a:off x="5623560" y="60350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56" name="Text 52"/>
          <p:cNvSpPr/>
          <p:nvPr/>
        </p:nvSpPr>
        <p:spPr>
          <a:xfrm>
            <a:off x="5623560" y="6035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7</a:t>
            </a:r>
            <a:endParaRPr lang="en-US" sz="1000" dirty="0"/>
          </a:p>
        </p:txBody>
      </p:sp>
      <p:sp>
        <p:nvSpPr>
          <p:cNvPr id="57" name="Text 53"/>
          <p:cNvSpPr/>
          <p:nvPr/>
        </p:nvSpPr>
        <p:spPr>
          <a:xfrm>
            <a:off x="640080" y="59893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تتجاهل الإنذار</a:t>
            </a:r>
            <a:endParaRPr lang="en-US" sz="1300" dirty="0"/>
          </a:p>
        </p:txBody>
      </p:sp>
      <p:sp>
        <p:nvSpPr>
          <p:cNvPr id="58" name="Shape 54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59" name="Image 2" descr="/home/claude/assets/social_ic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60" name="Shape 55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61" name="Text 56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62" name="Shape 57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63" name="Text 58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64" name="Shape 59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65" name="Text 60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66" name="Shape 61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67" name="Text 62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F.4</a:t>
            </a:r>
            <a:endParaRPr lang="en-US" sz="1000" dirty="0"/>
          </a:p>
        </p:txBody>
      </p:sp>
      <p:sp>
        <p:nvSpPr>
          <p:cNvPr id="68" name="Shape 63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69" name="Text 64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سيناريوهات تفاعلية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تطبيق عملي لما تعلمته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153912" y="2606040"/>
            <a:ext cx="55778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6336792" y="2770632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0B4EA2"/>
          </a:solidFill>
          <a:ln/>
        </p:spPr>
      </p:sp>
      <p:sp>
        <p:nvSpPr>
          <p:cNvPr id="12" name="Text 8"/>
          <p:cNvSpPr/>
          <p:nvPr/>
        </p:nvSpPr>
        <p:spPr>
          <a:xfrm>
            <a:off x="6336792" y="27706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 1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7525512" y="27432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سمعت جهاز الإنذار أثناء اجتماع عمل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6336792" y="3291840"/>
            <a:ext cx="5212080" cy="868680"/>
          </a:xfrm>
          <a:prstGeom prst="roundRect">
            <a:avLst>
              <a:gd name="adj" fmla="val 5263"/>
            </a:avLst>
          </a:prstGeom>
          <a:solidFill>
            <a:srgbClr val="D1FAE5"/>
          </a:solidFill>
          <a:ln w="6350">
            <a:solidFill>
              <a:srgbClr val="1B873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473952" y="331927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أوقف الاجتماع فورًا، واتبع مسار الإخلاء إلى نقطة التجمع</a:t>
            </a:r>
            <a:endParaRPr lang="ar-AE" sz="1200" dirty="0"/>
          </a:p>
        </p:txBody>
      </p:sp>
      <p:sp>
        <p:nvSpPr>
          <p:cNvPr id="16" name="Shape 12"/>
          <p:cNvSpPr/>
          <p:nvPr/>
        </p:nvSpPr>
        <p:spPr>
          <a:xfrm>
            <a:off x="457200" y="2606040"/>
            <a:ext cx="55778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0080" y="2770632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0B4EA2"/>
          </a:solidFill>
          <a:ln/>
        </p:spPr>
      </p:sp>
      <p:sp>
        <p:nvSpPr>
          <p:cNvPr id="18" name="Text 14"/>
          <p:cNvSpPr/>
          <p:nvPr/>
        </p:nvSpPr>
        <p:spPr>
          <a:xfrm>
            <a:off x="640080" y="27706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 2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1828800" y="27432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لاحظت زائرًا لا يعرف طريق الخروج</a:t>
            </a:r>
            <a:endParaRPr lang="en-US" sz="1400" dirty="0"/>
          </a:p>
        </p:txBody>
      </p:sp>
      <p:sp>
        <p:nvSpPr>
          <p:cNvPr id="20" name="Shape 16"/>
          <p:cNvSpPr/>
          <p:nvPr/>
        </p:nvSpPr>
        <p:spPr>
          <a:xfrm>
            <a:off x="640080" y="3291840"/>
            <a:ext cx="5212080" cy="868680"/>
          </a:xfrm>
          <a:prstGeom prst="roundRect">
            <a:avLst>
              <a:gd name="adj" fmla="val 5263"/>
            </a:avLst>
          </a:prstGeom>
          <a:solidFill>
            <a:srgbClr val="D1FAE5"/>
          </a:solidFill>
          <a:ln w="6350">
            <a:solidFill>
              <a:srgbClr val="1B873F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777240" y="331927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وجّهه بهدوء إلى أقرب مخرج آمن أو أبلغ فريق السلامة</a:t>
            </a:r>
            <a:endParaRPr lang="ar-AE" sz="1200" dirty="0"/>
          </a:p>
        </p:txBody>
      </p:sp>
      <p:sp>
        <p:nvSpPr>
          <p:cNvPr id="22" name="Shape 18"/>
          <p:cNvSpPr/>
          <p:nvPr/>
        </p:nvSpPr>
        <p:spPr>
          <a:xfrm>
            <a:off x="6153912" y="4434840"/>
            <a:ext cx="55778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6336792" y="4599432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0B4EA2"/>
          </a:solidFill>
          <a:ln/>
        </p:spPr>
      </p:sp>
      <p:sp>
        <p:nvSpPr>
          <p:cNvPr id="24" name="Text 20"/>
          <p:cNvSpPr/>
          <p:nvPr/>
        </p:nvSpPr>
        <p:spPr>
          <a:xfrm>
            <a:off x="6336792" y="45994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 3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7525512" y="45720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تركت جهازًا شخصيًا أو مستندات في المكتب</a:t>
            </a:r>
            <a:endParaRPr lang="en-US" sz="1400" dirty="0"/>
          </a:p>
        </p:txBody>
      </p:sp>
      <p:sp>
        <p:nvSpPr>
          <p:cNvPr id="26" name="Shape 22"/>
          <p:cNvSpPr/>
          <p:nvPr/>
        </p:nvSpPr>
        <p:spPr>
          <a:xfrm>
            <a:off x="6336792" y="5120640"/>
            <a:ext cx="5212080" cy="868680"/>
          </a:xfrm>
          <a:prstGeom prst="roundRect">
            <a:avLst>
              <a:gd name="adj" fmla="val 5263"/>
            </a:avLst>
          </a:prstGeom>
          <a:solidFill>
            <a:srgbClr val="D1FAE5"/>
          </a:solidFill>
          <a:ln w="6350">
            <a:solidFill>
              <a:srgbClr val="1B873F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6473952" y="514807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تعُد لأخذها، واستكمل الإخلاء</a:t>
            </a:r>
            <a:endParaRPr lang="ar-AE" sz="1200" dirty="0"/>
          </a:p>
        </p:txBody>
      </p:sp>
      <p:sp>
        <p:nvSpPr>
          <p:cNvPr id="28" name="Shape 24"/>
          <p:cNvSpPr/>
          <p:nvPr/>
        </p:nvSpPr>
        <p:spPr>
          <a:xfrm>
            <a:off x="457200" y="4434840"/>
            <a:ext cx="55778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9" name="Shape 25"/>
          <p:cNvSpPr/>
          <p:nvPr/>
        </p:nvSpPr>
        <p:spPr>
          <a:xfrm>
            <a:off x="640080" y="4599432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0B4EA2"/>
          </a:solidFill>
          <a:ln/>
        </p:spPr>
      </p:sp>
      <p:sp>
        <p:nvSpPr>
          <p:cNvPr id="30" name="Text 26"/>
          <p:cNvSpPr/>
          <p:nvPr/>
        </p:nvSpPr>
        <p:spPr>
          <a:xfrm>
            <a:off x="640080" y="45994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 4</a:t>
            </a:r>
            <a:endParaRPr lang="en-US" sz="1200" dirty="0"/>
          </a:p>
        </p:txBody>
      </p:sp>
      <p:sp>
        <p:nvSpPr>
          <p:cNvPr id="31" name="Text 27"/>
          <p:cNvSpPr/>
          <p:nvPr/>
        </p:nvSpPr>
        <p:spPr>
          <a:xfrm>
            <a:off x="1828800" y="45720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الممر المعتاد مليء بالدخان</a:t>
            </a:r>
            <a:endParaRPr lang="en-US" sz="1400" dirty="0"/>
          </a:p>
        </p:txBody>
      </p:sp>
      <p:sp>
        <p:nvSpPr>
          <p:cNvPr id="32" name="Shape 28"/>
          <p:cNvSpPr/>
          <p:nvPr/>
        </p:nvSpPr>
        <p:spPr>
          <a:xfrm>
            <a:off x="640080" y="5120640"/>
            <a:ext cx="5212080" cy="868680"/>
          </a:xfrm>
          <a:prstGeom prst="roundRect">
            <a:avLst>
              <a:gd name="adj" fmla="val 5263"/>
            </a:avLst>
          </a:prstGeom>
          <a:solidFill>
            <a:srgbClr val="D1FAE5"/>
          </a:solidFill>
          <a:ln w="6350">
            <a:solidFill>
              <a:srgbClr val="1B873F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777240" y="514807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تدخل الممر، واستخدم مسارًا بديلًا أو اتصل بالطوارئ</a:t>
            </a:r>
            <a:endParaRPr lang="ar-AE" sz="1200" dirty="0"/>
          </a:p>
        </p:txBody>
      </p:sp>
      <p:sp>
        <p:nvSpPr>
          <p:cNvPr id="34" name="Shape 30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5" name="Image 2" descr="/home/claude/assets/social_ic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6" name="Shape 31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7" name="Text 32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38" name="Shape 33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34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0" name="Shape 35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6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2" name="Shape 37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8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F.4</a:t>
            </a:r>
            <a:endParaRPr lang="en-US" sz="1000" dirty="0"/>
          </a:p>
        </p:txBody>
      </p:sp>
      <p:sp>
        <p:nvSpPr>
          <p:cNvPr id="44" name="Shape 39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40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اختبر معلوماتك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أسئلة سريعة لتقييم فهمك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457200" y="2606040"/>
            <a:ext cx="1124712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11201400" y="2706624"/>
            <a:ext cx="365760" cy="36576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65408" y="2770632"/>
            <a:ext cx="237744" cy="23774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40080" y="2651760"/>
            <a:ext cx="10469880" cy="274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3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س1: </a:t>
            </a:r>
            <a:r>
              <a:rPr lang="ar-AE" alt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ماذا تفعل عند سماع جهاز الإنذار في مكان العمل؟</a:t>
            </a:r>
            <a:endParaRPr lang="ar-AE" sz="1300" dirty="0"/>
          </a:p>
        </p:txBody>
      </p:sp>
      <p:sp>
        <p:nvSpPr>
          <p:cNvPr id="14" name="Text 9"/>
          <p:cNvSpPr/>
          <p:nvPr/>
        </p:nvSpPr>
        <p:spPr>
          <a:xfrm>
            <a:off x="640080" y="2898648"/>
            <a:ext cx="10469880" cy="24688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1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أتوقف فورًا وأتبع مسار الإخلاء إلى نقطة التجمع</a:t>
            </a:r>
            <a:endParaRPr lang="ar-AE" sz="1100" dirty="0"/>
          </a:p>
        </p:txBody>
      </p:sp>
      <p:sp>
        <p:nvSpPr>
          <p:cNvPr id="15" name="Shape 10"/>
          <p:cNvSpPr/>
          <p:nvPr/>
        </p:nvSpPr>
        <p:spPr>
          <a:xfrm>
            <a:off x="457200" y="3209544"/>
            <a:ext cx="1124712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11201400" y="3310128"/>
            <a:ext cx="365760" cy="36576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65408" y="3374136"/>
            <a:ext cx="237744" cy="23774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40080" y="3255264"/>
            <a:ext cx="10469880" cy="274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3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س2: </a:t>
            </a:r>
            <a:r>
              <a:rPr lang="ar-AE" alt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هل يجوز استخدام المصعد أثناء الحريق؟</a:t>
            </a:r>
            <a:endParaRPr lang="ar-AE" sz="1300" dirty="0"/>
          </a:p>
        </p:txBody>
      </p:sp>
      <p:sp>
        <p:nvSpPr>
          <p:cNvPr id="19" name="Text 13"/>
          <p:cNvSpPr/>
          <p:nvPr/>
        </p:nvSpPr>
        <p:spPr>
          <a:xfrm>
            <a:off x="640080" y="3502152"/>
            <a:ext cx="10469880" cy="24688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1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لا، يجب استخدام السلالم</a:t>
            </a:r>
            <a:endParaRPr lang="ar-AE" sz="1100" dirty="0"/>
          </a:p>
        </p:txBody>
      </p:sp>
      <p:sp>
        <p:nvSpPr>
          <p:cNvPr id="20" name="Shape 14"/>
          <p:cNvSpPr/>
          <p:nvPr/>
        </p:nvSpPr>
        <p:spPr>
          <a:xfrm>
            <a:off x="457200" y="3813048"/>
            <a:ext cx="1124712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11201400" y="3913632"/>
            <a:ext cx="365760" cy="36576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65408" y="3977640"/>
            <a:ext cx="237744" cy="237744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40080" y="3858768"/>
            <a:ext cx="10469880" cy="274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3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س3: </a:t>
            </a:r>
            <a:r>
              <a:rPr lang="ar-AE" alt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هل تعود إلى المكتب لأخذ أغراضك؟</a:t>
            </a:r>
            <a:endParaRPr lang="ar-AE" sz="1300" dirty="0"/>
          </a:p>
        </p:txBody>
      </p:sp>
      <p:sp>
        <p:nvSpPr>
          <p:cNvPr id="24" name="Text 17"/>
          <p:cNvSpPr/>
          <p:nvPr/>
        </p:nvSpPr>
        <p:spPr>
          <a:xfrm>
            <a:off x="640080" y="4105656"/>
            <a:ext cx="10469880" cy="24688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1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لا، سلامة الأرواح أولًا</a:t>
            </a:r>
            <a:endParaRPr lang="ar-AE" sz="1100" dirty="0"/>
          </a:p>
        </p:txBody>
      </p:sp>
      <p:sp>
        <p:nvSpPr>
          <p:cNvPr id="25" name="Shape 18"/>
          <p:cNvSpPr/>
          <p:nvPr/>
        </p:nvSpPr>
        <p:spPr>
          <a:xfrm>
            <a:off x="457200" y="4416552"/>
            <a:ext cx="1124712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6" name="Shape 19"/>
          <p:cNvSpPr/>
          <p:nvPr/>
        </p:nvSpPr>
        <p:spPr>
          <a:xfrm>
            <a:off x="11201400" y="4517136"/>
            <a:ext cx="365760" cy="36576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65408" y="4581144"/>
            <a:ext cx="237744" cy="237744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640080" y="4462272"/>
            <a:ext cx="10469880" cy="274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3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س4: </a:t>
            </a:r>
            <a:r>
              <a:rPr lang="ar-AE" alt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ماذا تفعل إذا رأيت شخصًا يحتاج إلى مساعدة؟</a:t>
            </a:r>
            <a:endParaRPr lang="ar-AE" sz="1300" dirty="0"/>
          </a:p>
        </p:txBody>
      </p:sp>
      <p:sp>
        <p:nvSpPr>
          <p:cNvPr id="29" name="Text 21"/>
          <p:cNvSpPr/>
          <p:nvPr/>
        </p:nvSpPr>
        <p:spPr>
          <a:xfrm>
            <a:off x="640080" y="4709160"/>
            <a:ext cx="10469880" cy="24688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1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أبلغ فريق السلامة وأساعد إذا كان ذلك آمنًا</a:t>
            </a:r>
            <a:endParaRPr lang="ar-AE" sz="1100" dirty="0"/>
          </a:p>
        </p:txBody>
      </p:sp>
      <p:sp>
        <p:nvSpPr>
          <p:cNvPr id="30" name="Shape 22"/>
          <p:cNvSpPr/>
          <p:nvPr/>
        </p:nvSpPr>
        <p:spPr>
          <a:xfrm>
            <a:off x="457200" y="5020056"/>
            <a:ext cx="1124712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1" name="Shape 23"/>
          <p:cNvSpPr/>
          <p:nvPr/>
        </p:nvSpPr>
        <p:spPr>
          <a:xfrm>
            <a:off x="11201400" y="5120640"/>
            <a:ext cx="365760" cy="36576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65408" y="5184648"/>
            <a:ext cx="237744" cy="237744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640080" y="5065776"/>
            <a:ext cx="10469880" cy="274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3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س5: </a:t>
            </a:r>
            <a:r>
              <a:rPr lang="ar-AE" alt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لماذا نلتزم بنقطة التجمع؟</a:t>
            </a:r>
            <a:endParaRPr lang="ar-AE" sz="1300" dirty="0"/>
          </a:p>
        </p:txBody>
      </p:sp>
      <p:sp>
        <p:nvSpPr>
          <p:cNvPr id="34" name="Text 25"/>
          <p:cNvSpPr/>
          <p:nvPr/>
        </p:nvSpPr>
        <p:spPr>
          <a:xfrm>
            <a:off x="640080" y="5312664"/>
            <a:ext cx="10469880" cy="24688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1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للتأكد من سلامة الجميع ومنع العودة العشوائية</a:t>
            </a:r>
            <a:endParaRPr lang="ar-AE" sz="1100" dirty="0"/>
          </a:p>
        </p:txBody>
      </p:sp>
      <p:sp>
        <p:nvSpPr>
          <p:cNvPr id="35" name="Shape 26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6" name="Image 7" descr="/home/claude/assets/social_icon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7" name="Shape 27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8" name="Text 28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39" name="Shape 29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0" name="Text 30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1" name="Shape 31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2" name="Text 32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3" name="Shape 33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4" name="Text 34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F.4</a:t>
            </a:r>
            <a:endParaRPr lang="en-US" sz="1000" dirty="0"/>
          </a:p>
        </p:txBody>
      </p:sp>
      <p:sp>
        <p:nvSpPr>
          <p:cNvPr id="45" name="Shape 35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6" name="Text 36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Shape 3"/>
          <p:cNvSpPr/>
          <p:nvPr/>
        </p:nvSpPr>
        <p:spPr>
          <a:xfrm>
            <a:off x="5088636" y="1097280"/>
            <a:ext cx="2011680" cy="2011680"/>
          </a:xfrm>
          <a:prstGeom prst="ellipse">
            <a:avLst/>
          </a:prstGeom>
          <a:solidFill>
            <a:srgbClr val="DCE7F5">
              <a:alpha val="50000"/>
            </a:srgbClr>
          </a:solidFill>
          <a:ln/>
        </p:spPr>
      </p:sp>
      <p:sp>
        <p:nvSpPr>
          <p:cNvPr id="8" name="Shape 4"/>
          <p:cNvSpPr/>
          <p:nvPr/>
        </p:nvSpPr>
        <p:spPr>
          <a:xfrm>
            <a:off x="5362956" y="1280160"/>
            <a:ext cx="1463040" cy="146304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37276" y="1554480"/>
            <a:ext cx="914400" cy="9144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57200" y="347472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4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شكرًا لكم</a:t>
            </a:r>
            <a:endParaRPr lang="en-US" sz="4400" dirty="0"/>
          </a:p>
        </p:txBody>
      </p:sp>
      <p:sp>
        <p:nvSpPr>
          <p:cNvPr id="11" name="Text 6"/>
          <p:cNvSpPr/>
          <p:nvPr/>
        </p:nvSpPr>
        <p:spPr>
          <a:xfrm>
            <a:off x="457200" y="429768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7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الإخلاء الآمن في مكان العمل مسؤولية مشتركة</a:t>
            </a:r>
            <a:endParaRPr lang="en-US" sz="1700" dirty="0"/>
          </a:p>
        </p:txBody>
      </p:sp>
      <p:sp>
        <p:nvSpPr>
          <p:cNvPr id="12" name="Shape 7"/>
          <p:cNvSpPr/>
          <p:nvPr/>
        </p:nvSpPr>
        <p:spPr>
          <a:xfrm>
            <a:off x="5637276" y="4754880"/>
            <a:ext cx="914400" cy="0"/>
          </a:xfrm>
          <a:prstGeom prst="line">
            <a:avLst/>
          </a:prstGeom>
          <a:noFill/>
          <a:ln w="25400">
            <a:solidFill>
              <a:srgbClr val="0B4EA2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457200" y="49834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اعرف المخارج • استجب للإنذار • استخدم السلالم • نقطة التجمع • اتصل بـ 999</a:t>
            </a:r>
            <a:endParaRPr lang="en-US" sz="1400" dirty="0"/>
          </a:p>
        </p:txBody>
      </p:sp>
      <p:sp>
        <p:nvSpPr>
          <p:cNvPr id="14" name="Shape 9"/>
          <p:cNvSpPr/>
          <p:nvPr/>
        </p:nvSpPr>
        <p:spPr>
          <a:xfrm>
            <a:off x="2286000" y="5440680"/>
            <a:ext cx="7589520" cy="685800"/>
          </a:xfrm>
          <a:prstGeom prst="roundRect">
            <a:avLst>
              <a:gd name="adj" fmla="val 6667"/>
            </a:avLst>
          </a:prstGeom>
          <a:solidFill>
            <a:srgbClr val="EEF3FA"/>
          </a:solidFill>
          <a:ln w="9525">
            <a:solidFill>
              <a:srgbClr val="0B4EA2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2286000" y="5440680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300" b="1" i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"الالتزام بخطة الإخلاء يجعل بيئة العمل أكثر أمنًا وسلامة"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17" name="Image 3" descr="/home/claude/assets/social_icon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F.4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نسق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1386</Words>
  <Application>Microsoft Office PowerPoint</Application>
  <PresentationFormat>شاشة عريضة</PresentationFormat>
  <Paragraphs>339</Paragraphs>
  <Slides>18</Slides>
  <Notes>18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3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18</vt:i4>
      </vt:variant>
    </vt:vector>
  </HeadingPairs>
  <TitlesOfParts>
    <vt:vector size="22" baseType="lpstr">
      <vt:lpstr>Arial</vt:lpstr>
      <vt:lpstr>Calibri</vt:lpstr>
      <vt:lpstr>Tajawal</vt:lpstr>
      <vt:lpstr>Office Theme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الإخلاء الآمن في مكان العمل</dc:title>
  <dc:subject>PptxGenJS Presentation</dc:subject>
  <dc:creator>هيئة أبوظبي للدفاع المدني</dc:creator>
  <cp:lastModifiedBy>Lenovo</cp:lastModifiedBy>
  <cp:revision>1</cp:revision>
  <dcterms:created xsi:type="dcterms:W3CDTF">2026-05-06T01:35:42Z</dcterms:created>
  <dcterms:modified xsi:type="dcterms:W3CDTF">2026-05-14T23:08:46Z</dcterms:modified>
</cp:coreProperties>
</file>