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100291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20.png"/><Relationship Id="rId5" Type="http://schemas.openxmlformats.org/officeDocument/2006/relationships/image" Target="../media/image16.png"/><Relationship Id="rId10" Type="http://schemas.openxmlformats.org/officeDocument/2006/relationships/image" Target="../media/image19.png"/><Relationship Id="rId4" Type="http://schemas.openxmlformats.org/officeDocument/2006/relationships/image" Target="../media/image2.png"/><Relationship Id="rId9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4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.png"/><Relationship Id="rId9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32.png"/><Relationship Id="rId5" Type="http://schemas.openxmlformats.org/officeDocument/2006/relationships/image" Target="../media/image27.png"/><Relationship Id="rId10" Type="http://schemas.openxmlformats.org/officeDocument/2006/relationships/image" Target="../media/image31.png"/><Relationship Id="rId4" Type="http://schemas.openxmlformats.org/officeDocument/2006/relationships/image" Target="../media/image2.png"/><Relationship Id="rId9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11" Type="http://schemas.openxmlformats.org/officeDocument/2006/relationships/image" Target="../media/image4.png"/><Relationship Id="rId5" Type="http://schemas.openxmlformats.org/officeDocument/2006/relationships/image" Target="../media/image19.png"/><Relationship Id="rId10" Type="http://schemas.openxmlformats.org/officeDocument/2006/relationships/image" Target="../media/image37.png"/><Relationship Id="rId4" Type="http://schemas.openxmlformats.org/officeDocument/2006/relationships/image" Target="../media/image2.png"/><Relationship Id="rId9" Type="http://schemas.openxmlformats.org/officeDocument/2006/relationships/image" Target="../media/image3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8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1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4.png"/><Relationship Id="rId5" Type="http://schemas.openxmlformats.org/officeDocument/2006/relationships/image" Target="../media/image39.png"/><Relationship Id="rId10" Type="http://schemas.openxmlformats.org/officeDocument/2006/relationships/image" Target="../media/image41.png"/><Relationship Id="rId4" Type="http://schemas.openxmlformats.org/officeDocument/2006/relationships/image" Target="../media/image2.png"/><Relationship Id="rId9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1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4.png"/><Relationship Id="rId5" Type="http://schemas.openxmlformats.org/officeDocument/2006/relationships/image" Target="../media/image25.png"/><Relationship Id="rId10" Type="http://schemas.openxmlformats.org/officeDocument/2006/relationships/image" Target="../media/image42.png"/><Relationship Id="rId4" Type="http://schemas.openxmlformats.org/officeDocument/2006/relationships/image" Target="../media/image2.png"/><Relationship Id="rId9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35.png"/><Relationship Id="rId12" Type="http://schemas.openxmlformats.org/officeDocument/2006/relationships/image" Target="../media/image4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11" Type="http://schemas.openxmlformats.org/officeDocument/2006/relationships/image" Target="../media/image46.png"/><Relationship Id="rId5" Type="http://schemas.openxmlformats.org/officeDocument/2006/relationships/image" Target="../media/image42.png"/><Relationship Id="rId10" Type="http://schemas.openxmlformats.org/officeDocument/2006/relationships/image" Target="../media/image27.png"/><Relationship Id="rId4" Type="http://schemas.openxmlformats.org/officeDocument/2006/relationships/image" Target="../media/image2.png"/><Relationship Id="rId9" Type="http://schemas.openxmlformats.org/officeDocument/2006/relationships/image" Target="../media/image4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.png"/><Relationship Id="rId7" Type="http://schemas.openxmlformats.org/officeDocument/2006/relationships/image" Target="../media/image4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11" Type="http://schemas.openxmlformats.org/officeDocument/2006/relationships/image" Target="../media/image44.png"/><Relationship Id="rId5" Type="http://schemas.openxmlformats.org/officeDocument/2006/relationships/image" Target="../media/image27.png"/><Relationship Id="rId10" Type="http://schemas.openxmlformats.org/officeDocument/2006/relationships/image" Target="../media/image19.png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50.png"/><Relationship Id="rId12" Type="http://schemas.openxmlformats.org/officeDocument/2006/relationships/image" Target="../media/image4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36.png"/><Relationship Id="rId5" Type="http://schemas.openxmlformats.org/officeDocument/2006/relationships/image" Target="../media/image18.png"/><Relationship Id="rId10" Type="http://schemas.openxmlformats.org/officeDocument/2006/relationships/image" Target="../media/image22.png"/><Relationship Id="rId4" Type="http://schemas.openxmlformats.org/officeDocument/2006/relationships/image" Target="../media/image2.png"/><Relationship Id="rId9" Type="http://schemas.openxmlformats.org/officeDocument/2006/relationships/image" Target="../media/image5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37.png"/><Relationship Id="rId12" Type="http://schemas.openxmlformats.org/officeDocument/2006/relationships/image" Target="../media/image5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11" Type="http://schemas.openxmlformats.org/officeDocument/2006/relationships/image" Target="../media/image52.png"/><Relationship Id="rId5" Type="http://schemas.openxmlformats.org/officeDocument/2006/relationships/image" Target="../media/image47.png"/><Relationship Id="rId10" Type="http://schemas.openxmlformats.org/officeDocument/2006/relationships/image" Target="../media/image45.png"/><Relationship Id="rId4" Type="http://schemas.openxmlformats.org/officeDocument/2006/relationships/image" Target="../media/image2.png"/><Relationship Id="rId9" Type="http://schemas.openxmlformats.org/officeDocument/2006/relationships/image" Target="../media/image5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1.png"/><Relationship Id="rId7" Type="http://schemas.openxmlformats.org/officeDocument/2006/relationships/image" Target="../media/image25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11" Type="http://schemas.openxmlformats.org/officeDocument/2006/relationships/image" Target="../media/image41.png"/><Relationship Id="rId5" Type="http://schemas.openxmlformats.org/officeDocument/2006/relationships/image" Target="../media/image54.png"/><Relationship Id="rId10" Type="http://schemas.openxmlformats.org/officeDocument/2006/relationships/image" Target="../media/image57.png"/><Relationship Id="rId4" Type="http://schemas.openxmlformats.org/officeDocument/2006/relationships/image" Target="../media/image2.png"/><Relationship Id="rId9" Type="http://schemas.openxmlformats.org/officeDocument/2006/relationships/image" Target="../media/image56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1.png"/><Relationship Id="rId7" Type="http://schemas.openxmlformats.org/officeDocument/2006/relationships/image" Target="../media/image5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11" Type="http://schemas.openxmlformats.org/officeDocument/2006/relationships/image" Target="../media/image4.png"/><Relationship Id="rId5" Type="http://schemas.openxmlformats.org/officeDocument/2006/relationships/image" Target="../media/image41.png"/><Relationship Id="rId10" Type="http://schemas.openxmlformats.org/officeDocument/2006/relationships/image" Target="../media/image39.png"/><Relationship Id="rId4" Type="http://schemas.openxmlformats.org/officeDocument/2006/relationships/image" Target="../media/image2.png"/><Relationship Id="rId9" Type="http://schemas.openxmlformats.org/officeDocument/2006/relationships/image" Target="../media/image5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50.png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التسمم والتسمم الغذائي</a:t>
            </a:r>
            <a:endParaRPr lang="en-US" sz="34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المصاب، إيقاف التعرض، وطلب المساعدة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31520" y="5257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"التعامل يحتاج هدوءًا، وعدم القيام بتصرفات عشوائية، وطلب المساعدة عند علامات الخطورة"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E.13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بالتسمم؟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يحدث في المنزل أو العمل أو الرحلات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تعرّف مبكر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على العلامات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إيقاف التعرض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للمادة الضارة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 الأخطاء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كإجبار التقيؤ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الأطفال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المواد الخطرة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طلب المساعدة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بسرعة عند الخطر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ثقافة الوقاية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التسمم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الاشتباه بالتسمم، لا تنتظر ظهور كل الأعراض، واتصل بـ 999 عند الخطر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E.13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المقصود بالتسمم؟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تأثر الجسم بمادة ضارة عبر طرق مختلفة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ابتلاع مواد أو أدوية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طعام ملوث أو فاسد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استنشاق غازات أو أبخرة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ملامسة الجلد أو العين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مواد غير معروفة المصدر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1" name="Text 2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تحاول التشخيص — دورك تأمين المكان وطلب المساعدة وإعطاء المعلومات للمختصين</a:t>
            </a:r>
            <a:endParaRPr lang="ar-AE" sz="1200" dirty="0"/>
          </a:p>
        </p:txBody>
      </p:sp>
      <p:sp>
        <p:nvSpPr>
          <p:cNvPr id="32" name="Shape 2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6" name="Shape 2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8" name="Shape 2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0" name="Shape 3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E.13</a:t>
            </a:r>
            <a:endParaRPr lang="en-US" sz="1000" dirty="0"/>
          </a:p>
        </p:txBody>
      </p:sp>
      <p:sp>
        <p:nvSpPr>
          <p:cNvPr id="42" name="Shape 3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مصادر التسمم الشائعة في المنزل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مواد قد تكون خطرة عند سوء الاستخدام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مواد التنظيف المركزة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المبيدات الكيميائية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أدوية تستخدم بطريقة خاطئة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مستحضرات بروائح قوية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أغذية فاسدة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أبخرة من خلط المواد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وقود ومواد قابلة للاشتعال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احفظ المواد الخطرة في عبواتها الأصلية وبعيدًا عن متناول الأطفال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التسمم الغذائي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أسباب محتملة لتلوث الطعام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حفظ بدرجة غير مناسبة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ترك الطعام خارج التبريد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طهي غير كافٍ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تلوث أثناء التحضير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أدوات غير نظيفة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طعام منتهي الصلاحية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تبدأ بالنظافة والحفظ الصحيح والتأكد من صلاحية الطعام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E.13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التسمم الغذائي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تظهر بعد الأكل بفترة متفاوتة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ألم وتقلصات في البطن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غثيان أو قيء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إسهال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تعب وضعف عام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ارتفاع في الحرارة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دوخة أو جفاف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تدهور لدى الأطفال وكبار السن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المساعدة عند شدة الأعراض أو استمرارها أو ظهور علامات الجفاف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التسمم الكيميائي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تكون أكثر خطورة من الغذائي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رائحة كيميائية حول المصاب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تنفس أو سعال شديد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حرقان في الفم أو الحلق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قيء أو غثيان مفاجئ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دوخة أو ارتباك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تهيج في الجلد أو العين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فقدان وعي أو ضعف استجابة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إجراء عاجل: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المصاب عن المصدر إن كان آمنًا، واتصل فورًا بـ 999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E.13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تأمين المكان قبل المساعدة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تحقق من المخاطر قبل الاقتراب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أبخرة أو روائح قوية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انسكاب مواد كيميائية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حريق أو دخان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مواد غير معروفة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عبوات مفتوحة أو مكسورة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خطر على الأطفال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إذا كان المكان غير آمن، ابتعد، ولا تقترب، واتصل فورًا بـ 999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E.13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عند ابتلاع مادة ضارة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التصرفات العشوائية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ابقَ هادئًا وطمئن المصاب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تجبره على التقيؤ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طعام أو شراب دون توجيه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احتفظ بعبوة المادة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التنفس والاستجابة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موظف الطوارئ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 مهم: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إجبار المصاب على التقيؤ قد يزيد الخطر في بعض الحالات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E.13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عند استنشاق أبخرة أو غازات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خطر سريع في الأماكن المغلقة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78892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83464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78892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 مكانًا مليئًا بالأبخرة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236976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2826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282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236976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انقله للهواء النقي إن أمكن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685032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7307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685032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افتح التهوية إن كان آمنًا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4133088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41788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4133088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581144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6268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581144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الآخرين عن المكان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502920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507492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502920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أجهزة كهربائية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سلامتك أولًا — لا تحاول إنقاذ شخص في مكان خطر دون مختصين</a:t>
            </a:r>
            <a:endParaRPr lang="ar-AE" sz="1200" dirty="0"/>
          </a:p>
        </p:txBody>
      </p:sp>
      <p:sp>
        <p:nvSpPr>
          <p:cNvPr id="40" name="Shape 3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E.13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عند ملامسة الجلد لمادة كيميائية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إيقاف التعرض بطريقة آمنة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المصدر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قفازات واقية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أزل الملابس الملوثة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اغسل المنطقة بالماء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تخلط مواد للمعالجة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الخطورة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الملصق أو موظف الطوارئ — بعض المواد تحتاج تعاملًا خاصًا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E.13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عند تعرض العين لمادة كيميائية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حالة طارئة تحتاج تصرفًا سريعًا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تفرك العين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 عن المصدر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اغسل العين بالماء بلطف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قطرات غير موصى بها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احتفظ بعبوة المادة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العين حساسة جدًا — أي تعرض كيميائي يحتاج إلى تقييم عاجل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E.13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يكون التسمم حالة طارئة؟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ظهور هذه العلامات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فقدان الوعي أو ضعف الاستجابة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في التنفس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تشنجات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ابتلاع مادة كيميائية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تعرض العين لمادة كيميائية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قيء أو إسهال شديد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أعراض شديدة لطفل أو كبير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ألم شديد أو تدهور سريع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الشك، اطلب المساعدة فورًا ولا تنتظر تدهور الحالة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E.13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معلومات مهمة تُعطى للطوارئ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تساعد المختصين في التقييم السريع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موقع الحالة بدقة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عمر المصاب التقريبي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نوع المادة المشتبه بها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وقت التعرض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7452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92811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099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7510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كمية المادة إن كانت معروفة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44271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62559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0847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44855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الأعراض الظاهرة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واعٍ ويتنفس؟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88376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02055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03436" y="475488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98435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توجد عبوة بالملصق؟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تعرّض نفسك للخطر للحصول على العبوة — خذها فقط إذا كان آمنًا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E.13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لا تفعل عند التسمم؟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تصرفات قد تزيد الخطر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تجبره على التقيؤ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طعام أو شراب دون توجيه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أدوية أو وصفات شعبية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تخلط مواد للمعالجة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المواد دون حماية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 مكانًا بالأبخرة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تؤخر الاتصال بـ 999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الخاطئ قد يكون أخطر من الانتظار المنظم لوصول المختصين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التسمم الغذائي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النظافة والحفظ الصحيح للطعام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غسل اليدين قبل التحضير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غسل الأدوات والأسطح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فصل النيء عن الجاهز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طهي الطعام جيدًا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7452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92811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099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7510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حفظ بدرجة مناسبة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44271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62559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0847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44855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الطعام طويلًا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تخلص من الطعام الفاسد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88376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02055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03436" y="475488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98435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انتبه لتاريخ الصلاحية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الغذاء تبدأ من الشراء والتخزين والتحضير، وليس فقط عند الأكل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E.13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التسمم المنزلي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تخزين وتنظيم آمن للمواد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احفظها في عبواتها الأصلية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تنقلها لعبوات طعام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أدوية بعيدًا عن الأطفال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تخلط مواد التنظيف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7452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92811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099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7510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أغلق العبوات بعد الاستخدام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44271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62559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0847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44855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اقرأ تعليمات الاستخدام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تخلص من المنتهي بأمان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88376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02055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03436" y="475488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98435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خزّنها في مكان مرتفع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الطفل قد لا يميز بين العبوة الخطرة وعبوة الشراب — التخزين الآمن ضروري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E.13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التسمم في المدارس والعمل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ضوابط واضحة للمواد والأطعمة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تخزين في أماكن مخصصة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ملصقات واضحة على العبوات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 العبوات غير المعروفة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تدريب على تعليمات السلامة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نظافة أماكن إعداد الطعام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انسكاب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أرقام الطوارئ في أماكن واضحة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الإبلاغ المبكر عن المواد الخطرة يمنع إصابات أكبر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دور الموجودين في المكان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الاستجابة وحماية الجميع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يتصل بـ 999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يبعد الأطفال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يفتح التهوية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يحضر العبوة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يطمئن المصاب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يفتح طريق الإسعاف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الأدوار يقلل الفوضى ويمنع تعرض أشخاص آخرين للخطر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E.13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عند التسمم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سلامة المكان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المصاب عن المصدر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الخطورة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احتفظ باسم المادة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التنفس والاستجابة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موظف الطوارئ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احفظ المواد بعيدًا عن الأطفال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تجبره على التقيؤ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طعام أو شراب دون توجيه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أدوية أو وصفات شعبية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تخلط مواد كيميائية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المواد دون حماية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 مكانًا بالأبخرة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تؤخر طلب المساعدة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E.13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طفل ابتلع مادة تنظيف غير معروفة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999، لا تجبره على التقيؤ، ولا تعطه أي شيء، واحتفظ بالعبوة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تناول طعامًا فاسدًا وأعراض قيء وإسهال شديد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الحالة، امنع الجفاف إن كان واعيًا، واتصل بـ 999 عند شدة الأعراض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انسكبت مادة كيميائية برائحة قوية في العمل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الأشخاص، لا تلمس المادة، هوّ المكان بأمان، وأبلغ واتصل بـ 999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تعرضت عين شخص لمادة كيميائية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تفرك العين، اغسلها بالماء بلطف إن أمكن، واتصل فورًا بـ 999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E.13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09960" y="2779776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2852928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7919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أول إجراء عند الاشتباه بتسمم كيميائي؟</a:t>
            </a:r>
            <a:endParaRPr lang="ar-AE" sz="1400" dirty="0"/>
          </a:p>
        </p:txBody>
      </p:sp>
      <p:sp>
        <p:nvSpPr>
          <p:cNvPr id="14" name="Text 9"/>
          <p:cNvSpPr/>
          <p:nvPr/>
        </p:nvSpPr>
        <p:spPr>
          <a:xfrm>
            <a:off x="640080" y="2990088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تأمين المكان وإبعاد المصاب عن المصدر إن كان آمنًا، ثم الاتصال بـ 999</a:t>
            </a:r>
            <a:endParaRPr lang="ar-AE" sz="1200" dirty="0"/>
          </a:p>
        </p:txBody>
      </p:sp>
      <p:sp>
        <p:nvSpPr>
          <p:cNvPr id="15" name="Shape 10"/>
          <p:cNvSpPr/>
          <p:nvPr/>
        </p:nvSpPr>
        <p:spPr>
          <a:xfrm>
            <a:off x="457200" y="3374136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109960" y="3547872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362102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44728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إجبار المصاب على التقيؤ؟</a:t>
            </a:r>
            <a:endParaRPr lang="ar-AE" sz="1400" dirty="0"/>
          </a:p>
        </p:txBody>
      </p:sp>
      <p:sp>
        <p:nvSpPr>
          <p:cNvPr id="19" name="Text 13"/>
          <p:cNvSpPr/>
          <p:nvPr/>
        </p:nvSpPr>
        <p:spPr>
          <a:xfrm>
            <a:off x="640080" y="3758184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لا يجب إجبار المصاب على التقيؤ، ويجب اتباع تعليمات المختصين</a:t>
            </a:r>
            <a:endParaRPr lang="ar-AE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4142232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109960" y="4315968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43891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42153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نفعل عند التعرض لأبخرة في مكان مغلق؟</a:t>
            </a:r>
            <a:endParaRPr lang="ar-AE" sz="1400" dirty="0"/>
          </a:p>
        </p:txBody>
      </p:sp>
      <p:sp>
        <p:nvSpPr>
          <p:cNvPr id="24" name="Text 17"/>
          <p:cNvSpPr/>
          <p:nvPr/>
        </p:nvSpPr>
        <p:spPr>
          <a:xfrm>
            <a:off x="640080" y="4526280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دخول المكان إن كان غير آمن، إبعاد الأشخاص، والاتصال بـ 999</a:t>
            </a:r>
            <a:endParaRPr lang="ar-AE" sz="1200" dirty="0"/>
          </a:p>
        </p:txBody>
      </p:sp>
      <p:sp>
        <p:nvSpPr>
          <p:cNvPr id="25" name="Shape 18"/>
          <p:cNvSpPr/>
          <p:nvPr/>
        </p:nvSpPr>
        <p:spPr>
          <a:xfrm>
            <a:off x="457200" y="4910328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109960" y="5084064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5157216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9834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كيف نقلل مخاطر التسمم الغذائي؟</a:t>
            </a:r>
            <a:endParaRPr lang="ar-AE" sz="1400" dirty="0"/>
          </a:p>
        </p:txBody>
      </p:sp>
      <p:sp>
        <p:nvSpPr>
          <p:cNvPr id="29" name="Text 21"/>
          <p:cNvSpPr/>
          <p:nvPr/>
        </p:nvSpPr>
        <p:spPr>
          <a:xfrm>
            <a:off x="640080" y="5294376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بالنظافة والطهي الجيد والحفظ المناسب وعدم تناول الفاسد أو المنتهي</a:t>
            </a:r>
            <a:endParaRPr lang="ar-AE" sz="1200" dirty="0"/>
          </a:p>
        </p:txBody>
      </p:sp>
      <p:sp>
        <p:nvSpPr>
          <p:cNvPr id="30" name="Shape 2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1" name="Image 6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3" name="Text 2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6" name="Shape 2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38" name="Shape 2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E.13</a:t>
            </a:r>
            <a:endParaRPr lang="en-US" sz="1000" dirty="0"/>
          </a:p>
        </p:txBody>
      </p:sp>
      <p:sp>
        <p:nvSpPr>
          <p:cNvPr id="40" name="Shape 3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سرعة الانتباه وإيقاف التعرض وعدم التصرف العشوائي يحمي المصاب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تجبره على التقيؤ • لا أدوية شعبية • احفظ المواد عن الأطفال • اتصل بـ 999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"الوقاية تبدأ بالتخزين الآمن، والتصرف الصحيح يبدأ بطلب المساعدة في الوقت المناسب"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E.13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1770</Words>
  <Application>Microsoft Office PowerPoint</Application>
  <PresentationFormat>شاشة عريضة</PresentationFormat>
  <Paragraphs>410</Paragraphs>
  <Slides>23</Slides>
  <Notes>23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23</vt:i4>
      </vt:variant>
    </vt:vector>
  </HeadingPairs>
  <TitlesOfParts>
    <vt:vector size="27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التعامل مع التسمم والتسمم الغذائي</dc:title>
  <dc:subject>PptxGenJS Presentation</dc:subject>
  <dc:creator>هيئة أبوظبي للدفاع المدني</dc:creator>
  <cp:lastModifiedBy>Lenovo</cp:lastModifiedBy>
  <cp:revision>1</cp:revision>
  <dcterms:created xsi:type="dcterms:W3CDTF">2026-05-07T23:45:02Z</dcterms:created>
  <dcterms:modified xsi:type="dcterms:W3CDTF">2026-05-08T00:26:37Z</dcterms:modified>
</cp:coreProperties>
</file>