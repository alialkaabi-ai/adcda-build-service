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7" d="100"/>
          <a:sy n="97" d="100"/>
        </p:scale>
        <p:origin x="115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725709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11" Type="http://schemas.openxmlformats.org/officeDocument/2006/relationships/image" Target="../media/image4.png"/><Relationship Id="rId5" Type="http://schemas.openxmlformats.org/officeDocument/2006/relationships/image" Target="../media/image5.png"/><Relationship Id="rId10" Type="http://schemas.openxmlformats.org/officeDocument/2006/relationships/image" Target="../media/image10.png"/><Relationship Id="rId4" Type="http://schemas.openxmlformats.org/officeDocument/2006/relationships/image" Target="../media/image2.png"/><Relationship Id="rId9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11" Type="http://schemas.openxmlformats.org/officeDocument/2006/relationships/image" Target="../media/image4.png"/><Relationship Id="rId5" Type="http://schemas.openxmlformats.org/officeDocument/2006/relationships/image" Target="../media/image11.png"/><Relationship Id="rId10" Type="http://schemas.openxmlformats.org/officeDocument/2006/relationships/image" Target="../media/image16.png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21.png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22.png"/><Relationship Id="rId4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.png"/><Relationship Id="rId5" Type="http://schemas.openxmlformats.org/officeDocument/2006/relationships/image" Target="../media/image23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.png"/><Relationship Id="rId11" Type="http://schemas.openxmlformats.org/officeDocument/2006/relationships/image" Target="../media/image4.png"/><Relationship Id="rId5" Type="http://schemas.openxmlformats.org/officeDocument/2006/relationships/image" Target="../media/image24.png"/><Relationship Id="rId10" Type="http://schemas.openxmlformats.org/officeDocument/2006/relationships/image" Target="../media/image28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png"/><Relationship Id="rId7" Type="http://schemas.openxmlformats.org/officeDocument/2006/relationships/image" Target="../media/image2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4.png"/><Relationship Id="rId5" Type="http://schemas.openxmlformats.org/officeDocument/2006/relationships/image" Target="../media/image23.png"/><Relationship Id="rId10" Type="http://schemas.openxmlformats.org/officeDocument/2006/relationships/image" Target="../media/image15.png"/><Relationship Id="rId4" Type="http://schemas.openxmlformats.org/officeDocument/2006/relationships/image" Target="../media/image2.png"/><Relationship Id="rId9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1.png"/><Relationship Id="rId7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11" Type="http://schemas.openxmlformats.org/officeDocument/2006/relationships/image" Target="../media/image4.png"/><Relationship Id="rId5" Type="http://schemas.openxmlformats.org/officeDocument/2006/relationships/image" Target="../media/image17.png"/><Relationship Id="rId10" Type="http://schemas.openxmlformats.org/officeDocument/2006/relationships/image" Target="../media/image14.png"/><Relationship Id="rId4" Type="http://schemas.openxmlformats.org/officeDocument/2006/relationships/image" Target="../media/image2.png"/><Relationship Id="rId9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11" Type="http://schemas.openxmlformats.org/officeDocument/2006/relationships/image" Target="../media/image4.png"/><Relationship Id="rId5" Type="http://schemas.openxmlformats.org/officeDocument/2006/relationships/image" Target="../media/image30.png"/><Relationship Id="rId10" Type="http://schemas.openxmlformats.org/officeDocument/2006/relationships/image" Target="../media/image12.png"/><Relationship Id="rId4" Type="http://schemas.openxmlformats.org/officeDocument/2006/relationships/image" Target="../media/image2.png"/><Relationship Id="rId9" Type="http://schemas.openxmlformats.org/officeDocument/2006/relationships/image" Target="../media/image33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8.png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.png"/><Relationship Id="rId7" Type="http://schemas.openxmlformats.org/officeDocument/2006/relationships/image" Target="../media/image23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6.png"/><Relationship Id="rId11" Type="http://schemas.openxmlformats.org/officeDocument/2006/relationships/image" Target="../media/image34.png"/><Relationship Id="rId5" Type="http://schemas.openxmlformats.org/officeDocument/2006/relationships/image" Target="../media/image32.png"/><Relationship Id="rId10" Type="http://schemas.openxmlformats.org/officeDocument/2006/relationships/image" Target="../media/image39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2.png"/><Relationship Id="rId3" Type="http://schemas.openxmlformats.org/officeDocument/2006/relationships/image" Target="../media/image1.png"/><Relationship Id="rId7" Type="http://schemas.openxmlformats.org/officeDocument/2006/relationships/image" Target="../media/image4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0.png"/><Relationship Id="rId11" Type="http://schemas.openxmlformats.org/officeDocument/2006/relationships/image" Target="../media/image4.png"/><Relationship Id="rId5" Type="http://schemas.openxmlformats.org/officeDocument/2006/relationships/image" Target="../media/image37.png"/><Relationship Id="rId10" Type="http://schemas.openxmlformats.org/officeDocument/2006/relationships/image" Target="../media/image34.png"/><Relationship Id="rId4" Type="http://schemas.openxmlformats.org/officeDocument/2006/relationships/image" Target="../media/image2.png"/><Relationship Id="rId9" Type="http://schemas.openxmlformats.org/officeDocument/2006/relationships/image" Target="../media/image1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6.png"/><Relationship Id="rId3" Type="http://schemas.openxmlformats.org/officeDocument/2006/relationships/image" Target="../media/image1.png"/><Relationship Id="rId7" Type="http://schemas.openxmlformats.org/officeDocument/2006/relationships/image" Target="../media/image45.png"/><Relationship Id="rId12" Type="http://schemas.openxmlformats.org/officeDocument/2006/relationships/image" Target="../media/image4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2.png"/><Relationship Id="rId11" Type="http://schemas.openxmlformats.org/officeDocument/2006/relationships/image" Target="../media/image34.png"/><Relationship Id="rId5" Type="http://schemas.openxmlformats.org/officeDocument/2006/relationships/image" Target="../media/image11.png"/><Relationship Id="rId10" Type="http://schemas.openxmlformats.org/officeDocument/2006/relationships/image" Target="../media/image18.png"/><Relationship Id="rId4" Type="http://schemas.openxmlformats.org/officeDocument/2006/relationships/image" Target="../media/image2.png"/><Relationship Id="rId9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15.png"/><Relationship Id="rId4" Type="http://schemas.openxmlformats.org/officeDocument/2006/relationships/image" Target="../media/image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17236" y="1325880"/>
            <a:ext cx="1554480" cy="1554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1556" y="1600200"/>
            <a:ext cx="1005840" cy="100584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65760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3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الإسعافات الأولية في المنزل</a:t>
            </a:r>
            <a:endParaRPr lang="en-US" sz="3400" dirty="0"/>
          </a:p>
        </p:txBody>
      </p:sp>
      <p:sp>
        <p:nvSpPr>
          <p:cNvPr id="11" name="Text 6"/>
          <p:cNvSpPr/>
          <p:nvPr/>
        </p:nvSpPr>
        <p:spPr>
          <a:xfrm>
            <a:off x="457200" y="45262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8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مجهزة، منظمة، مفحوصة، ومعروفة المكان</a:t>
            </a:r>
            <a:endParaRPr lang="en-US" sz="1800" dirty="0"/>
          </a:p>
        </p:txBody>
      </p:sp>
      <p:sp>
        <p:nvSpPr>
          <p:cNvPr id="12" name="Shape 7"/>
          <p:cNvSpPr/>
          <p:nvPr/>
        </p:nvSpPr>
        <p:spPr>
          <a:xfrm>
            <a:off x="5637276" y="49834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731520" y="525780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300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"حقيبة إسعافات أولية مجهزة في المنزل تساعد على التعامل الآمن مع الإصابات البسيطة والحالات الطارئة"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5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6" name="Shape 1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7" name="Text 1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18" name="Shape 1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نحتاج حقيبة إسعافات أولية في المنزل؟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أساسية للتعامل مع الإصابات البسيطة في المنزل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937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509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79576" y="3200400"/>
            <a:ext cx="457200" cy="457200"/>
          </a:xfrm>
          <a:prstGeom prst="rect">
            <a:avLst/>
          </a:prstGeom>
        </p:spPr>
      </p:pic>
      <p:sp>
        <p:nvSpPr>
          <p:cNvPr id="13" name="Shape 8"/>
          <p:cNvSpPr/>
          <p:nvPr/>
        </p:nvSpPr>
        <p:spPr>
          <a:xfrm>
            <a:off x="7452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5852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أساسية</a:t>
            </a:r>
            <a:endParaRPr lang="en-US" sz="1400" dirty="0"/>
          </a:p>
        </p:txBody>
      </p:sp>
      <p:sp>
        <p:nvSpPr>
          <p:cNvPr id="15" name="Text 10"/>
          <p:cNvSpPr/>
          <p:nvPr/>
        </p:nvSpPr>
        <p:spPr>
          <a:xfrm>
            <a:off x="5852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للإصابات البسيطة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236829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282549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54096" y="3200400"/>
            <a:ext cx="457200" cy="457200"/>
          </a:xfrm>
          <a:prstGeom prst="rect">
            <a:avLst/>
          </a:prstGeom>
        </p:spPr>
      </p:pic>
      <p:sp>
        <p:nvSpPr>
          <p:cNvPr id="19" name="Shape 13"/>
          <p:cNvSpPr/>
          <p:nvPr/>
        </p:nvSpPr>
        <p:spPr>
          <a:xfrm>
            <a:off x="261975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0" name="Text 14"/>
          <p:cNvSpPr/>
          <p:nvPr/>
        </p:nvSpPr>
        <p:spPr>
          <a:xfrm>
            <a:off x="245973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تقليل الارتباك</a:t>
            </a:r>
            <a:endParaRPr lang="en-US" sz="1400" dirty="0"/>
          </a:p>
        </p:txBody>
      </p:sp>
      <p:sp>
        <p:nvSpPr>
          <p:cNvPr id="21" name="Text 15"/>
          <p:cNvSpPr/>
          <p:nvPr/>
        </p:nvSpPr>
        <p:spPr>
          <a:xfrm>
            <a:off x="245973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عند حدوث طارئ</a:t>
            </a:r>
            <a:endParaRPr lang="en-US" sz="1100" dirty="0"/>
          </a:p>
        </p:txBody>
      </p:sp>
      <p:sp>
        <p:nvSpPr>
          <p:cNvPr id="22" name="Shape 16"/>
          <p:cNvSpPr/>
          <p:nvPr/>
        </p:nvSpPr>
        <p:spPr>
          <a:xfrm>
            <a:off x="424281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470001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8616" y="3200400"/>
            <a:ext cx="457200" cy="457200"/>
          </a:xfrm>
          <a:prstGeom prst="rect">
            <a:avLst/>
          </a:prstGeom>
        </p:spPr>
      </p:pic>
      <p:sp>
        <p:nvSpPr>
          <p:cNvPr id="25" name="Shape 18"/>
          <p:cNvSpPr/>
          <p:nvPr/>
        </p:nvSpPr>
        <p:spPr>
          <a:xfrm>
            <a:off x="449427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26" name="Text 19"/>
          <p:cNvSpPr/>
          <p:nvPr/>
        </p:nvSpPr>
        <p:spPr>
          <a:xfrm>
            <a:off x="433425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المصاب</a:t>
            </a:r>
            <a:endParaRPr lang="en-US" sz="1400" dirty="0"/>
          </a:p>
        </p:txBody>
      </p:sp>
      <p:sp>
        <p:nvSpPr>
          <p:cNvPr id="27" name="Text 20"/>
          <p:cNvSpPr/>
          <p:nvPr/>
        </p:nvSpPr>
        <p:spPr>
          <a:xfrm>
            <a:off x="433425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حتى وصول المختصين</a:t>
            </a:r>
            <a:endParaRPr lang="en-US" sz="1100" dirty="0"/>
          </a:p>
        </p:txBody>
      </p:sp>
      <p:sp>
        <p:nvSpPr>
          <p:cNvPr id="28" name="Shape 21"/>
          <p:cNvSpPr/>
          <p:nvPr/>
        </p:nvSpPr>
        <p:spPr>
          <a:xfrm>
            <a:off x="611733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657453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0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03136" y="3200400"/>
            <a:ext cx="457200" cy="457200"/>
          </a:xfrm>
          <a:prstGeom prst="rect">
            <a:avLst/>
          </a:prstGeom>
        </p:spPr>
      </p:pic>
      <p:sp>
        <p:nvSpPr>
          <p:cNvPr id="31" name="Shape 23"/>
          <p:cNvSpPr/>
          <p:nvPr/>
        </p:nvSpPr>
        <p:spPr>
          <a:xfrm>
            <a:off x="636879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2" name="Text 24"/>
          <p:cNvSpPr/>
          <p:nvPr/>
        </p:nvSpPr>
        <p:spPr>
          <a:xfrm>
            <a:off x="620877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استعداد الأسرة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620877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للحالات المفاجئة</a:t>
            </a:r>
            <a:endParaRPr lang="en-US" sz="1100" dirty="0"/>
          </a:p>
        </p:txBody>
      </p:sp>
      <p:sp>
        <p:nvSpPr>
          <p:cNvPr id="34" name="Shape 26"/>
          <p:cNvSpPr/>
          <p:nvPr/>
        </p:nvSpPr>
        <p:spPr>
          <a:xfrm>
            <a:off x="799185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844905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36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77656" y="3200400"/>
            <a:ext cx="457200" cy="457200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824331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808329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وصول سريع</a:t>
            </a:r>
            <a:endParaRPr lang="en-US" sz="1400" dirty="0"/>
          </a:p>
        </p:txBody>
      </p:sp>
      <p:sp>
        <p:nvSpPr>
          <p:cNvPr id="39" name="Text 30"/>
          <p:cNvSpPr/>
          <p:nvPr/>
        </p:nvSpPr>
        <p:spPr>
          <a:xfrm>
            <a:off x="808329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للأدوات اللازمة</a:t>
            </a:r>
            <a:endParaRPr lang="en-US" sz="1100" dirty="0"/>
          </a:p>
        </p:txBody>
      </p:sp>
      <p:sp>
        <p:nvSpPr>
          <p:cNvPr id="40" name="Shape 31"/>
          <p:cNvSpPr/>
          <p:nvPr/>
        </p:nvSpPr>
        <p:spPr>
          <a:xfrm>
            <a:off x="9866376" y="2697480"/>
            <a:ext cx="1828800" cy="210312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41" name="Shape 32"/>
          <p:cNvSpPr/>
          <p:nvPr/>
        </p:nvSpPr>
        <p:spPr>
          <a:xfrm>
            <a:off x="10323576" y="2971800"/>
            <a:ext cx="914400" cy="9144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4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2176" y="3200400"/>
            <a:ext cx="457200" cy="457200"/>
          </a:xfrm>
          <a:prstGeom prst="rect">
            <a:avLst/>
          </a:prstGeom>
        </p:spPr>
      </p:pic>
      <p:sp>
        <p:nvSpPr>
          <p:cNvPr id="43" name="Shape 33"/>
          <p:cNvSpPr/>
          <p:nvPr/>
        </p:nvSpPr>
        <p:spPr>
          <a:xfrm>
            <a:off x="10117836" y="4069080"/>
            <a:ext cx="1325880" cy="0"/>
          </a:xfrm>
          <a:prstGeom prst="line">
            <a:avLst/>
          </a:prstGeom>
          <a:noFill/>
          <a:ln w="12700">
            <a:solidFill>
              <a:srgbClr val="E5EBF2"/>
            </a:solidFill>
            <a:prstDash val="solid"/>
          </a:ln>
        </p:spPr>
      </p:sp>
      <p:sp>
        <p:nvSpPr>
          <p:cNvPr id="44" name="Text 34"/>
          <p:cNvSpPr/>
          <p:nvPr/>
        </p:nvSpPr>
        <p:spPr>
          <a:xfrm>
            <a:off x="9957816" y="4160520"/>
            <a:ext cx="16459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ثقافة الوقاية</a:t>
            </a:r>
            <a:endParaRPr lang="en-US" sz="1400" dirty="0"/>
          </a:p>
        </p:txBody>
      </p:sp>
      <p:sp>
        <p:nvSpPr>
          <p:cNvPr id="45" name="Text 35"/>
          <p:cNvSpPr/>
          <p:nvPr/>
        </p:nvSpPr>
        <p:spPr>
          <a:xfrm>
            <a:off x="9957816" y="45720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t"/>
          <a:lstStyle/>
          <a:p>
            <a:pPr marL="0" indent="0" algn="ctr" rtl="1">
              <a:buNone/>
            </a:pPr>
            <a:r>
              <a:rPr lang="en-US" sz="11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والاستجابة الآمنة</a:t>
            </a:r>
            <a:endParaRPr lang="en-US" sz="1100" dirty="0"/>
          </a:p>
        </p:txBody>
      </p:sp>
      <p:sp>
        <p:nvSpPr>
          <p:cNvPr id="46" name="Shape 36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7" name="Text 37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تذكَّر: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الإسعافات لا تغني عن الاتصال بـ 999 عند الحالات الخطيرة</a:t>
            </a:r>
            <a:endParaRPr lang="ar-AE" sz="1200" dirty="0"/>
          </a:p>
        </p:txBody>
      </p:sp>
      <p:sp>
        <p:nvSpPr>
          <p:cNvPr id="48" name="Shape 38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9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50" name="Shape 39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0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52" name="Shape 41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2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4" name="Shape 43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44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6" name="Shape 45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7" name="Text 46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58" name="Shape 47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9" name="Text 48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توضع حقيبة الإسعافات الأولية؟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الحقيبة مهم بقدر أهمية محتوياتها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واضح ومعروف للأسرة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بعيدة عن متناول الأطفال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بعيدة عن الحرارة والرطوبة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تخفِها خلف أغراض كثيرة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اختر مكانًا سهل الوصول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أبلغ الكبار بمكانها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غير المفحوصة أو المخفية في مكان غير واضح قد لا تفيد وقت الطوارئ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مواصفات الحقيبة المناسبة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عملية، منظمة، وسهلة الحمل عند الحاجة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علامة إسعافات أولية واضحة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سهلة الفتح والإغلاق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مقسمة من الداخل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مقاومة للرطوبة والغبار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خفيفة وسهلة الحمل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قائمة بالمحتويات وتاريخ الفحص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التنظيم داخل الحقيبة يساعد على الوصول السريع للأداة المناسبة دون إضاعة وقت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المكونات الأساسية للحقيبة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يُنصح بتوفرها في كل حقيبة منزلية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69748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72491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72491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69748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لاصقة بأحجام مختلفة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09067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11810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1181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09067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شاش طبي معقم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483864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5112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5112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483864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قطنية ماصة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3877056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390448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390448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3877056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شريط طبي لاصق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270248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29768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2976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270248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قفازات طبية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4663440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469087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469087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4663440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مناديل مطهرة مناسبة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846320" y="5056632"/>
            <a:ext cx="6858000" cy="347472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7" name="Shape 32"/>
          <p:cNvSpPr/>
          <p:nvPr/>
        </p:nvSpPr>
        <p:spPr>
          <a:xfrm>
            <a:off x="11320272" y="50840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8" name="Text 33"/>
          <p:cNvSpPr/>
          <p:nvPr/>
        </p:nvSpPr>
        <p:spPr>
          <a:xfrm>
            <a:off x="11320272" y="50840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9" name="Text 34"/>
          <p:cNvSpPr/>
          <p:nvPr/>
        </p:nvSpPr>
        <p:spPr>
          <a:xfrm>
            <a:off x="4983480" y="5056632"/>
            <a:ext cx="6199632" cy="347472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مقص وملقط آمنان</a:t>
            </a:r>
            <a:endParaRPr lang="en-US" sz="1200" dirty="0"/>
          </a:p>
        </p:txBody>
      </p:sp>
      <p:sp>
        <p:nvSpPr>
          <p:cNvPr id="40" name="Shape 3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استخدم الأدوات حسب الحاجة وبطريقة آمنة، ولا تقدم تدخلات غير معروفة</a:t>
            </a:r>
            <a:endParaRPr lang="ar-AE" sz="1200" dirty="0"/>
          </a:p>
        </p:txBody>
      </p:sp>
      <p:sp>
        <p:nvSpPr>
          <p:cNvPr id="42" name="Shape 3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3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4" name="Shape 3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0" name="Shape 4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52" name="Shape 4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التعامل مع الجروح البسيطة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النظافة والتعقيم يقللان المضاعفات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قفازات طبية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شاش معقم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لاصقة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شريط طبي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مناديل مطهرة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كيس صغير للمخلفات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وجود جرح كبير أو نزيف شديد، ولا تكتفِ بالإسعاف البسيط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التعامل مع الحروق البسيطة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العناية الأولية الصحيحة تقلل تفاقم الإصابة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شاش معقم غير لاصق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نظيفة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قفازات طبية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مقص آمن عند الحاجة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دليل إسعافات مبسط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مياه نظيفة بدرجة فاترة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الحروق الكهربائية أو الكيميائية أو الواسعة تحتاج إلى مساعدة مختصة فورًا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الحماية الشخصية للمسعف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حماية المسعف ضرورية عند وجود دم أو سوائل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قفازات طبية للاستخدام مرة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كمامة عند الحاجة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مناديل تنظيف ومعقم يدين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أكياس للتخلص من المواد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حاجز واقٍ للإنعاش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حماية للعينين عند الحاجة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تساعد بطريقة تعرضك للخطر، واستخدم الحماية الشخصية قدر الإمكان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التثبيت والدعم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دعم بسيط للإصابات الناتجة عن السقوط أو الالتواء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رباط ضاغط مرن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ضمادات لف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شاش أو وسائد ضماد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شريط طبي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كيس بارد فوري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تحرك الطرف المصاب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الأدوات المساعدة لا تعني علاج الإصابة، بل دعم مؤقت حتى الوصول للمساعدة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الأدوية داخل حقيبة الإسعافات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تعامل بحذر مع الأدوية المنزلية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دون معرفة استخدامها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 في عبواتها الأصلية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تابع تاريخ الصلاحية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تعطها لشخص آخر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راعِ الحساسية والحالات المزمنة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احفظها بعيدًا عن الأطفال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الدواء الخاطئ أو الجرعة غير المناسبة قد يسبب ضررًا — التزم بالتوجيه الطبي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الطوارئ والمعلومات المهمة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وقت الطوارئ مربك — والمعلومات الجاهزة تسرّع التصرف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005840" y="2606040"/>
            <a:ext cx="1828800" cy="1828800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1" name="Shape 7"/>
          <p:cNvSpPr/>
          <p:nvPr/>
        </p:nvSpPr>
        <p:spPr>
          <a:xfrm>
            <a:off x="1170432" y="2770632"/>
            <a:ext cx="1499616" cy="1499616"/>
          </a:xfrm>
          <a:prstGeom prst="ellipse">
            <a:avLst/>
          </a:prstGeom>
          <a:solidFill>
            <a:srgbClr val="FFFFFF"/>
          </a:solidFill>
          <a:ln/>
        </p:spPr>
      </p:sp>
      <p:sp>
        <p:nvSpPr>
          <p:cNvPr id="12" name="Text 8"/>
          <p:cNvSpPr/>
          <p:nvPr/>
        </p:nvSpPr>
        <p:spPr>
          <a:xfrm>
            <a:off x="1005840" y="2971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999</a:t>
            </a:r>
            <a:endParaRPr lang="en-US" sz="4000" dirty="0"/>
          </a:p>
        </p:txBody>
      </p:sp>
      <p:sp>
        <p:nvSpPr>
          <p:cNvPr id="13" name="Text 9"/>
          <p:cNvSpPr/>
          <p:nvPr/>
        </p:nvSpPr>
        <p:spPr>
          <a:xfrm>
            <a:off x="1005840" y="36393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kern="0" spc="100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EMERGENCY</a:t>
            </a:r>
            <a:endParaRPr lang="en-US" sz="900" dirty="0"/>
          </a:p>
        </p:txBody>
      </p:sp>
      <p:sp>
        <p:nvSpPr>
          <p:cNvPr id="14" name="Shape 10"/>
          <p:cNvSpPr/>
          <p:nvPr/>
        </p:nvSpPr>
        <p:spPr>
          <a:xfrm>
            <a:off x="3200400" y="2788920"/>
            <a:ext cx="854964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762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3383280" y="28346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داخل الحقيبة:</a:t>
            </a:r>
            <a:endParaRPr lang="en-US" sz="1300" dirty="0"/>
          </a:p>
        </p:txBody>
      </p:sp>
      <p:sp>
        <p:nvSpPr>
          <p:cNvPr id="16" name="Text 12"/>
          <p:cNvSpPr/>
          <p:nvPr/>
        </p:nvSpPr>
        <p:spPr>
          <a:xfrm>
            <a:off x="3383280" y="32004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i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"رقم 999 • عنوان المنزل • أقرب معلم • أرقام الأهل • معلومات صحية مهمة"</a:t>
            </a:r>
            <a:endParaRPr lang="en-US" sz="1400" dirty="0"/>
          </a:p>
        </p:txBody>
      </p:sp>
      <p:sp>
        <p:nvSpPr>
          <p:cNvPr id="17" name="Shape 13"/>
          <p:cNvSpPr/>
          <p:nvPr/>
        </p:nvSpPr>
        <p:spPr>
          <a:xfrm>
            <a:off x="56235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8" name="Shape 14"/>
          <p:cNvSpPr/>
          <p:nvPr/>
        </p:nvSpPr>
        <p:spPr>
          <a:xfrm>
            <a:off x="74523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8116" y="4823460"/>
            <a:ext cx="320040" cy="32004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56819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رقم 999</a:t>
            </a:r>
            <a:endParaRPr lang="en-US" sz="1300" dirty="0"/>
          </a:p>
        </p:txBody>
      </p:sp>
      <p:sp>
        <p:nvSpPr>
          <p:cNvPr id="21" name="Shape 16"/>
          <p:cNvSpPr/>
          <p:nvPr/>
        </p:nvSpPr>
        <p:spPr>
          <a:xfrm>
            <a:off x="335127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353415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717036" y="482346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435711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عنوان المنزل بوضوح</a:t>
            </a:r>
            <a:endParaRPr lang="en-US" sz="1300" dirty="0"/>
          </a:p>
        </p:txBody>
      </p:sp>
      <p:sp>
        <p:nvSpPr>
          <p:cNvPr id="25" name="Shape 19"/>
          <p:cNvSpPr/>
          <p:nvPr/>
        </p:nvSpPr>
        <p:spPr>
          <a:xfrm>
            <a:off x="614019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32307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4823460"/>
            <a:ext cx="320040" cy="320040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4603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أقرب معلم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929116" y="4434840"/>
            <a:ext cx="2697480" cy="1097280"/>
          </a:xfrm>
          <a:prstGeom prst="roundRect">
            <a:avLst>
              <a:gd name="adj" fmla="val 6667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9111996" y="464058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1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94876" y="4823460"/>
            <a:ext cx="320040" cy="32004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934956" y="4434840"/>
            <a:ext cx="1508760" cy="10972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أرقام الأسرة</a:t>
            </a:r>
            <a:endParaRPr lang="en-US" sz="1300" dirty="0"/>
          </a:p>
        </p:txBody>
      </p:sp>
      <p:sp>
        <p:nvSpPr>
          <p:cNvPr id="33" name="Shape 25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4" name="Text 26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وجود رقم 999 والمعلومات الأساسية مكتوبة يساعد الجميع على التصرف السريع</a:t>
            </a:r>
            <a:endParaRPr lang="ar-AE" sz="1200" dirty="0"/>
          </a:p>
        </p:txBody>
      </p:sp>
      <p:sp>
        <p:nvSpPr>
          <p:cNvPr id="35" name="Shape 27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6" name="Image 6" descr="/home/claude/assets/social_icon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7" name="Shape 28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8" name="Text 29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0" name="Text 31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1" name="Shape 32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2" name="Text 33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3" name="Shape 34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4" name="Text 35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5" name="Shape 36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6" name="Text 37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تنظيم الحقيبة من الداخل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التنظيم يجعل الاستخدام أسرع وقت الطوارئ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1371600" y="2926080"/>
            <a:ext cx="2286000" cy="228600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1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0" y="3383280"/>
            <a:ext cx="1371600" cy="1371600"/>
          </a:xfrm>
          <a:prstGeom prst="rect">
            <a:avLst/>
          </a:prstGeom>
        </p:spPr>
      </p:pic>
      <p:sp>
        <p:nvSpPr>
          <p:cNvPr id="12" name="Shape 7"/>
          <p:cNvSpPr/>
          <p:nvPr/>
        </p:nvSpPr>
        <p:spPr>
          <a:xfrm>
            <a:off x="4846320" y="278892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3" name="Shape 8"/>
          <p:cNvSpPr/>
          <p:nvPr/>
        </p:nvSpPr>
        <p:spPr>
          <a:xfrm>
            <a:off x="11320272" y="283464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4" name="Text 9"/>
          <p:cNvSpPr/>
          <p:nvPr/>
        </p:nvSpPr>
        <p:spPr>
          <a:xfrm>
            <a:off x="11320272" y="2834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0"/>
          <p:cNvSpPr/>
          <p:nvPr/>
        </p:nvSpPr>
        <p:spPr>
          <a:xfrm>
            <a:off x="4983480" y="278892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الضمادات في قسم مستقل</a:t>
            </a:r>
            <a:endParaRPr lang="en-US" sz="1200" dirty="0"/>
          </a:p>
        </p:txBody>
      </p:sp>
      <p:sp>
        <p:nvSpPr>
          <p:cNvPr id="16" name="Shape 11"/>
          <p:cNvSpPr/>
          <p:nvPr/>
        </p:nvSpPr>
        <p:spPr>
          <a:xfrm>
            <a:off x="4846320" y="3236976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7" name="Shape 12"/>
          <p:cNvSpPr/>
          <p:nvPr/>
        </p:nvSpPr>
        <p:spPr>
          <a:xfrm>
            <a:off x="11320272" y="3282696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18" name="Text 13"/>
          <p:cNvSpPr/>
          <p:nvPr/>
        </p:nvSpPr>
        <p:spPr>
          <a:xfrm>
            <a:off x="11320272" y="328269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9" name="Text 14"/>
          <p:cNvSpPr/>
          <p:nvPr/>
        </p:nvSpPr>
        <p:spPr>
          <a:xfrm>
            <a:off x="4983480" y="3236976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التعقيم في قسم واضح</a:t>
            </a:r>
            <a:endParaRPr lang="en-US" sz="1200" dirty="0"/>
          </a:p>
        </p:txBody>
      </p:sp>
      <p:sp>
        <p:nvSpPr>
          <p:cNvPr id="20" name="Shape 15"/>
          <p:cNvSpPr/>
          <p:nvPr/>
        </p:nvSpPr>
        <p:spPr>
          <a:xfrm>
            <a:off x="4846320" y="3685032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1320272" y="3730752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2" name="Text 17"/>
          <p:cNvSpPr/>
          <p:nvPr/>
        </p:nvSpPr>
        <p:spPr>
          <a:xfrm>
            <a:off x="11320272" y="37307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3" name="Text 18"/>
          <p:cNvSpPr/>
          <p:nvPr/>
        </p:nvSpPr>
        <p:spPr>
          <a:xfrm>
            <a:off x="4983480" y="3685032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القفازات سريعة الوصول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4846320" y="4133088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5" name="Shape 20"/>
          <p:cNvSpPr/>
          <p:nvPr/>
        </p:nvSpPr>
        <p:spPr>
          <a:xfrm>
            <a:off x="11320272" y="4178808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26" name="Text 21"/>
          <p:cNvSpPr/>
          <p:nvPr/>
        </p:nvSpPr>
        <p:spPr>
          <a:xfrm>
            <a:off x="11320272" y="41788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7" name="Text 22"/>
          <p:cNvSpPr/>
          <p:nvPr/>
        </p:nvSpPr>
        <p:spPr>
          <a:xfrm>
            <a:off x="4983480" y="4133088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الأدوية في قسم منفصل ومغلق</a:t>
            </a:r>
            <a:endParaRPr lang="en-US" sz="1200" dirty="0"/>
          </a:p>
        </p:txBody>
      </p:sp>
      <p:sp>
        <p:nvSpPr>
          <p:cNvPr id="28" name="Shape 23"/>
          <p:cNvSpPr/>
          <p:nvPr/>
        </p:nvSpPr>
        <p:spPr>
          <a:xfrm>
            <a:off x="4846320" y="4581144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9" name="Shape 24"/>
          <p:cNvSpPr/>
          <p:nvPr/>
        </p:nvSpPr>
        <p:spPr>
          <a:xfrm>
            <a:off x="11320272" y="4626864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0" name="Text 25"/>
          <p:cNvSpPr/>
          <p:nvPr/>
        </p:nvSpPr>
        <p:spPr>
          <a:xfrm>
            <a:off x="11320272" y="462686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31" name="Text 26"/>
          <p:cNvSpPr/>
          <p:nvPr/>
        </p:nvSpPr>
        <p:spPr>
          <a:xfrm>
            <a:off x="4983480" y="4581144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دليل ورقم 999 في الأعلى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4846320" y="5029200"/>
            <a:ext cx="6858000" cy="384048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11320272" y="5074920"/>
            <a:ext cx="292608" cy="292608"/>
          </a:xfrm>
          <a:prstGeom prst="ellipse">
            <a:avLst/>
          </a:prstGeom>
          <a:solidFill>
            <a:srgbClr val="0B4EA2"/>
          </a:solidFill>
          <a:ln/>
        </p:spPr>
      </p:sp>
      <p:sp>
        <p:nvSpPr>
          <p:cNvPr id="34" name="Text 29"/>
          <p:cNvSpPr/>
          <p:nvPr/>
        </p:nvSpPr>
        <p:spPr>
          <a:xfrm>
            <a:off x="11320272" y="50749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5" name="Text 30"/>
          <p:cNvSpPr/>
          <p:nvPr/>
        </p:nvSpPr>
        <p:spPr>
          <a:xfrm>
            <a:off x="4983480" y="5029200"/>
            <a:ext cx="6199632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قائمة بالمحتويات محدّثة</a:t>
            </a:r>
            <a:endParaRPr lang="en-US" sz="1200" dirty="0"/>
          </a:p>
        </p:txBody>
      </p:sp>
      <p:sp>
        <p:nvSpPr>
          <p:cNvPr id="36" name="Shape 31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غير المنظمة قد تسبب تأخيرًا في الوصول إلى الأدوات المطلوبة</a:t>
            </a:r>
            <a:endParaRPr lang="ar-AE" sz="1200" dirty="0"/>
          </a:p>
        </p:txBody>
      </p:sp>
      <p:sp>
        <p:nvSpPr>
          <p:cNvPr id="38" name="Shape 33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9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0" name="Shape 34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5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2" name="Shape 36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7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4" name="Shape 38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9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6" name="Shape 40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1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8" name="Shape 42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3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الفحص الدوري للحقيبة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تحتاج إلى مراجعة دورية حتى تبقى جاهزة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صلاحية الأدوية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صلاحية المطهرات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توفر القفازات والضمادات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نظافة الحقيبة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اكتمال الأدوات الأساسية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عمل المصباح الصغير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تحديث رقم 999 والمعلومات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نفحص؟: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بشكل دوري، وبعد كل استخدام، وقبل الرحلات أو المناسبات العائلية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من يجب أن يعرف مكان الحقيبة؟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المعرفة بمكان الحقيبة لا تقل أهمية عن تجهيزها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الوالدان ومقدمو الرعاية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الأبناء الأكبر سنًا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العاملون في المنزل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كبار السن القادرون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344271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362559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80847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44855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ليست للعب الأطفال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614019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6323076" y="4480560"/>
            <a:ext cx="685800" cy="68580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650595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714603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تدريب الأسرة على رقم 999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5" name="Text 25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المعرفة بمكان الحقيبة لا تقل أهمية عن تجهيزها</a:t>
            </a:r>
            <a:endParaRPr lang="ar-AE" sz="1200" dirty="0"/>
          </a:p>
        </p:txBody>
      </p:sp>
      <p:sp>
        <p:nvSpPr>
          <p:cNvPr id="36" name="Shape 26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7" name="Image 8" descr="/home/claude/assets/social_icons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8" name="Shape 27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0" name="Shape 29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0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2" name="Shape 31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2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4" name="Shape 33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4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6" name="Shape 35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6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إسعافات للمنزل والسيارة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كل منهما يلبي احتياجًا مختلفًا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CE7F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المنزل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8554212" y="3246120"/>
            <a:ext cx="777240" cy="77724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714232" y="3401568"/>
            <a:ext cx="457200" cy="45720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428232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أكبر حجمًا •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28232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أكثر تنوعًا •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6428232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مكان معروف داخل المنزل •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457200" y="2606040"/>
            <a:ext cx="5577840" cy="301752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DCE7F5"/>
          </a:solidFill>
          <a:ln/>
        </p:spPr>
      </p:sp>
      <p:sp>
        <p:nvSpPr>
          <p:cNvPr id="20" name="Text 15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حقيبة المركبة</a:t>
            </a:r>
            <a:endParaRPr lang="en-US" sz="1800" dirty="0"/>
          </a:p>
        </p:txBody>
      </p:sp>
      <p:sp>
        <p:nvSpPr>
          <p:cNvPr id="21" name="Shape 16"/>
          <p:cNvSpPr/>
          <p:nvPr/>
        </p:nvSpPr>
        <p:spPr>
          <a:xfrm>
            <a:off x="2857500" y="3246120"/>
            <a:ext cx="777240" cy="777240"/>
          </a:xfrm>
          <a:prstGeom prst="ellipse">
            <a:avLst/>
          </a:prstGeom>
          <a:solidFill>
            <a:srgbClr val="DCE7F5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017520" y="3401568"/>
            <a:ext cx="457200" cy="45720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31520" y="4160520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صغيرة وسهلة الحمل •</a:t>
            </a:r>
            <a:endParaRPr lang="en-US" sz="1200" dirty="0"/>
          </a:p>
        </p:txBody>
      </p:sp>
      <p:sp>
        <p:nvSpPr>
          <p:cNvPr id="24" name="Text 18"/>
          <p:cNvSpPr/>
          <p:nvPr/>
        </p:nvSpPr>
        <p:spPr>
          <a:xfrm>
            <a:off x="731520" y="4498848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بعيدًا عن الحرارة قدر الإمكان •</a:t>
            </a:r>
            <a:endParaRPr lang="en-US" sz="1200" dirty="0"/>
          </a:p>
        </p:txBody>
      </p:sp>
      <p:sp>
        <p:nvSpPr>
          <p:cNvPr id="25" name="Text 19"/>
          <p:cNvSpPr/>
          <p:nvPr/>
        </p:nvSpPr>
        <p:spPr>
          <a:xfrm>
            <a:off x="731520" y="4837176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تفحص بانتظام •</a:t>
            </a:r>
            <a:endParaRPr lang="en-US" sz="1200" dirty="0"/>
          </a:p>
        </p:txBody>
      </p:sp>
      <p:sp>
        <p:nvSpPr>
          <p:cNvPr id="26" name="Shape 20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تنبيه: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 الأدوات أو الأدوية داخل المركبة لفترات طويلة دون فحص، خاصة في الأجواء الحارة</a:t>
            </a:r>
            <a:endParaRPr lang="ar-AE" sz="1200" dirty="0"/>
          </a:p>
        </p:txBody>
      </p:sp>
      <p:sp>
        <p:nvSpPr>
          <p:cNvPr id="28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29" name="Image 4" descr="/home/claude/assets/social_icons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0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2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6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38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لا تكفي حقيبة الإسعافات؟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حالات تحتاج إلى تدخل مختص — اتصل بـ 999 فورًا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99632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347704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2" name="Text 8"/>
          <p:cNvSpPr/>
          <p:nvPr/>
        </p:nvSpPr>
        <p:spPr>
          <a:xfrm>
            <a:off x="11347704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6336792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فقدان الوعي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199632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11347704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16" name="Text 12"/>
          <p:cNvSpPr/>
          <p:nvPr/>
        </p:nvSpPr>
        <p:spPr>
          <a:xfrm>
            <a:off x="11347704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100" dirty="0"/>
          </a:p>
        </p:txBody>
      </p:sp>
      <p:sp>
        <p:nvSpPr>
          <p:cNvPr id="17" name="Text 13"/>
          <p:cNvSpPr/>
          <p:nvPr/>
        </p:nvSpPr>
        <p:spPr>
          <a:xfrm>
            <a:off x="6336792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صعوبة التنفس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199632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9" name="Shape 15"/>
          <p:cNvSpPr/>
          <p:nvPr/>
        </p:nvSpPr>
        <p:spPr>
          <a:xfrm>
            <a:off x="11347704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0" name="Text 16"/>
          <p:cNvSpPr/>
          <p:nvPr/>
        </p:nvSpPr>
        <p:spPr>
          <a:xfrm>
            <a:off x="11347704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100" dirty="0"/>
          </a:p>
        </p:txBody>
      </p:sp>
      <p:sp>
        <p:nvSpPr>
          <p:cNvPr id="21" name="Text 17"/>
          <p:cNvSpPr/>
          <p:nvPr/>
        </p:nvSpPr>
        <p:spPr>
          <a:xfrm>
            <a:off x="6336792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ألم شديد في الصدر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99632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11347704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4" name="Text 20"/>
          <p:cNvSpPr/>
          <p:nvPr/>
        </p:nvSpPr>
        <p:spPr>
          <a:xfrm>
            <a:off x="11347704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100" dirty="0"/>
          </a:p>
        </p:txBody>
      </p:sp>
      <p:sp>
        <p:nvSpPr>
          <p:cNvPr id="25" name="Text 21"/>
          <p:cNvSpPr/>
          <p:nvPr/>
        </p:nvSpPr>
        <p:spPr>
          <a:xfrm>
            <a:off x="6336792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نزيف شديد</a:t>
            </a:r>
            <a:endParaRPr lang="en-US" sz="1300" dirty="0"/>
          </a:p>
        </p:txBody>
      </p:sp>
      <p:sp>
        <p:nvSpPr>
          <p:cNvPr id="26" name="Shape 22"/>
          <p:cNvSpPr/>
          <p:nvPr/>
        </p:nvSpPr>
        <p:spPr>
          <a:xfrm>
            <a:off x="457200" y="2606040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5605272" y="2688336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28" name="Text 24"/>
          <p:cNvSpPr/>
          <p:nvPr/>
        </p:nvSpPr>
        <p:spPr>
          <a:xfrm>
            <a:off x="5605272" y="268833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100" dirty="0"/>
          </a:p>
        </p:txBody>
      </p:sp>
      <p:sp>
        <p:nvSpPr>
          <p:cNvPr id="29" name="Text 25"/>
          <p:cNvSpPr/>
          <p:nvPr/>
        </p:nvSpPr>
        <p:spPr>
          <a:xfrm>
            <a:off x="594360" y="2606040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حروق كبيرة أو عميقة</a:t>
            </a:r>
            <a:endParaRPr lang="en-US" sz="1300" dirty="0"/>
          </a:p>
        </p:txBody>
      </p:sp>
      <p:sp>
        <p:nvSpPr>
          <p:cNvPr id="30" name="Shape 26"/>
          <p:cNvSpPr/>
          <p:nvPr/>
        </p:nvSpPr>
        <p:spPr>
          <a:xfrm>
            <a:off x="457200" y="3182112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1" name="Shape 27"/>
          <p:cNvSpPr/>
          <p:nvPr/>
        </p:nvSpPr>
        <p:spPr>
          <a:xfrm>
            <a:off x="5605272" y="3264408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2" name="Text 28"/>
          <p:cNvSpPr/>
          <p:nvPr/>
        </p:nvSpPr>
        <p:spPr>
          <a:xfrm>
            <a:off x="5605272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100" dirty="0"/>
          </a:p>
        </p:txBody>
      </p:sp>
      <p:sp>
        <p:nvSpPr>
          <p:cNvPr id="33" name="Text 29"/>
          <p:cNvSpPr/>
          <p:nvPr/>
        </p:nvSpPr>
        <p:spPr>
          <a:xfrm>
            <a:off x="594360" y="3182112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اشتباه بكسر أو إصابة الرأس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3758184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5605272" y="3840480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36" name="Text 32"/>
          <p:cNvSpPr/>
          <p:nvPr/>
        </p:nvSpPr>
        <p:spPr>
          <a:xfrm>
            <a:off x="5605272" y="3840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Text 33"/>
          <p:cNvSpPr/>
          <p:nvPr/>
        </p:nvSpPr>
        <p:spPr>
          <a:xfrm>
            <a:off x="594360" y="3758184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تسمم أو ابتلاع مادة خطرة</a:t>
            </a:r>
            <a:endParaRPr lang="en-US" sz="1300" dirty="0"/>
          </a:p>
        </p:txBody>
      </p:sp>
      <p:sp>
        <p:nvSpPr>
          <p:cNvPr id="38" name="Shape 34"/>
          <p:cNvSpPr/>
          <p:nvPr/>
        </p:nvSpPr>
        <p:spPr>
          <a:xfrm>
            <a:off x="457200" y="4334256"/>
            <a:ext cx="5532120" cy="4572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5605272" y="4416552"/>
            <a:ext cx="292608" cy="292608"/>
          </a:xfrm>
          <a:prstGeom prst="ellipse">
            <a:avLst/>
          </a:prstGeom>
          <a:solidFill>
            <a:srgbClr val="DC2626"/>
          </a:solidFill>
          <a:ln/>
        </p:spPr>
      </p:sp>
      <p:sp>
        <p:nvSpPr>
          <p:cNvPr id="40" name="Text 36"/>
          <p:cNvSpPr/>
          <p:nvPr/>
        </p:nvSpPr>
        <p:spPr>
          <a:xfrm>
            <a:off x="5605272" y="441655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8</a:t>
            </a:r>
            <a:endParaRPr lang="en-US" sz="1100" dirty="0"/>
          </a:p>
        </p:txBody>
      </p:sp>
      <p:sp>
        <p:nvSpPr>
          <p:cNvPr id="41" name="Text 37"/>
          <p:cNvSpPr/>
          <p:nvPr/>
        </p:nvSpPr>
        <p:spPr>
          <a:xfrm>
            <a:off x="594360" y="4334256"/>
            <a:ext cx="4873752" cy="4572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تشنجات أو أعراض جلطة</a:t>
            </a:r>
            <a:endParaRPr lang="en-US" sz="1300" dirty="0"/>
          </a:p>
        </p:txBody>
      </p:sp>
      <p:sp>
        <p:nvSpPr>
          <p:cNvPr id="42" name="Shape 38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43" name="Text 39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مهمة: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تساعد في التصرف الأولي، لكنها لا تستبدل المختصين عبر رقم 999</a:t>
            </a:r>
            <a:endParaRPr lang="ar-AE" sz="1200" dirty="0"/>
          </a:p>
        </p:txBody>
      </p:sp>
      <p:sp>
        <p:nvSpPr>
          <p:cNvPr id="44" name="Shape 4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6" name="Shape 4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4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8" name="Shape 4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4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50" name="Shape 4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4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52" name="Shape 4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3" name="Text 4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54" name="Shape 4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5" name="Text 5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شائعة في تجهيز الحقيبة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أخطاء تجعل الحقيبة غير جاهزة فعليًا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74523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92811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0996" y="3154680"/>
            <a:ext cx="320040" cy="32004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75107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مكان غير معروف</a:t>
            </a:r>
            <a:endParaRPr lang="en-US" sz="1300" dirty="0"/>
          </a:p>
        </p:txBody>
      </p:sp>
      <p:sp>
        <p:nvSpPr>
          <p:cNvPr id="14" name="Shape 9"/>
          <p:cNvSpPr/>
          <p:nvPr/>
        </p:nvSpPr>
        <p:spPr>
          <a:xfrm>
            <a:off x="344271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5" name="Shape 10"/>
          <p:cNvSpPr/>
          <p:nvPr/>
        </p:nvSpPr>
        <p:spPr>
          <a:xfrm>
            <a:off x="362559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08476" y="315468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444855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أدوات منتهية الصلاحية</a:t>
            </a:r>
            <a:endParaRPr lang="en-US" sz="1300" dirty="0"/>
          </a:p>
        </p:txBody>
      </p:sp>
      <p:sp>
        <p:nvSpPr>
          <p:cNvPr id="18" name="Shape 12"/>
          <p:cNvSpPr/>
          <p:nvPr/>
        </p:nvSpPr>
        <p:spPr>
          <a:xfrm>
            <a:off x="614019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19" name="Shape 13"/>
          <p:cNvSpPr/>
          <p:nvPr/>
        </p:nvSpPr>
        <p:spPr>
          <a:xfrm>
            <a:off x="632307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0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05956" y="3154680"/>
            <a:ext cx="320040" cy="320040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714603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عدم تعويض الأدوات بعد الاستخدام</a:t>
            </a:r>
            <a:endParaRPr lang="en-US" sz="1300" dirty="0"/>
          </a:p>
        </p:txBody>
      </p:sp>
      <p:sp>
        <p:nvSpPr>
          <p:cNvPr id="22" name="Shape 15"/>
          <p:cNvSpPr/>
          <p:nvPr/>
        </p:nvSpPr>
        <p:spPr>
          <a:xfrm>
            <a:off x="8837676" y="260604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3" name="Shape 16"/>
          <p:cNvSpPr/>
          <p:nvPr/>
        </p:nvSpPr>
        <p:spPr>
          <a:xfrm>
            <a:off x="9020556" y="297180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03436" y="3154680"/>
            <a:ext cx="320040" cy="320040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9843516" y="260604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أدوية دون تعليمات</a:t>
            </a:r>
            <a:endParaRPr lang="en-US" sz="1300" dirty="0"/>
          </a:p>
        </p:txBody>
      </p:sp>
      <p:sp>
        <p:nvSpPr>
          <p:cNvPr id="26" name="Shape 18"/>
          <p:cNvSpPr/>
          <p:nvPr/>
        </p:nvSpPr>
        <p:spPr>
          <a:xfrm>
            <a:off x="209397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27" name="Shape 19"/>
          <p:cNvSpPr/>
          <p:nvPr/>
        </p:nvSpPr>
        <p:spPr>
          <a:xfrm>
            <a:off x="227685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28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459736" y="4663440"/>
            <a:ext cx="320040" cy="320040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309981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متناول الأطفال</a:t>
            </a:r>
            <a:endParaRPr lang="en-US" sz="1300" dirty="0"/>
          </a:p>
        </p:txBody>
      </p:sp>
      <p:sp>
        <p:nvSpPr>
          <p:cNvPr id="30" name="Shape 21"/>
          <p:cNvSpPr/>
          <p:nvPr/>
        </p:nvSpPr>
        <p:spPr>
          <a:xfrm>
            <a:off x="479145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1" name="Shape 22"/>
          <p:cNvSpPr/>
          <p:nvPr/>
        </p:nvSpPr>
        <p:spPr>
          <a:xfrm>
            <a:off x="497433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157216" y="4663440"/>
            <a:ext cx="320040" cy="320040"/>
          </a:xfrm>
          <a:prstGeom prst="rect">
            <a:avLst/>
          </a:prstGeom>
        </p:spPr>
      </p:pic>
      <p:sp>
        <p:nvSpPr>
          <p:cNvPr id="33" name="Text 23"/>
          <p:cNvSpPr/>
          <p:nvPr/>
        </p:nvSpPr>
        <p:spPr>
          <a:xfrm>
            <a:off x="579729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خلطها مع أغراض أخرى</a:t>
            </a:r>
            <a:endParaRPr lang="en-US" sz="1300" dirty="0"/>
          </a:p>
        </p:txBody>
      </p:sp>
      <p:sp>
        <p:nvSpPr>
          <p:cNvPr id="34" name="Shape 24"/>
          <p:cNvSpPr/>
          <p:nvPr/>
        </p:nvSpPr>
        <p:spPr>
          <a:xfrm>
            <a:off x="7488936" y="4114800"/>
            <a:ext cx="2606040" cy="1417320"/>
          </a:xfrm>
          <a:prstGeom prst="roundRect">
            <a:avLst>
              <a:gd name="adj" fmla="val 516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  <a:effectLst>
            <a:outerShdw blurRad="101600" dist="25400" dir="5400000" algn="bl" rotWithShape="0">
              <a:srgbClr val="991B1B">
                <a:alpha val="5000"/>
              </a:srgbClr>
            </a:outerShdw>
          </a:effectLst>
        </p:spPr>
      </p:sp>
      <p:sp>
        <p:nvSpPr>
          <p:cNvPr id="35" name="Shape 25"/>
          <p:cNvSpPr/>
          <p:nvPr/>
        </p:nvSpPr>
        <p:spPr>
          <a:xfrm>
            <a:off x="7671816" y="4480560"/>
            <a:ext cx="685800" cy="685800"/>
          </a:xfrm>
          <a:prstGeom prst="ellipse">
            <a:avLst/>
          </a:prstGeom>
          <a:solidFill>
            <a:srgbClr val="DC2626"/>
          </a:solidFill>
          <a:ln/>
        </p:spPr>
      </p:sp>
      <p:pic>
        <p:nvPicPr>
          <p:cNvPr id="3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854696" y="4663440"/>
            <a:ext cx="320040" cy="320040"/>
          </a:xfrm>
          <a:prstGeom prst="rect">
            <a:avLst/>
          </a:prstGeom>
        </p:spPr>
      </p:pic>
      <p:sp>
        <p:nvSpPr>
          <p:cNvPr id="37" name="Text 26"/>
          <p:cNvSpPr/>
          <p:nvPr/>
        </p:nvSpPr>
        <p:spPr>
          <a:xfrm>
            <a:off x="8494776" y="4114800"/>
            <a:ext cx="1417320" cy="14173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إهمال الاتصال بـ 999</a:t>
            </a:r>
            <a:endParaRPr lang="en-US" sz="1300" dirty="0"/>
          </a:p>
        </p:txBody>
      </p:sp>
      <p:sp>
        <p:nvSpPr>
          <p:cNvPr id="38" name="Shape 27"/>
          <p:cNvSpPr/>
          <p:nvPr/>
        </p:nvSpPr>
        <p:spPr>
          <a:xfrm>
            <a:off x="457200" y="5669280"/>
            <a:ext cx="11247120" cy="502920"/>
          </a:xfrm>
          <a:prstGeom prst="roundRect">
            <a:avLst>
              <a:gd name="adj" fmla="val 9091"/>
            </a:avLst>
          </a:prstGeom>
          <a:solidFill>
            <a:srgbClr val="FEF2F2"/>
          </a:solidFill>
          <a:ln w="9525">
            <a:solidFill>
              <a:srgbClr val="FCA5A5"/>
            </a:solidFill>
            <a:prstDash val="solid"/>
          </a:ln>
        </p:spPr>
      </p:sp>
      <p:sp>
        <p:nvSpPr>
          <p:cNvPr id="39" name="Text 28"/>
          <p:cNvSpPr/>
          <p:nvPr/>
        </p:nvSpPr>
        <p:spPr>
          <a:xfrm>
            <a:off x="640080" y="5669280"/>
            <a:ext cx="1088136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991B1B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رسالة توعوية: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الجاهزة هي التي تكون منظمة، مفحوصة، ومعروفة المكان</a:t>
            </a:r>
            <a:endParaRPr lang="ar-AE" sz="1200" dirty="0"/>
          </a:p>
        </p:txBody>
      </p:sp>
      <p:sp>
        <p:nvSpPr>
          <p:cNvPr id="40" name="Shape 29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41" name="Image 9" descr="/home/claude/assets/social_icons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42" name="Shape 30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1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44" name="Shape 32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33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6" name="Shape 34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7" name="Text 35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8" name="Shape 36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9" name="Text 37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50" name="Shape 38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51" name="Text 39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ولا تفعل في حقيبة الإسعافات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ممارسات صحيحة وأخرى يجب تجنّبها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153912" y="2606040"/>
            <a:ext cx="5577840" cy="502920"/>
          </a:xfrm>
          <a:prstGeom prst="rect">
            <a:avLst/>
          </a:prstGeom>
          <a:solidFill>
            <a:srgbClr val="D1FAE5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افعل  ✓</a:t>
            </a:r>
            <a:endParaRPr lang="en-US" sz="1800" dirty="0"/>
          </a:p>
        </p:txBody>
      </p:sp>
      <p:sp>
        <p:nvSpPr>
          <p:cNvPr id="13" name="Shape 9"/>
          <p:cNvSpPr/>
          <p:nvPr/>
        </p:nvSpPr>
        <p:spPr>
          <a:xfrm>
            <a:off x="11320272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11320272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15" name="Text 11"/>
          <p:cNvSpPr/>
          <p:nvPr/>
        </p:nvSpPr>
        <p:spPr>
          <a:xfrm>
            <a:off x="6336792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حقيبة في المنزل</a:t>
            </a:r>
            <a:endParaRPr lang="en-US" sz="1300" dirty="0"/>
          </a:p>
        </p:txBody>
      </p:sp>
      <p:sp>
        <p:nvSpPr>
          <p:cNvPr id="16" name="Shape 12"/>
          <p:cNvSpPr/>
          <p:nvPr/>
        </p:nvSpPr>
        <p:spPr>
          <a:xfrm>
            <a:off x="11320272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1320272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6336792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ضعها في مكان واضح للكبار</a:t>
            </a:r>
            <a:endParaRPr lang="en-US" sz="1300" dirty="0"/>
          </a:p>
        </p:txBody>
      </p:sp>
      <p:sp>
        <p:nvSpPr>
          <p:cNvPr id="19" name="Shape 15"/>
          <p:cNvSpPr/>
          <p:nvPr/>
        </p:nvSpPr>
        <p:spPr>
          <a:xfrm>
            <a:off x="11320272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11320272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21" name="Text 17"/>
          <p:cNvSpPr/>
          <p:nvPr/>
        </p:nvSpPr>
        <p:spPr>
          <a:xfrm>
            <a:off x="6336792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احفظها بعيدًا عن الأطفال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11320272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11320272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24" name="Text 20"/>
          <p:cNvSpPr/>
          <p:nvPr/>
        </p:nvSpPr>
        <p:spPr>
          <a:xfrm>
            <a:off x="6336792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افحص المحتويات والصلاحية</a:t>
            </a:r>
            <a:endParaRPr lang="en-US" sz="1300" dirty="0"/>
          </a:p>
        </p:txBody>
      </p:sp>
      <p:sp>
        <p:nvSpPr>
          <p:cNvPr id="25" name="Shape 21"/>
          <p:cNvSpPr/>
          <p:nvPr/>
        </p:nvSpPr>
        <p:spPr>
          <a:xfrm>
            <a:off x="11320272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11320272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27" name="Text 23"/>
          <p:cNvSpPr/>
          <p:nvPr/>
        </p:nvSpPr>
        <p:spPr>
          <a:xfrm>
            <a:off x="6336792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عوّض الأدوات بعد الاستخدام</a:t>
            </a:r>
            <a:endParaRPr lang="en-US" sz="1300" dirty="0"/>
          </a:p>
        </p:txBody>
      </p:sp>
      <p:sp>
        <p:nvSpPr>
          <p:cNvPr id="28" name="Shape 24"/>
          <p:cNvSpPr/>
          <p:nvPr/>
        </p:nvSpPr>
        <p:spPr>
          <a:xfrm>
            <a:off x="11320272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11320272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30" name="Text 26"/>
          <p:cNvSpPr/>
          <p:nvPr/>
        </p:nvSpPr>
        <p:spPr>
          <a:xfrm>
            <a:off x="6336792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ضع رقم 999 داخل الحقيبة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1320272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1B873F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11320272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33" name="Text 29"/>
          <p:cNvSpPr/>
          <p:nvPr/>
        </p:nvSpPr>
        <p:spPr>
          <a:xfrm>
            <a:off x="6336792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عند الحالات الخطيرة</a:t>
            </a:r>
            <a:endParaRPr lang="en-US" sz="1300" dirty="0"/>
          </a:p>
        </p:txBody>
      </p:sp>
      <p:sp>
        <p:nvSpPr>
          <p:cNvPr id="34" name="Shape 30"/>
          <p:cNvSpPr/>
          <p:nvPr/>
        </p:nvSpPr>
        <p:spPr>
          <a:xfrm>
            <a:off x="457200" y="2606040"/>
            <a:ext cx="5577840" cy="3749040"/>
          </a:xfrm>
          <a:prstGeom prst="roundRect">
            <a:avLst>
              <a:gd name="adj" fmla="val 1951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35" name="Shape 31"/>
          <p:cNvSpPr/>
          <p:nvPr/>
        </p:nvSpPr>
        <p:spPr>
          <a:xfrm>
            <a:off x="457200" y="2606040"/>
            <a:ext cx="5577840" cy="502920"/>
          </a:xfrm>
          <a:prstGeom prst="rect">
            <a:avLst/>
          </a:prstGeom>
          <a:solidFill>
            <a:srgbClr val="FEE2E2"/>
          </a:solidFill>
          <a:ln/>
        </p:spPr>
      </p:sp>
      <p:sp>
        <p:nvSpPr>
          <p:cNvPr id="36" name="Text 32"/>
          <p:cNvSpPr/>
          <p:nvPr/>
        </p:nvSpPr>
        <p:spPr>
          <a:xfrm>
            <a:off x="640080" y="2606040"/>
            <a:ext cx="5212080" cy="50292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8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تفعل  ✕</a:t>
            </a:r>
            <a:endParaRPr lang="en-US" sz="1800" dirty="0"/>
          </a:p>
        </p:txBody>
      </p:sp>
      <p:sp>
        <p:nvSpPr>
          <p:cNvPr id="37" name="Shape 33"/>
          <p:cNvSpPr/>
          <p:nvPr/>
        </p:nvSpPr>
        <p:spPr>
          <a:xfrm>
            <a:off x="5623560" y="3291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38" name="Text 34"/>
          <p:cNvSpPr/>
          <p:nvPr/>
        </p:nvSpPr>
        <p:spPr>
          <a:xfrm>
            <a:off x="5623560" y="3291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1</a:t>
            </a:r>
            <a:endParaRPr lang="en-US" sz="1000" dirty="0"/>
          </a:p>
        </p:txBody>
      </p:sp>
      <p:sp>
        <p:nvSpPr>
          <p:cNvPr id="39" name="Text 35"/>
          <p:cNvSpPr/>
          <p:nvPr/>
        </p:nvSpPr>
        <p:spPr>
          <a:xfrm>
            <a:off x="640080" y="3246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تستخدم أدوات منتهية الصلاحية</a:t>
            </a:r>
            <a:endParaRPr lang="en-US" sz="1300" dirty="0"/>
          </a:p>
        </p:txBody>
      </p:sp>
      <p:sp>
        <p:nvSpPr>
          <p:cNvPr id="40" name="Shape 36"/>
          <p:cNvSpPr/>
          <p:nvPr/>
        </p:nvSpPr>
        <p:spPr>
          <a:xfrm>
            <a:off x="5623560" y="3749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1" name="Text 37"/>
          <p:cNvSpPr/>
          <p:nvPr/>
        </p:nvSpPr>
        <p:spPr>
          <a:xfrm>
            <a:off x="5623560" y="3749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2</a:t>
            </a:r>
            <a:endParaRPr lang="en-US" sz="1000" dirty="0"/>
          </a:p>
        </p:txBody>
      </p:sp>
      <p:sp>
        <p:nvSpPr>
          <p:cNvPr id="42" name="Text 38"/>
          <p:cNvSpPr/>
          <p:nvPr/>
        </p:nvSpPr>
        <p:spPr>
          <a:xfrm>
            <a:off x="640080" y="3703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أدوية دون معرفة استخدامها</a:t>
            </a:r>
            <a:endParaRPr lang="en-US" sz="1300" dirty="0"/>
          </a:p>
        </p:txBody>
      </p:sp>
      <p:sp>
        <p:nvSpPr>
          <p:cNvPr id="43" name="Shape 39"/>
          <p:cNvSpPr/>
          <p:nvPr/>
        </p:nvSpPr>
        <p:spPr>
          <a:xfrm>
            <a:off x="5623560" y="42062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4" name="Text 40"/>
          <p:cNvSpPr/>
          <p:nvPr/>
        </p:nvSpPr>
        <p:spPr>
          <a:xfrm>
            <a:off x="5623560" y="4206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3</a:t>
            </a:r>
            <a:endParaRPr lang="en-US" sz="1000" dirty="0"/>
          </a:p>
        </p:txBody>
      </p:sp>
      <p:sp>
        <p:nvSpPr>
          <p:cNvPr id="45" name="Text 41"/>
          <p:cNvSpPr/>
          <p:nvPr/>
        </p:nvSpPr>
        <p:spPr>
          <a:xfrm>
            <a:off x="640080" y="41605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تتركها في مكان رطب</a:t>
            </a:r>
            <a:endParaRPr lang="en-US" sz="1300" dirty="0"/>
          </a:p>
        </p:txBody>
      </p:sp>
      <p:sp>
        <p:nvSpPr>
          <p:cNvPr id="46" name="Shape 42"/>
          <p:cNvSpPr/>
          <p:nvPr/>
        </p:nvSpPr>
        <p:spPr>
          <a:xfrm>
            <a:off x="5623560" y="46634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47" name="Text 43"/>
          <p:cNvSpPr/>
          <p:nvPr/>
        </p:nvSpPr>
        <p:spPr>
          <a:xfrm>
            <a:off x="5623560" y="46634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4</a:t>
            </a:r>
            <a:endParaRPr lang="en-US" sz="1000" dirty="0"/>
          </a:p>
        </p:txBody>
      </p:sp>
      <p:sp>
        <p:nvSpPr>
          <p:cNvPr id="48" name="Text 44"/>
          <p:cNvSpPr/>
          <p:nvPr/>
        </p:nvSpPr>
        <p:spPr>
          <a:xfrm>
            <a:off x="640080" y="46177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تسمح للأطفال بالعبث</a:t>
            </a:r>
            <a:endParaRPr lang="en-US" sz="1300" dirty="0"/>
          </a:p>
        </p:txBody>
      </p:sp>
      <p:sp>
        <p:nvSpPr>
          <p:cNvPr id="49" name="Shape 45"/>
          <p:cNvSpPr/>
          <p:nvPr/>
        </p:nvSpPr>
        <p:spPr>
          <a:xfrm>
            <a:off x="5623560" y="51206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0" name="Text 46"/>
          <p:cNvSpPr/>
          <p:nvPr/>
        </p:nvSpPr>
        <p:spPr>
          <a:xfrm>
            <a:off x="5623560" y="5120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5</a:t>
            </a:r>
            <a:endParaRPr lang="en-US" sz="1000" dirty="0"/>
          </a:p>
        </p:txBody>
      </p:sp>
      <p:sp>
        <p:nvSpPr>
          <p:cNvPr id="51" name="Text 47"/>
          <p:cNvSpPr/>
          <p:nvPr/>
        </p:nvSpPr>
        <p:spPr>
          <a:xfrm>
            <a:off x="640080" y="50749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تضع مواد غير مخصصة</a:t>
            </a:r>
            <a:endParaRPr lang="en-US" sz="1300" dirty="0"/>
          </a:p>
        </p:txBody>
      </p:sp>
      <p:sp>
        <p:nvSpPr>
          <p:cNvPr id="52" name="Shape 48"/>
          <p:cNvSpPr/>
          <p:nvPr/>
        </p:nvSpPr>
        <p:spPr>
          <a:xfrm>
            <a:off x="5623560" y="55778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3" name="Text 49"/>
          <p:cNvSpPr/>
          <p:nvPr/>
        </p:nvSpPr>
        <p:spPr>
          <a:xfrm>
            <a:off x="5623560" y="55778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6</a:t>
            </a:r>
            <a:endParaRPr lang="en-US" sz="1000" dirty="0"/>
          </a:p>
        </p:txBody>
      </p:sp>
      <p:sp>
        <p:nvSpPr>
          <p:cNvPr id="54" name="Text 50"/>
          <p:cNvSpPr/>
          <p:nvPr/>
        </p:nvSpPr>
        <p:spPr>
          <a:xfrm>
            <a:off x="640080" y="55321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تؤخر الاتصال بـ 999</a:t>
            </a:r>
            <a:endParaRPr lang="en-US" sz="1300" dirty="0"/>
          </a:p>
        </p:txBody>
      </p:sp>
      <p:sp>
        <p:nvSpPr>
          <p:cNvPr id="55" name="Shape 51"/>
          <p:cNvSpPr/>
          <p:nvPr/>
        </p:nvSpPr>
        <p:spPr>
          <a:xfrm>
            <a:off x="5623560" y="6035040"/>
            <a:ext cx="292608" cy="29260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C2626"/>
            </a:solidFill>
            <a:prstDash val="solid"/>
          </a:ln>
        </p:spPr>
      </p:sp>
      <p:sp>
        <p:nvSpPr>
          <p:cNvPr id="56" name="Text 52"/>
          <p:cNvSpPr/>
          <p:nvPr/>
        </p:nvSpPr>
        <p:spPr>
          <a:xfrm>
            <a:off x="5623560" y="60350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DC2626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7</a:t>
            </a:r>
            <a:endParaRPr lang="en-US" sz="1000" dirty="0"/>
          </a:p>
        </p:txBody>
      </p:sp>
      <p:sp>
        <p:nvSpPr>
          <p:cNvPr id="57" name="Text 53"/>
          <p:cNvSpPr/>
          <p:nvPr/>
        </p:nvSpPr>
        <p:spPr>
          <a:xfrm>
            <a:off x="640080" y="5989320"/>
            <a:ext cx="480060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3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 تعتبرها بديلًا عن المختصين</a:t>
            </a:r>
            <a:endParaRPr lang="en-US" sz="1300" dirty="0"/>
          </a:p>
        </p:txBody>
      </p:sp>
      <p:sp>
        <p:nvSpPr>
          <p:cNvPr id="58" name="Shape 54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59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60" name="Shape 55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1" name="Text 56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62" name="Shape 57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3" name="Text 58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64" name="Shape 59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5" name="Text 60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66" name="Shape 61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7" name="Text 62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68" name="Shape 63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69" name="Text 64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سيناريوهات تفاعلية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تطبيق عملي لما تعلمته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6153912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6336792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2" name="Text 8"/>
          <p:cNvSpPr/>
          <p:nvPr/>
        </p:nvSpPr>
        <p:spPr>
          <a:xfrm>
            <a:off x="6336792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1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7525512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بسيطة لكن الحقيبة غير منظمة</a:t>
            </a:r>
            <a:endParaRPr lang="en-US" sz="1400" dirty="0"/>
          </a:p>
        </p:txBody>
      </p:sp>
      <p:sp>
        <p:nvSpPr>
          <p:cNvPr id="14" name="Shape 10"/>
          <p:cNvSpPr/>
          <p:nvPr/>
        </p:nvSpPr>
        <p:spPr>
          <a:xfrm>
            <a:off x="6336792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15" name="Text 11"/>
          <p:cNvSpPr/>
          <p:nvPr/>
        </p:nvSpPr>
        <p:spPr>
          <a:xfrm>
            <a:off x="6473952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نظّم الحقيبة مسبقًا وضع الأدوات في أقسام واضحة وسهلة الوصول</a:t>
            </a:r>
            <a:endParaRPr lang="ar-AE" sz="1200" dirty="0"/>
          </a:p>
        </p:txBody>
      </p:sp>
      <p:sp>
        <p:nvSpPr>
          <p:cNvPr id="16" name="Shape 12"/>
          <p:cNvSpPr/>
          <p:nvPr/>
        </p:nvSpPr>
        <p:spPr>
          <a:xfrm>
            <a:off x="457200" y="26060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40080" y="27706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" y="27706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2</a:t>
            </a:r>
            <a:endParaRPr lang="en-US" sz="1200" dirty="0"/>
          </a:p>
        </p:txBody>
      </p:sp>
      <p:sp>
        <p:nvSpPr>
          <p:cNvPr id="19" name="Text 15"/>
          <p:cNvSpPr/>
          <p:nvPr/>
        </p:nvSpPr>
        <p:spPr>
          <a:xfrm>
            <a:off x="1828800" y="27432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اكتشفت أن بعض المحتويات منتهية الصلاحية</a:t>
            </a:r>
            <a:endParaRPr lang="en-US" sz="1400" dirty="0"/>
          </a:p>
        </p:txBody>
      </p:sp>
      <p:sp>
        <p:nvSpPr>
          <p:cNvPr id="20" name="Shape 16"/>
          <p:cNvSpPr/>
          <p:nvPr/>
        </p:nvSpPr>
        <p:spPr>
          <a:xfrm>
            <a:off x="640080" y="32918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77240" y="33192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استبدل الأدوات أو المواد المنتهية فورًا، وحدّث قائمة المحتويات</a:t>
            </a:r>
            <a:endParaRPr lang="ar-AE" sz="1200" dirty="0"/>
          </a:p>
        </p:txBody>
      </p:sp>
      <p:sp>
        <p:nvSpPr>
          <p:cNvPr id="22" name="Shape 18"/>
          <p:cNvSpPr/>
          <p:nvPr/>
        </p:nvSpPr>
        <p:spPr>
          <a:xfrm>
            <a:off x="6153912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336792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24" name="Text 20"/>
          <p:cNvSpPr/>
          <p:nvPr/>
        </p:nvSpPr>
        <p:spPr>
          <a:xfrm>
            <a:off x="6336792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3</a:t>
            </a:r>
            <a:endParaRPr lang="en-US" sz="1200" dirty="0"/>
          </a:p>
        </p:txBody>
      </p:sp>
      <p:sp>
        <p:nvSpPr>
          <p:cNvPr id="25" name="Text 21"/>
          <p:cNvSpPr/>
          <p:nvPr/>
        </p:nvSpPr>
        <p:spPr>
          <a:xfrm>
            <a:off x="7525512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طفل يحاول فتح الحقيبة واللعب بالأدوات</a:t>
            </a:r>
            <a:endParaRPr lang="en-US" sz="1400" dirty="0"/>
          </a:p>
        </p:txBody>
      </p:sp>
      <p:sp>
        <p:nvSpPr>
          <p:cNvPr id="26" name="Shape 22"/>
          <p:cNvSpPr/>
          <p:nvPr/>
        </p:nvSpPr>
        <p:spPr>
          <a:xfrm>
            <a:off x="6336792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6473952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أبعد الحقيبة عن متناول الأطفال، ووضّح أنها للطوارئ فقط</a:t>
            </a:r>
            <a:endParaRPr lang="ar-AE" sz="1200" dirty="0"/>
          </a:p>
        </p:txBody>
      </p:sp>
      <p:sp>
        <p:nvSpPr>
          <p:cNvPr id="28" name="Shape 24"/>
          <p:cNvSpPr/>
          <p:nvPr/>
        </p:nvSpPr>
        <p:spPr>
          <a:xfrm>
            <a:off x="457200" y="4434840"/>
            <a:ext cx="5577840" cy="1691640"/>
          </a:xfrm>
          <a:prstGeom prst="roundRect">
            <a:avLst>
              <a:gd name="adj" fmla="val 4324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  <a:effectLst>
            <a:outerShdw blurRad="101600" dist="25400" dir="5400000" algn="bl" rotWithShape="0">
              <a:srgbClr val="1F2E5A">
                <a:alpha val="600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640080" y="4599432"/>
            <a:ext cx="1097280" cy="384048"/>
          </a:xfrm>
          <a:prstGeom prst="roundRect">
            <a:avLst>
              <a:gd name="adj" fmla="val 11905"/>
            </a:avLst>
          </a:prstGeom>
          <a:solidFill>
            <a:srgbClr val="0B4EA2"/>
          </a:solidFill>
          <a:ln/>
        </p:spPr>
      </p:sp>
      <p:sp>
        <p:nvSpPr>
          <p:cNvPr id="30" name="Text 26"/>
          <p:cNvSpPr/>
          <p:nvPr/>
        </p:nvSpPr>
        <p:spPr>
          <a:xfrm>
            <a:off x="640080" y="4599432"/>
            <a:ext cx="1097280" cy="38404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200" b="1" dirty="0">
                <a:solidFill>
                  <a:srgbClr val="FFFFF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سيناريو 4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1828800" y="4572000"/>
            <a:ext cx="402336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إصابة خطيرة في المنزل والحقيبة متوفرة</a:t>
            </a:r>
            <a:endParaRPr lang="en-US" sz="1400" dirty="0"/>
          </a:p>
        </p:txBody>
      </p:sp>
      <p:sp>
        <p:nvSpPr>
          <p:cNvPr id="32" name="Shape 28"/>
          <p:cNvSpPr/>
          <p:nvPr/>
        </p:nvSpPr>
        <p:spPr>
          <a:xfrm>
            <a:off x="640080" y="5120640"/>
            <a:ext cx="5212080" cy="868680"/>
          </a:xfrm>
          <a:prstGeom prst="roundRect">
            <a:avLst>
              <a:gd name="adj" fmla="val 5263"/>
            </a:avLst>
          </a:prstGeom>
          <a:solidFill>
            <a:srgbClr val="D1FAE5"/>
          </a:solidFill>
          <a:ln w="6350">
            <a:solidFill>
              <a:srgbClr val="1B873F"/>
            </a:solidFill>
            <a:prstDash val="solid"/>
          </a:ln>
        </p:spPr>
      </p:sp>
      <p:sp>
        <p:nvSpPr>
          <p:cNvPr id="33" name="Text 29"/>
          <p:cNvSpPr/>
          <p:nvPr/>
        </p:nvSpPr>
        <p:spPr>
          <a:xfrm>
            <a:off x="777240" y="514807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التصرف الصحيح: </a:t>
            </a:r>
            <a:r>
              <a:rPr lang="ar-AE" altLang="en-US" sz="1200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اتصل بـ 999 فورًا، أمّن المكان، واستخدم الحقيبة ضمن حدود معرفتك</a:t>
            </a:r>
            <a:endParaRPr lang="ar-AE" sz="1200" dirty="0"/>
          </a:p>
        </p:txBody>
      </p:sp>
      <p:sp>
        <p:nvSpPr>
          <p:cNvPr id="34" name="Shape 30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5" name="Image 2" descr="/home/claude/assets/social_icon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6" name="Shape 31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32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8" name="Shape 33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4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40" name="Shape 35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6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42" name="Shape 37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3" name="Text 38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4" name="Shape 39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5" name="Text 40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1280160"/>
            <a:ext cx="11247120" cy="5943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28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اختبر معلوماتك</a:t>
            </a:r>
            <a:endParaRPr lang="en-US" sz="2800" dirty="0"/>
          </a:p>
        </p:txBody>
      </p:sp>
      <p:sp>
        <p:nvSpPr>
          <p:cNvPr id="8" name="Text 4"/>
          <p:cNvSpPr/>
          <p:nvPr/>
        </p:nvSpPr>
        <p:spPr>
          <a:xfrm>
            <a:off x="457200" y="187452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en-US" sz="14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أسئلة سريعة لتقييم فهمك</a:t>
            </a:r>
            <a:endParaRPr lang="en-US" sz="1400" dirty="0"/>
          </a:p>
        </p:txBody>
      </p:sp>
      <p:sp>
        <p:nvSpPr>
          <p:cNvPr id="9" name="Shape 5"/>
          <p:cNvSpPr/>
          <p:nvPr/>
        </p:nvSpPr>
        <p:spPr>
          <a:xfrm>
            <a:off x="9875520" y="2331720"/>
            <a:ext cx="1828800" cy="0"/>
          </a:xfrm>
          <a:prstGeom prst="line">
            <a:avLst/>
          </a:prstGeom>
          <a:noFill/>
          <a:ln w="22225">
            <a:solidFill>
              <a:srgbClr val="0B4EA2"/>
            </a:solidFill>
            <a:prstDash val="solid"/>
          </a:ln>
        </p:spPr>
      </p:sp>
      <p:sp>
        <p:nvSpPr>
          <p:cNvPr id="10" name="Shape 6"/>
          <p:cNvSpPr/>
          <p:nvPr/>
        </p:nvSpPr>
        <p:spPr>
          <a:xfrm>
            <a:off x="457200" y="2606040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11109960" y="2779776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2852928"/>
            <a:ext cx="274320" cy="27432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40080" y="2679192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س1: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لماذا يجب وجود حقيبة إسعافات أولية في المنزل؟</a:t>
            </a:r>
            <a:endParaRPr lang="ar-AE" sz="1400" dirty="0"/>
          </a:p>
        </p:txBody>
      </p:sp>
      <p:sp>
        <p:nvSpPr>
          <p:cNvPr id="14" name="Text 9"/>
          <p:cNvSpPr/>
          <p:nvPr/>
        </p:nvSpPr>
        <p:spPr>
          <a:xfrm>
            <a:off x="640080" y="2990088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للتعامل الأولي الآمن مع الإصابات البسيطة حتى وصول المختصين</a:t>
            </a:r>
            <a:endParaRPr lang="ar-AE" sz="1200" dirty="0"/>
          </a:p>
        </p:txBody>
      </p:sp>
      <p:sp>
        <p:nvSpPr>
          <p:cNvPr id="15" name="Shape 10"/>
          <p:cNvSpPr/>
          <p:nvPr/>
        </p:nvSpPr>
        <p:spPr>
          <a:xfrm>
            <a:off x="457200" y="3374136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11109960" y="3547872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3621024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40080" y="3447288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س2: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أين يجب حفظ حقيبة الإسعافات الأولية؟</a:t>
            </a:r>
            <a:endParaRPr lang="ar-AE" sz="1400" dirty="0"/>
          </a:p>
        </p:txBody>
      </p:sp>
      <p:sp>
        <p:nvSpPr>
          <p:cNvPr id="19" name="Text 13"/>
          <p:cNvSpPr/>
          <p:nvPr/>
        </p:nvSpPr>
        <p:spPr>
          <a:xfrm>
            <a:off x="640080" y="3758184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في مكان واضح وسهل الوصول للكبار، وبعيد عن الأطفال والحرارة</a:t>
            </a:r>
            <a:endParaRPr lang="ar-AE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42232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1" name="Shape 15"/>
          <p:cNvSpPr/>
          <p:nvPr/>
        </p:nvSpPr>
        <p:spPr>
          <a:xfrm>
            <a:off x="11109960" y="4315968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4389120"/>
            <a:ext cx="274320" cy="27432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640080" y="4215384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س3: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متى يجب فحص حقيبة الإسعافات؟</a:t>
            </a:r>
            <a:endParaRPr lang="ar-AE" sz="1400" dirty="0"/>
          </a:p>
        </p:txBody>
      </p:sp>
      <p:sp>
        <p:nvSpPr>
          <p:cNvPr id="24" name="Text 17"/>
          <p:cNvSpPr/>
          <p:nvPr/>
        </p:nvSpPr>
        <p:spPr>
          <a:xfrm>
            <a:off x="640080" y="4526280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بشكل دوري، وبعد كل استخدام، وقبل الرحلات أو المناسبات</a:t>
            </a:r>
            <a:endParaRPr lang="ar-AE" sz="1200" dirty="0"/>
          </a:p>
        </p:txBody>
      </p:sp>
      <p:sp>
        <p:nvSpPr>
          <p:cNvPr id="25" name="Shape 18"/>
          <p:cNvSpPr/>
          <p:nvPr/>
        </p:nvSpPr>
        <p:spPr>
          <a:xfrm>
            <a:off x="457200" y="4910328"/>
            <a:ext cx="11247120" cy="713232"/>
          </a:xfrm>
          <a:prstGeom prst="roundRect">
            <a:avLst>
              <a:gd name="adj" fmla="val 6410"/>
            </a:avLst>
          </a:prstGeom>
          <a:solidFill>
            <a:srgbClr val="FFFFFF"/>
          </a:solidFill>
          <a:ln w="9525">
            <a:solidFill>
              <a:srgbClr val="E5EBF2"/>
            </a:solidFill>
            <a:prstDash val="solid"/>
          </a:ln>
        </p:spPr>
      </p:sp>
      <p:sp>
        <p:nvSpPr>
          <p:cNvPr id="26" name="Shape 19"/>
          <p:cNvSpPr/>
          <p:nvPr/>
        </p:nvSpPr>
        <p:spPr>
          <a:xfrm>
            <a:off x="11109960" y="5084064"/>
            <a:ext cx="411480" cy="41148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27" name="Image 5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183112" y="5157216"/>
            <a:ext cx="274320" cy="274320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640080" y="4983480"/>
            <a:ext cx="10378440" cy="329184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400" b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س4: </a:t>
            </a:r>
            <a:r>
              <a:rPr lang="ar-AE" alt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هل تغني الحقيبة عن الاتصال بالطوارئ في الحالات الخطيرة؟</a:t>
            </a:r>
            <a:endParaRPr lang="ar-AE" sz="1400" dirty="0"/>
          </a:p>
        </p:txBody>
      </p:sp>
      <p:sp>
        <p:nvSpPr>
          <p:cNvPr id="29" name="Text 21"/>
          <p:cNvSpPr/>
          <p:nvPr/>
        </p:nvSpPr>
        <p:spPr>
          <a:xfrm>
            <a:off x="640080" y="5294376"/>
            <a:ext cx="10378440" cy="292608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r" rtl="1">
              <a:buNone/>
            </a:pPr>
            <a:r>
              <a:rPr lang="ar-AE" altLang="en-US" sz="1200" b="1" dirty="0">
                <a:solidFill>
                  <a:srgbClr val="1B873F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الإجابة: </a:t>
            </a:r>
            <a:r>
              <a:rPr lang="ar-AE" altLang="en-US" sz="12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لا، يجب الاتصال فورًا برقم 999 عند وجود حالة خطيرة</a:t>
            </a:r>
            <a:endParaRPr lang="ar-AE" sz="1200" dirty="0"/>
          </a:p>
        </p:txBody>
      </p:sp>
      <p:sp>
        <p:nvSpPr>
          <p:cNvPr id="30" name="Shape 22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31" name="Image 6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3" name="Text 24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34" name="Shape 25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5" name="Text 26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36" name="Shape 27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7" name="Text 28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38" name="Shape 29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39" name="Text 30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40" name="Shape 31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41" name="Text 32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8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prou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5760" y="228600"/>
            <a:ext cx="777240" cy="777240"/>
          </a:xfrm>
          <a:prstGeom prst="rect">
            <a:avLst/>
          </a:prstGeom>
        </p:spPr>
      </p:pic>
      <p:pic>
        <p:nvPicPr>
          <p:cNvPr id="3" name="Image 1" descr="/home/claude/assets/logo_adcda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0" y="320040"/>
            <a:ext cx="1691640" cy="50292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-1097280" y="4572000"/>
            <a:ext cx="2743200" cy="27432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11430000" y="5029200"/>
            <a:ext cx="1828800" cy="1828800"/>
          </a:xfrm>
          <a:prstGeom prst="ellipse">
            <a:avLst/>
          </a:prstGeom>
          <a:solidFill>
            <a:srgbClr val="DCE7F5">
              <a:alpha val="30000"/>
            </a:srgbClr>
          </a:solidFill>
          <a:ln/>
        </p:spPr>
      </p:sp>
      <p:sp>
        <p:nvSpPr>
          <p:cNvPr id="6" name="Shape 2"/>
          <p:cNvSpPr/>
          <p:nvPr/>
        </p:nvSpPr>
        <p:spPr>
          <a:xfrm>
            <a:off x="0" y="1645920"/>
            <a:ext cx="548640" cy="548640"/>
          </a:xfrm>
          <a:prstGeom prst="ellipse">
            <a:avLst/>
          </a:prstGeom>
          <a:solidFill>
            <a:srgbClr val="DCE7F5">
              <a:alpha val="20000"/>
            </a:srgbClr>
          </a:solidFill>
          <a:ln/>
        </p:spPr>
      </p:sp>
      <p:sp>
        <p:nvSpPr>
          <p:cNvPr id="7" name="Shape 3"/>
          <p:cNvSpPr/>
          <p:nvPr/>
        </p:nvSpPr>
        <p:spPr>
          <a:xfrm>
            <a:off x="5088636" y="1097280"/>
            <a:ext cx="2011680" cy="2011680"/>
          </a:xfrm>
          <a:prstGeom prst="ellipse">
            <a:avLst/>
          </a:prstGeom>
          <a:solidFill>
            <a:srgbClr val="DCE7F5">
              <a:alpha val="50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5362956" y="1280160"/>
            <a:ext cx="1463040" cy="1463040"/>
          </a:xfrm>
          <a:prstGeom prst="ellipse">
            <a:avLst/>
          </a:prstGeom>
          <a:solidFill>
            <a:srgbClr val="0B4EA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37276" y="1554480"/>
            <a:ext cx="914400" cy="91440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457200" y="3474720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4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شكرًا لكم</a:t>
            </a:r>
            <a:endParaRPr lang="en-US" sz="4400" dirty="0"/>
          </a:p>
        </p:txBody>
      </p:sp>
      <p:sp>
        <p:nvSpPr>
          <p:cNvPr id="11" name="Text 6"/>
          <p:cNvSpPr/>
          <p:nvPr/>
        </p:nvSpPr>
        <p:spPr>
          <a:xfrm>
            <a:off x="457200" y="4297680"/>
            <a:ext cx="11247120" cy="41148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6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الحقيبة جزء من الاستعداد، والاستعداد المسبق يصنع فرقًا</a:t>
            </a:r>
            <a:endParaRPr lang="en-US" sz="1600" dirty="0"/>
          </a:p>
        </p:txBody>
      </p:sp>
      <p:sp>
        <p:nvSpPr>
          <p:cNvPr id="12" name="Shape 7"/>
          <p:cNvSpPr/>
          <p:nvPr/>
        </p:nvSpPr>
        <p:spPr>
          <a:xfrm>
            <a:off x="5637276" y="4754880"/>
            <a:ext cx="914400" cy="0"/>
          </a:xfrm>
          <a:prstGeom prst="line">
            <a:avLst/>
          </a:prstGeom>
          <a:noFill/>
          <a:ln w="25400">
            <a:solidFill>
              <a:srgbClr val="0B4EA2"/>
            </a:solidFill>
            <a:prstDash val="solid"/>
          </a:ln>
        </p:spPr>
      </p:sp>
      <p:sp>
        <p:nvSpPr>
          <p:cNvPr id="13" name="Text 8"/>
          <p:cNvSpPr/>
          <p:nvPr/>
        </p:nvSpPr>
        <p:spPr>
          <a:xfrm>
            <a:off x="457200" y="498348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جهّز قبل الحاجة • مكان واضح • فحص دوري • علّم الأسرة • اتصل بـ 999</a:t>
            </a:r>
            <a:endParaRPr lang="en-US" sz="1400" dirty="0"/>
          </a:p>
        </p:txBody>
      </p:sp>
      <p:sp>
        <p:nvSpPr>
          <p:cNvPr id="14" name="Shape 9"/>
          <p:cNvSpPr/>
          <p:nvPr/>
        </p:nvSpPr>
        <p:spPr>
          <a:xfrm>
            <a:off x="2286000" y="5440680"/>
            <a:ext cx="7589520" cy="685800"/>
          </a:xfrm>
          <a:prstGeom prst="roundRect">
            <a:avLst>
              <a:gd name="adj" fmla="val 6667"/>
            </a:avLst>
          </a:prstGeom>
          <a:solidFill>
            <a:srgbClr val="EEF3FA"/>
          </a:solidFill>
          <a:ln w="9525">
            <a:solidFill>
              <a:srgbClr val="0B4EA2"/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2286000" y="5440680"/>
            <a:ext cx="7589520" cy="685800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400" b="1" i="1" dirty="0">
                <a:solidFill>
                  <a:srgbClr val="0B4EA2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"الاستعداد المسبق في المنزل قد يصنع فرقًا في لحظة طارئة"</a:t>
            </a:r>
            <a:endParaRPr lang="en-US" sz="1400" dirty="0"/>
          </a:p>
        </p:txBody>
      </p:sp>
      <p:sp>
        <p:nvSpPr>
          <p:cNvPr id="16" name="Shape 11"/>
          <p:cNvSpPr/>
          <p:nvPr/>
        </p:nvSpPr>
        <p:spPr>
          <a:xfrm>
            <a:off x="493776" y="6464808"/>
            <a:ext cx="11247120" cy="0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pic>
        <p:nvPicPr>
          <p:cNvPr id="17" name="Image 3" descr="/home/claude/assets/social_icon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880" y="6528816"/>
            <a:ext cx="2002536" cy="29260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1284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2286000" y="6510528"/>
            <a:ext cx="1508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@civildefencead</a:t>
            </a:r>
            <a:endParaRPr lang="en-US" sz="1000" dirty="0"/>
          </a:p>
        </p:txBody>
      </p:sp>
      <p:sp>
        <p:nvSpPr>
          <p:cNvPr id="20" name="Shape 14"/>
          <p:cNvSpPr/>
          <p:nvPr/>
        </p:nvSpPr>
        <p:spPr>
          <a:xfrm>
            <a:off x="38404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1" name="Text 15"/>
          <p:cNvSpPr/>
          <p:nvPr/>
        </p:nvSpPr>
        <p:spPr>
          <a:xfrm>
            <a:off x="3931920" y="6510528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1F2E5A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www.adcda.gov.ae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5687568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3" name="Text 17"/>
          <p:cNvSpPr/>
          <p:nvPr/>
        </p:nvSpPr>
        <p:spPr>
          <a:xfrm>
            <a:off x="5742432" y="6556248"/>
            <a:ext cx="169164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عاصمة أكثر أمنا وسلامة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74980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5" name="Text 19"/>
          <p:cNvSpPr/>
          <p:nvPr/>
        </p:nvSpPr>
        <p:spPr>
          <a:xfrm>
            <a:off x="7589520" y="6556248"/>
            <a:ext cx="50292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E.2</a:t>
            </a:r>
            <a:endParaRPr lang="en-US" sz="1000" dirty="0"/>
          </a:p>
        </p:txBody>
      </p:sp>
      <p:sp>
        <p:nvSpPr>
          <p:cNvPr id="26" name="Shape 20"/>
          <p:cNvSpPr/>
          <p:nvPr/>
        </p:nvSpPr>
        <p:spPr>
          <a:xfrm>
            <a:off x="8183880" y="6537960"/>
            <a:ext cx="0" cy="292608"/>
          </a:xfrm>
          <a:prstGeom prst="line">
            <a:avLst/>
          </a:prstGeom>
          <a:noFill/>
          <a:ln w="9525">
            <a:solidFill>
              <a:srgbClr val="E5EBF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8229600" y="6556248"/>
            <a:ext cx="3840480" cy="265176"/>
          </a:xfrm>
          <a:prstGeom prst="rect">
            <a:avLst/>
          </a:prstGeom>
          <a:noFill/>
          <a:ln/>
        </p:spPr>
        <p:txBody>
          <a:bodyPr wrap="square" lIns="0" tIns="0" rIns="0" bIns="0" rtlCol="1" anchor="ctr"/>
          <a:lstStyle/>
          <a:p>
            <a:pPr marL="0" indent="0" algn="ctr" rtl="1">
              <a:buNone/>
            </a:pPr>
            <a:r>
              <a:rPr lang="ar-AE" altLang="en-US" sz="900" dirty="0">
                <a:solidFill>
                  <a:srgbClr val="555555"/>
                </a:solidFill>
                <a:latin typeface="Tajawal" pitchFamily="34" charset="0"/>
                <a:ea typeface="Tajawal" pitchFamily="34" charset="-122"/>
                <a:cs typeface="Tajawal" pitchFamily="34" charset="-120"/>
              </a:rPr>
              <a:t>الإصدار الأول © 2026 هيئة أبوظبي للدفاع المدني - جميع الحقوق محفوظة</a:t>
            </a:r>
            <a:endParaRPr lang="ar-AE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نسق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1603</Words>
  <Application>Microsoft Office PowerPoint</Application>
  <PresentationFormat>شاشة عريضة</PresentationFormat>
  <Paragraphs>369</Paragraphs>
  <Slides>21</Slides>
  <Notes>21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3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21</vt:i4>
      </vt:variant>
    </vt:vector>
  </HeadingPairs>
  <TitlesOfParts>
    <vt:vector size="25" baseType="lpstr">
      <vt:lpstr>Arial</vt:lpstr>
      <vt:lpstr>Calibri</vt:lpstr>
      <vt:lpstr>Tajawal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حقيبة الإسعافات الأولية في المنزل</dc:title>
  <dc:subject>PptxGenJS Presentation</dc:subject>
  <dc:creator>هيئة أبوظبي للدفاع المدني</dc:creator>
  <cp:lastModifiedBy>Lenovo</cp:lastModifiedBy>
  <cp:revision>1</cp:revision>
  <dcterms:created xsi:type="dcterms:W3CDTF">2026-05-07T14:29:30Z</dcterms:created>
  <dcterms:modified xsi:type="dcterms:W3CDTF">2026-05-07T14:32:26Z</dcterms:modified>
</cp:coreProperties>
</file>