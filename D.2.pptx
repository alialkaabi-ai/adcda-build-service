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44" d="100"/>
          <a:sy n="44" d="100"/>
        </p:scale>
        <p:origin x="86" y="37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35154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3.png"/><Relationship Id="rId5" Type="http://schemas.openxmlformats.org/officeDocument/2006/relationships/image" Target="../media/image18.png"/><Relationship Id="rId10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14.png"/><Relationship Id="rId5" Type="http://schemas.openxmlformats.org/officeDocument/2006/relationships/image" Target="../media/image25.png"/><Relationship Id="rId10" Type="http://schemas.openxmlformats.org/officeDocument/2006/relationships/image" Target="../media/image28.png"/><Relationship Id="rId4" Type="http://schemas.openxmlformats.org/officeDocument/2006/relationships/image" Target="../media/image2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.png"/><Relationship Id="rId7" Type="http://schemas.openxmlformats.org/officeDocument/2006/relationships/image" Target="../media/image30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33.png"/><Relationship Id="rId5" Type="http://schemas.openxmlformats.org/officeDocument/2006/relationships/image" Target="../media/image29.png"/><Relationship Id="rId10" Type="http://schemas.openxmlformats.org/officeDocument/2006/relationships/image" Target="../media/image32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16.png"/><Relationship Id="rId5" Type="http://schemas.openxmlformats.org/officeDocument/2006/relationships/image" Target="../media/image13.png"/><Relationship Id="rId10" Type="http://schemas.openxmlformats.org/officeDocument/2006/relationships/image" Target="../media/image27.png"/><Relationship Id="rId4" Type="http://schemas.openxmlformats.org/officeDocument/2006/relationships/image" Target="../media/image2.png"/><Relationship Id="rId9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1.png"/><Relationship Id="rId7" Type="http://schemas.openxmlformats.org/officeDocument/2006/relationships/image" Target="../media/image30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14.png"/><Relationship Id="rId5" Type="http://schemas.openxmlformats.org/officeDocument/2006/relationships/image" Target="../media/image35.png"/><Relationship Id="rId10" Type="http://schemas.openxmlformats.org/officeDocument/2006/relationships/image" Target="../media/image37.png"/><Relationship Id="rId4" Type="http://schemas.openxmlformats.org/officeDocument/2006/relationships/image" Target="../media/image2.png"/><Relationship Id="rId9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.png"/><Relationship Id="rId7" Type="http://schemas.openxmlformats.org/officeDocument/2006/relationships/image" Target="../media/image40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43.png"/><Relationship Id="rId5" Type="http://schemas.openxmlformats.org/officeDocument/2006/relationships/image" Target="../media/image38.png"/><Relationship Id="rId10" Type="http://schemas.openxmlformats.org/officeDocument/2006/relationships/image" Target="../media/image42.png"/><Relationship Id="rId4" Type="http://schemas.openxmlformats.org/officeDocument/2006/relationships/image" Target="../media/image2.png"/><Relationship Id="rId9" Type="http://schemas.openxmlformats.org/officeDocument/2006/relationships/image" Target="../media/image4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1.png"/><Relationship Id="rId7" Type="http://schemas.openxmlformats.org/officeDocument/2006/relationships/image" Target="../media/image38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45.png"/><Relationship Id="rId5" Type="http://schemas.openxmlformats.org/officeDocument/2006/relationships/image" Target="../media/image43.png"/><Relationship Id="rId10" Type="http://schemas.openxmlformats.org/officeDocument/2006/relationships/image" Target="../media/image4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1.png"/><Relationship Id="rId7" Type="http://schemas.openxmlformats.org/officeDocument/2006/relationships/image" Target="../media/image47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40.png"/><Relationship Id="rId5" Type="http://schemas.openxmlformats.org/officeDocument/2006/relationships/image" Target="../media/image46.png"/><Relationship Id="rId10" Type="http://schemas.openxmlformats.org/officeDocument/2006/relationships/image" Target="../media/image49.png"/><Relationship Id="rId4" Type="http://schemas.openxmlformats.org/officeDocument/2006/relationships/image" Target="../media/image2.png"/><Relationship Id="rId9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11" Type="http://schemas.openxmlformats.org/officeDocument/2006/relationships/image" Target="../media/image52.png"/><Relationship Id="rId5" Type="http://schemas.openxmlformats.org/officeDocument/2006/relationships/image" Target="../media/image50.png"/><Relationship Id="rId10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4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1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6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الفحص الوقائي وسلامة المركبة</a:t>
            </a:r>
            <a:endParaRPr lang="en-US" sz="36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مركبتك اليوم… لتصل بأمان كل يوم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"سلامة المركبة لا تبدأ عند حدوث العطل، بل تبدأ من الفحص المنتظم والصيانة الوقائية والانتباه لأي مؤشر غير طبيعي"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D.2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بالفحص الوقائي؟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اكتشاف الأعطال قبل أن تتحول إلى خطر على الطريق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التعطل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أثناء القيادة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الحوادث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بسبب خلل في المركبة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الركاب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المخاطر المفاجئة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جاهزية المركبة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الظروف اليومية والطارئة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مسؤولية السائق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تجاه سلامة الطريق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قيادة آمنة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للجميع على الطريق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المركبة الآمنة تبدأ بسائق لا يتجاهل الفحص ولا يؤجل الصيانة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D.2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يجب فحص المركبة؟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الفحص جزء من السلوك اليومي للسائق وليس فقط في موعد الصيانة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قبل استخدام المركبة يوميًا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قبل الرحلات الطويلة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بعد ملاحظة صوت أو اهتزاز غريب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بعد المرور فوق حفرة قوية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بعد التعرض لحادث ولو بسيط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قبل الصيف وارتفاع الحرارة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قبل الأجواء غير المستقرة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قاعدة: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كلما كان الفحص مبكرًا، كان التعامل مع الخلل أسهل وأكثر أمانًا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الفحص الخارجي قبل القيادة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نظرة سريعة قد تمنع خطرًا كبيرًا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توجد تسربات أسفل المركبة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الإطارات سليمة دون تشقق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أجسام حادة في الإطارات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الزجاج والمرايا سليمة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الزجاج نظيف بدون عوائق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أجزاء المركبة الخارجية مثبتة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أطفال أو عوائق حول المركبة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الفحص الخارجي لا يستغرق وقتًا طويلًا، لكنه قد يمنع خطرًا كبيرًا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الإطارات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نقطة الاتصال المباشرة بين المركبة والطريق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846320" y="278892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1320272" y="283464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4" name="Text 9"/>
          <p:cNvSpPr/>
          <p:nvPr/>
        </p:nvSpPr>
        <p:spPr>
          <a:xfrm>
            <a:off x="11320272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4983480" y="278892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ضغط الهواء حسب توصيات الشركة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846320" y="3236976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1320272" y="328269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8" name="Text 13"/>
          <p:cNvSpPr/>
          <p:nvPr/>
        </p:nvSpPr>
        <p:spPr>
          <a:xfrm>
            <a:off x="11320272" y="3282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4983480" y="323697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تآكل واضح أو غير متساوٍ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846320" y="3685032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11320272" y="37307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2" name="Text 17"/>
          <p:cNvSpPr/>
          <p:nvPr/>
        </p:nvSpPr>
        <p:spPr>
          <a:xfrm>
            <a:off x="11320272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983480" y="368503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تشققات أو انتفاخات في الجوانب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4846320" y="4133088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1320272" y="41788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6" name="Text 21"/>
          <p:cNvSpPr/>
          <p:nvPr/>
        </p:nvSpPr>
        <p:spPr>
          <a:xfrm>
            <a:off x="1132027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4983480" y="4133088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صلاحية الإطار وعمره الافتراضي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4846320" y="4581144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11320272" y="4626864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0" name="Text 25"/>
          <p:cNvSpPr/>
          <p:nvPr/>
        </p:nvSpPr>
        <p:spPr>
          <a:xfrm>
            <a:off x="11320272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4983480" y="458114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الإطار الاحتياطي سليم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4846320" y="502920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11320272" y="507492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4" name="Text 29"/>
          <p:cNvSpPr/>
          <p:nvPr/>
        </p:nvSpPr>
        <p:spPr>
          <a:xfrm>
            <a:off x="11320272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4983480" y="502920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أدوات تغيير الإطار متوفرة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مؤشر خطر: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اهتزاز المركبة أو انحرافها أو انخفاض ضغط أحد الإطارات يستوجب الفحص الفوري</a:t>
            </a:r>
            <a:endParaRPr lang="ar-AE" sz="1200" dirty="0"/>
          </a:p>
        </p:txBody>
      </p:sp>
      <p:sp>
        <p:nvSpPr>
          <p:cNvPr id="38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9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0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2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4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6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D.2</a:t>
            </a:r>
            <a:endParaRPr lang="en-US" sz="1000" dirty="0"/>
          </a:p>
        </p:txBody>
      </p:sp>
      <p:sp>
        <p:nvSpPr>
          <p:cNvPr id="48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ضغط الإطارات والحرارة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الإطار السليم يساعد على قيادة أكثر ثباتًا وأمانًا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الضغط والإطار بارد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بقيمة الشركة المصنّعة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تحكم بالشكل فقط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قبل الرحلات الطويلة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انتبه أكثر في الصيف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تابع نظام مراقبة الضغط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تهمل أي تحذير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ضغط الإطار غير الصحيح يؤثر على الثبات واستهلاك الوقود وقدرة التحكم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الفرامل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تستوجب الفحص الفوري دون تأجيل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صوت احتكاك أو صرير عند الفرملة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اهتزاز المقود أو الدواسة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زيادة مسافة التوقف عن المعتاد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انخفاض مستوى سائل الفرامل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إضاءة لمبة تحذير الفرامل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شعور غير طبيعي في الدواسة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ميل المركبة لجهة عند الفرملة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استجابة الفرامل سريعًا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إجراء عاجل: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 علامة غير طبيعية في الفرامل يجب فحصها لدى مختص دون تأجيل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D.2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الأنوار والإشارات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وسيلة تواصل مهمة مع مستخدمي الطريق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المصابيح الأمامية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المصابيح الخلفية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أضواء الفرامل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إشارات الانعطاف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الإشارات التحذيرية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أضواء الرجوع للخلف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إنارة لوحة الأرقام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عطل بسيط في الإضاءة قد يمنع الآخرين من ملاحظة المركبة أو توقع حركتها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الزجاج والمرايا والمساحات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وضوح الرؤية يساعد على اتخاذ القرار الصحيح في الوقت المناسب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الزجاج الأمامي والخلفي نظيف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المرايا الجانبية والداخلية سليمة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ضبط المرايا قبل الانطلاق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المساحات تعمل بكفاءة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سائل تنظيف الزجاج متوفر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ملصقات تحجب الرؤية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الانعكاسات والوهج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الرؤية غير الواضحة تزيد احتمالية عدم الانتباه للمشاة أو المركبات أو العوائق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السوائل الأساسية في المركبة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نقص السوائل قد يبدأ بسيطًا ويتحول إلى 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زيت المحرك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سائل التبريد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سائل الفرامل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سائل التوجيه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سائل تنظيف الزجاج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وقود كافٍ للرحلة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بقع سوائل أسفل المركبة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نقص السوائل قد يبدأ كمشكلة بسيطة، لكنه قد يتحول إلى خطر أثناء القيادة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البطارية والتمديدات الكهربائية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 خلل كهربائي متكرر يحتاج إلى فحص لدى مختص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تأخر تشغيل المركبة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تآكل أو أملاح حول الأقطاب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أسلاك تالفة أو مكشوفة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أجهزة كهربائية غير معتمدة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تكرار احتراق الفيوزات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رائحة احتراق غير طبيعية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حرارة غير معتادة في الأسلاك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تتعامل مع الأعطال الكهربائية بطريقة مؤقتة أو عشوائية، استعن بمختص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مؤشرات لوحة العدادات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المؤشرات التحذيرية أبدًا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مؤشر حرارة المحرك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لمبة ضغط الزيت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لمبة البطارية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لمبة الفرامل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لمبة ضغط الإطارات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لمبة فحص المحرك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مؤشرات أنظمة السلامة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في مكان آمن إذا ظهر مؤشر خطر فوري مثل ارتفاع الحرارة أو ضغط الزيت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تجهيزات السلامة داخل المركبة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التجهيز يساعد على التصرف الآمن إلى حين وصول المساعدة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طفاية حريق سارية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مثلث تحذيري عاكس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سترة عاكسة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حقيبة إسعافات أولية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مصباح يدوي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أدوات تغيير الإطار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شاحن مناسب للأجهزة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التجهيز لا يعني المخاطرة، بل يساعد على التصرف الآمن إلى حين وصول الجهات المختصة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الحمولة وتنظيم الأغراض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الأغراض غير المثبتة قد تتحول إلى مصدر 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تتجاوز الحد المسموح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ثبّت الأغراض في الصندوق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أغراض ثقيلة في المقصورة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تحجب الرؤية الخلفية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المواد القابلة للاشتعال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راعِ ضغط الإطارات مع الحمولة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نظّم الأغراض ولا تكدّسها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الأغراض غير المثبتة قد تتحول إلى مصدر خطر عند التوقف المفاجئ أو الاصطدام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تعطل المركبة؟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بهدوء وتجنب الوقوف في أماكن خطرة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خفف السرعة تدريجيًا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شغّل الإشارات التحذيرية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انتقل إلى كتف الطريق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المركبة بعيدًا عن المسار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اخرج من الجهة الآمنة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 المثلث التحذيري إن أمكن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بالمساعدة على الطريق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 خلف المركبة أو قرب مسار المركبات القادمة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D.2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في الفحص الوقائي للمركبة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32841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3284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المركبة قبل القيادة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87705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8770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947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تابع ضغط الإطارات وحالتها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4256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425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3434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الفرامل والأنوار بانتظام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97433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974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8920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انتبه لمؤشرات لوحة العدادات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52297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5229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4406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عالج الأعطال فورًا لدى مختص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607161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6071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9893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جهّز معدات السلامة الأساسية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3" name="Text 29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623560" y="332841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623560" y="33284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40080" y="32461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أصوات الفرامل أو الاهتزاز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5623560" y="387705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8770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7947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تقُد بإطارات تالفة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44256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4425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43434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تؤجل صيانة الأعطال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97433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974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8920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المركبة مع تسرب سوائل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552297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55229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54406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توقف المعطلة في مسار الطريق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607161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6071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9893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تصلح المركبة قرب حركة المرور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3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4" name="Shape 4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6" name="Shape 5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8" name="Shape 5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0" name="Shape 5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D.2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قبل القيادة لاحظت أن أحد الإطارات منخفض الضغط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ضغط الإطار وعالج السبب قبل استخدام المركبة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ظهرت لمبة حرارة المحرك أثناء القيادة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في مكان آمن، أوقف المركبة، ولا تواصل القيادة قبل معرفة السبب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سمعت صوت صرير واضح عند استخدام الفرامل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نظام الفرامل لدى جهة مختصة ولا تؤجل الصيانة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تعطلت المركبة على طريق سريع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شغّل الإشارات، انتقل لمكان آمن، ابتعد عن المسار، واطلب المساعدة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D.2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09960" y="2779776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28529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791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يعد فحص الإطارات مهمًا قبل القيادة؟</a:t>
            </a:r>
            <a:endParaRPr lang="ar-AE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2990088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لأنها تؤثر مباشرة على ثبات المركبة وقدرة التحكم والتوقف الآمن</a:t>
            </a:r>
            <a:endParaRPr lang="ar-AE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374136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109960" y="3547872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36210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44728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التصرف الصحيح عند ظهور لمبة حرارة المحرك؟</a:t>
            </a:r>
            <a:endParaRPr lang="ar-AE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58184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التوقف في مكان آمن وعدم مواصلة القيادة قبل فحص السبب</a:t>
            </a:r>
            <a:endParaRPr lang="ar-AE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4142232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109960" y="4315968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42153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يعني صوت غير طبيعي عند استخدام الفرامل؟</a:t>
            </a:r>
            <a:endParaRPr lang="ar-AE" sz="1400" dirty="0"/>
          </a:p>
        </p:txBody>
      </p:sp>
      <p:sp>
        <p:nvSpPr>
          <p:cNvPr id="24" name="Text 17"/>
          <p:cNvSpPr/>
          <p:nvPr/>
        </p:nvSpPr>
        <p:spPr>
          <a:xfrm>
            <a:off x="640080" y="452628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يدل على خلل في نظام الفرامل ويجب فحصه لدى مختص</a:t>
            </a:r>
            <a:endParaRPr lang="ar-AE" sz="1200" dirty="0"/>
          </a:p>
        </p:txBody>
      </p:sp>
      <p:sp>
        <p:nvSpPr>
          <p:cNvPr id="25" name="Shape 18"/>
          <p:cNvSpPr/>
          <p:nvPr/>
        </p:nvSpPr>
        <p:spPr>
          <a:xfrm>
            <a:off x="457200" y="4910328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109960" y="5084064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5157216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9834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الإجراء الصحيح عند تعطل المركبة على الطريق؟</a:t>
            </a:r>
            <a:endParaRPr lang="ar-AE" sz="1400" dirty="0"/>
          </a:p>
        </p:txBody>
      </p:sp>
      <p:sp>
        <p:nvSpPr>
          <p:cNvPr id="29" name="Text 21"/>
          <p:cNvSpPr/>
          <p:nvPr/>
        </p:nvSpPr>
        <p:spPr>
          <a:xfrm>
            <a:off x="640080" y="5294376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تشغيل الإشارات، التوقف في مكان آمن، الابتعاد عن الحركة، وطلب المساعدة</a:t>
            </a:r>
            <a:endParaRPr lang="ar-AE" sz="1200" dirty="0"/>
          </a:p>
        </p:txBody>
      </p:sp>
      <p:sp>
        <p:nvSpPr>
          <p:cNvPr id="30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6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D.2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الفحص الوقائي مسؤولية تحمي السائق والركاب ومستخدمي الطريق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قبل القيادة • تابع الإطارات والفرامل • لا تتجاهل المؤشرات • سلامتك أولًا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"افحص مركبتك اليوم… لتصل بأمان في كل يوم"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D.2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1506</Words>
  <Application>Microsoft Office PowerPoint</Application>
  <PresentationFormat>شاشة عريضة</PresentationFormat>
  <Paragraphs>339</Paragraphs>
  <Slides>19</Slides>
  <Notes>19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19</vt:i4>
      </vt:variant>
    </vt:vector>
  </HeadingPairs>
  <TitlesOfParts>
    <vt:vector size="23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الفحص الوقائي وسلامة المركبة</dc:title>
  <dc:subject>PptxGenJS Presentation</dc:subject>
  <dc:creator>هيئة أبوظبي للدفاع المدني</dc:creator>
  <cp:lastModifiedBy>Lenovo</cp:lastModifiedBy>
  <cp:revision>1</cp:revision>
  <dcterms:created xsi:type="dcterms:W3CDTF">2026-05-07T11:55:26Z</dcterms:created>
  <dcterms:modified xsi:type="dcterms:W3CDTF">2026-05-07T13:29:25Z</dcterms:modified>
</cp:coreProperties>
</file>