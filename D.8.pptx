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8925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4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4.png"/><Relationship Id="rId5" Type="http://schemas.openxmlformats.org/officeDocument/2006/relationships/image" Target="../media/image14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4.png"/><Relationship Id="rId5" Type="http://schemas.openxmlformats.org/officeDocument/2006/relationships/image" Target="../media/image14.png"/><Relationship Id="rId10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4.png"/><Relationship Id="rId5" Type="http://schemas.openxmlformats.org/officeDocument/2006/relationships/image" Target="../media/image26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4.png"/><Relationship Id="rId5" Type="http://schemas.openxmlformats.org/officeDocument/2006/relationships/image" Target="../media/image24.png"/><Relationship Id="rId10" Type="http://schemas.openxmlformats.org/officeDocument/2006/relationships/image" Target="../media/image26.png"/><Relationship Id="rId4" Type="http://schemas.openxmlformats.org/officeDocument/2006/relationships/image" Target="../media/image2.pn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.png"/><Relationship Id="rId5" Type="http://schemas.openxmlformats.org/officeDocument/2006/relationships/image" Target="../media/image18.png"/><Relationship Id="rId10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4.png"/><Relationship Id="rId5" Type="http://schemas.openxmlformats.org/officeDocument/2006/relationships/image" Target="../media/image30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32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4.png"/><Relationship Id="rId5" Type="http://schemas.openxmlformats.org/officeDocument/2006/relationships/image" Target="../media/image33.png"/><Relationship Id="rId10" Type="http://schemas.openxmlformats.org/officeDocument/2006/relationships/image" Target="../media/image18.png"/><Relationship Id="rId4" Type="http://schemas.openxmlformats.org/officeDocument/2006/relationships/image" Target="../media/image2.png"/><Relationship Id="rId9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10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41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4.png"/><Relationship Id="rId5" Type="http://schemas.openxmlformats.org/officeDocument/2006/relationships/image" Target="../media/image13.png"/><Relationship Id="rId10" Type="http://schemas.openxmlformats.org/officeDocument/2006/relationships/image" Target="../media/image21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43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 عند الحوادث المرورية</a:t>
            </a:r>
            <a:endParaRPr lang="en-US" sz="34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هدوء… وتأمين… وطلب المساعدة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31520" y="5257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"التصرف الصحيح بعد الحادث يبدأ بالهدوء، وتأمين المكان، وحماية الأشخاص، وطلب المساعدة من الجهات المختصة"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D.8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نهتم بالتصرف الصحيح عند الحوادث؟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الخاطئ بعد الحادث قد يضاعف الخطر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937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509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52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852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الأرواح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852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بعد وقوع الحادث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36829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82549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09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61975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45973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الاصطدامات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45973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الإضافية في الموقع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24281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70001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9427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33425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تسهيل وصول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33425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الجهات المختصة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1733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57453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36879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20877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منع التجمهر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20877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 الوقوف الخاطئ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99185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44905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24331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808329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هادئ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808329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للسائق والركاب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8663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103235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2176" y="3200400"/>
            <a:ext cx="457200" cy="4572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101178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99578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ثقافة المسؤولية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99578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المرورية الواعية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الهدوء في أول دقيقة بعد الحادث يساعد على اتخاذ القرار الصحيح</a:t>
            </a:r>
            <a:endParaRPr lang="ar-AE" sz="1200" dirty="0"/>
          </a:p>
        </p:txBody>
      </p:sp>
      <p:sp>
        <p:nvSpPr>
          <p:cNvPr id="48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9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D.8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أول قاعدة بعد الحادث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الأولوية لسلامة الأشخاص وليس للمركبات أو الممتلكات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نفسك أولًا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الركاب ومن حولك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الابتعاد عن مسار المركبات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تشغيل الإشارات التحذيرية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طلب المساعدة عند الحاجة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انتظار الجهات المختصة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تتصرف بعجلة أو انفعال — القرارات السريعة غير المدروسة قد تزيد الخطر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D.8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التوقف الآمن بعد الحادث البسيط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إذا كانت المركبة قابلة للتحرك ولا توجد إصابات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شغّل الإشارات التحذيرية فورًا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انقل المركبة لمكان آمن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تقف في وسط الطريق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تقف أمام المركبات القادمة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تحقق من سلامة الركاب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تواصل مع الجهات المختصة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إبعاد المركبة عن مسار الطريق يمنع عرقلة الحركة وتقليل خطر الحوادث الإضافية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D.8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عند وجود إصابات أو خطر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تعامل مع الموقف على أنه حالة طارئة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شغّل الإشارات التحذيرية إن أمكن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مسار المركبات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أخلِ الركاب إلى مكان آمن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بالطوارئ على 999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قدّم الموقع بوضوح للجهات المختصة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تحرك المصاب إلا عند خطر مباشر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انتظر فرق الاستجابة واتبع التعليمات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 مهم: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سلامتك وسلامة الموجودين أهم من محاولة فحص المركبة أو إصلاحها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D.8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تأمين موقع الحادث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التأمين ينبه السائقين الآخرين ويقلل الحوادث الإضافية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تشغيل الإشارات التحذيرية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استخدام المثلث التحذيري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الابتعاد عن مسار المركبات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الوقوف خلف الحواجز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تقف بين مركبتين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الركاب عن المركبة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تضع نفسك في خطر أثناء محاولة تأمين الموقع — الأمان الشخصي هو الأولوية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D.8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الاتصال بالطوارئ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المعلومة الدقيقة تساعد فرق الطوارئ على الوصول بسرعة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005840" y="2606040"/>
            <a:ext cx="1828800" cy="18288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1" name="Shape 7"/>
          <p:cNvSpPr/>
          <p:nvPr/>
        </p:nvSpPr>
        <p:spPr>
          <a:xfrm>
            <a:off x="1170432" y="2770632"/>
            <a:ext cx="1499616" cy="14996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8"/>
          <p:cNvSpPr/>
          <p:nvPr/>
        </p:nvSpPr>
        <p:spPr>
          <a:xfrm>
            <a:off x="1005840" y="2971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999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1005840" y="3639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EMERGENCY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200400" y="2788920"/>
            <a:ext cx="8549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762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338328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معلومات يجب تقديمها للطوارئ: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83280" y="32004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"موقع الحادث • عدد المركبات • وجود إصابات • دخان أو تسرب • أقرب معلم"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6235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4523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" y="482346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6819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اذكر الموقع بدقة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335127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53415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7036" y="482346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35711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عدد المركبات المتضررة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614019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32307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482346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14603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وجود إصابات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92911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911199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4876" y="482346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93495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خطر دخان أو حريق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رقم الطوارئ: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على 999 عند وجود حالة طارئة أو خطر على الأرواح</a:t>
            </a:r>
            <a:endParaRPr lang="ar-AE" sz="1200" dirty="0"/>
          </a:p>
        </p:txBody>
      </p:sp>
      <p:sp>
        <p:nvSpPr>
          <p:cNvPr id="35" name="Shape 27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6" name="Image 6" descr="/home/claude/assets/social_icon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0" name="Text 31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2" name="Text 33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3" name="Shape 34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D.8</a:t>
            </a:r>
            <a:endParaRPr lang="en-US" sz="1000" dirty="0"/>
          </a:p>
        </p:txBody>
      </p:sp>
      <p:sp>
        <p:nvSpPr>
          <p:cNvPr id="45" name="Shape 36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التعامل مع الركاب بعد الحادث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تنظيم خروج الركاب بطريقة آمنة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الهدوء وعدم النزول العشوائي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الخروج من الجهة الآمنة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الأطفال وكبار السن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اجمع الركاب في مكان آمن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أحد يعود إلى المركبة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انتظر الجهات المختصة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إخلاء الركاب لا يعني الوقوف قرب المركبة، بل الانتقال إلى مكان آمن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D.8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متى لا تحرك المركبة؟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حالات يكون فيها تحريك المركبة غير آمن أو غير مناسب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48056" y="260604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0936" y="294894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" y="31318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53896" y="26060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وجود إصابات أو خطر مباشر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242816" y="260604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425696" y="294894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8576" y="31318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48656" y="26060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علامات دخان أو حريق أو تسرب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037576" y="260604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220456" y="294894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3336" y="313182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043416" y="26060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المركبة في وضع غير مستقر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448056" y="416052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630936" y="450342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816" y="468630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453896" y="416052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تحريكها يزيد الخطر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242816" y="416052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425696" y="450342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08576" y="46863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248656" y="416052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طلب الجهات المختصة عدم التحريك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8037576" y="416052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8220456" y="450342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03336" y="46863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043416" y="416052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تستطيع تحريكها بأمان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الحالات الخطرة، لا تحاول إصلاح المركبة أو تحريكها بنفسك — انتظر الجهات المختصة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D.8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تحريك المصاب إلا للضرورة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تعامل بحذر وتجنب التصرفات العشوائية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تحرك المصاب إلا عند خطر مباشر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بالطوارئ فورًا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ابقَ بالقرب إذا كان آمنًا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طمئن المصاب وانتظر المختصين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تقدم تدخلات غير مدربة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المتجمهرين عن الموقع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المساعدة الصحيحة تبدأ بطلب الجهات المختصة وعدم تعريض المصاب لخطر إضافي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D.8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التعامل مع النزيف أو الجروح البسيطة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تعامل بحذر إلى حين وصول المساعدة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هدوء المصاب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قفازات أو حاجزًا واقيًا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اضغط بضمادة نظيفة على النزيف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تلمس الدم بدون وقاية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تزل جسمًا عالقًا في الجرح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اطلب المساعدة عند نزيف شديد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 مهم: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تجعل تقديم المساعدة يعرضك للخطر، ولا تتدخل بما يتجاوز معرفتك أو تدريبك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D.8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الاشتباه بالكسور أو إصابات الرأس والرقبة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علامات تستدعي الحذر وعدم تحريك المصاب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72491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ألم شديد في الرقبة أو الظهر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09067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11810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09067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فقدان الوعي أو دوخة شديدة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483864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5112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483864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صعوبة الحركة أو الوقوف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3877056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390448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3877056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تشوه واضح في أحد الأطراف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270248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2976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270248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ألم شديد بعد السقوط أو الاصطدام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66344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469087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4690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66344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ارتباك أو صعوبة بالتحدث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05663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1320272" y="50840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4"/>
          <p:cNvSpPr/>
          <p:nvPr/>
        </p:nvSpPr>
        <p:spPr>
          <a:xfrm>
            <a:off x="11320272" y="5084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05663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نزيف أو فقدان إحساس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تحرك المصاب عند الاشتباه بإصابة خطيرة، انتظر فرق الإسعاف إلا عند خطر مباشر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D.8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مخاطر التجمهر عند الحوادث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سلوكيات خاطئة قد تعيق الاستجابة وتزيد المخاطر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48056" y="260604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0936" y="294894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" y="31318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53896" y="26060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إعاقة وصول مركبات الطوارئ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242816" y="260604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425696" y="294894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8576" y="31318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48656" y="26060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زيادة الازدحام في الموقع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037576" y="260604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220456" y="294894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3336" y="313182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043416" y="26060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تعريض المتجمهرين لحوادث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448056" y="416052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630936" y="450342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3816" y="468630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453896" y="416052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تشتيت انتباه السائقين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4242816" y="416052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4425696" y="450342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08576" y="46863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248656" y="416052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انتهاك خصوصية المتضررين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8037576" y="416052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8220456" y="450342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03336" y="468630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9043416" y="416052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تعطيل الجهات المختصة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تصرف 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الموقع إذا لم تكن طرفًا فيه، واترك المجال للجهات المختصة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D.8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التصوير ونشر الحوادث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سلوك يضر بخصوصية المتضررين ويعرقل التصرف الصحيح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48056" y="260604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0936" y="294894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" y="313182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53896" y="26060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تصوير المصابين أو المتضررين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242816" y="260604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425696" y="294894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8576" y="313182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48656" y="26060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نشر صور أو مقاطع الحادث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037576" y="260604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220456" y="294894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3336" y="313182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043416" y="26060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الوقوف للتصوير في الطريق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2345436" y="416052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2528316" y="450342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11196" y="468630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3351276" y="416052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الاقتراب لمجرد المشاهدة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6140196" y="416052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6323076" y="450342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5956" y="468630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146036" y="416052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تعطيل الحركة بسبب الفضول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الحوادث، دورك هو السلامة وطلب المساعدة، وليس التصوير أو النشر</a:t>
            </a:r>
            <a:endParaRPr lang="ar-AE" sz="1200" dirty="0"/>
          </a:p>
        </p:txBody>
      </p:sp>
      <p:sp>
        <p:nvSpPr>
          <p:cNvPr id="32" name="Shape 2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3" name="Image 7" descr="/home/claude/assets/social_icon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8" name="Shape 2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0" name="Shape 3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D.8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عند وجود دخان أو احتمال حريق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زيادة مستوى الحذر عند ظهور دخان أو رائحة احتراق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617720"/>
            <a:ext cx="594360" cy="594360"/>
          </a:xfrm>
          <a:prstGeom prst="ellipse">
            <a:avLst/>
          </a:prstGeom>
          <a:solidFill>
            <a:srgbClr val="DC2626"/>
          </a:solidFill>
          <a:ln w="3810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475488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846320" y="269748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9"/>
          <p:cNvSpPr/>
          <p:nvPr/>
        </p:nvSpPr>
        <p:spPr>
          <a:xfrm>
            <a:off x="11320272" y="272491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0"/>
          <p:cNvSpPr/>
          <p:nvPr/>
        </p:nvSpPr>
        <p:spPr>
          <a:xfrm>
            <a:off x="11320272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983480" y="269748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المركبة فورًا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46320" y="309067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11320272" y="311810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4"/>
          <p:cNvSpPr/>
          <p:nvPr/>
        </p:nvSpPr>
        <p:spPr>
          <a:xfrm>
            <a:off x="11320272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983480" y="309067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أخلِ الركاب إلى مكان آمن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846320" y="3483864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1320272" y="351129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18"/>
          <p:cNvSpPr/>
          <p:nvPr/>
        </p:nvSpPr>
        <p:spPr>
          <a:xfrm>
            <a:off x="11320272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983480" y="3483864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تفتح غطاء المحرك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846320" y="3877056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11320272" y="390448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2"/>
          <p:cNvSpPr/>
          <p:nvPr/>
        </p:nvSpPr>
        <p:spPr>
          <a:xfrm>
            <a:off x="11320272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4983480" y="3877056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تقترب من تسرب أو حرارة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846320" y="4270248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1320272" y="42976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6"/>
          <p:cNvSpPr/>
          <p:nvPr/>
        </p:nvSpPr>
        <p:spPr>
          <a:xfrm>
            <a:off x="11320272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4983480" y="4270248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تسمح للآخرين بالاقتراب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846320" y="466344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11320272" y="469087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0"/>
          <p:cNvSpPr/>
          <p:nvPr/>
        </p:nvSpPr>
        <p:spPr>
          <a:xfrm>
            <a:off x="11320272" y="4690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4983480" y="466344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بالطوارئ على 999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4846320" y="505663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11320272" y="508406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4"/>
          <p:cNvSpPr/>
          <p:nvPr/>
        </p:nvSpPr>
        <p:spPr>
          <a:xfrm>
            <a:off x="11320272" y="5084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505663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الطفاية للحريق الصغير فقط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 مهم: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تعرض نفسك للخطر لمحاولة إنقاذ المركبة أو الممتلكات</a:t>
            </a:r>
            <a:endParaRPr lang="ar-AE" sz="1200" dirty="0"/>
          </a:p>
        </p:txBody>
      </p:sp>
      <p:sp>
        <p:nvSpPr>
          <p:cNvPr id="44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D.8</a:t>
            </a:r>
            <a:endParaRPr lang="en-US" sz="1000" dirty="0"/>
          </a:p>
        </p:txBody>
      </p:sp>
      <p:sp>
        <p:nvSpPr>
          <p:cNvPr id="54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الحوادث على الطرق السريعة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سرعة المركبات وصعوبة التوقف المفاجئ تزيد الخطورة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المركبة لمنطقة آمنة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تقف خلف المركبة أو بجانبها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شغّل الإشارات التحذيرية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تصلح المركبة في موقع خطر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بالمساعدة على الطريق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ارتدِ السترة العاكسة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الطرق السريعة، الابتعاد عن مسار المركبات أهم من فحص الضرر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D.8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الحوادث داخل الأنفاق أو المواقف المغلقة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محدودية المساحة والتهوية تستوجب الحذر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شغّل الإشارات التحذيرية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أوقف المركبة بطريقة لا تزيد الخطر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اللوحات الإرشادية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المركبة عند خطر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مخارج الطوارئ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تعرقل ممرات الطوارئ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واذكر الموقع بدقة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الأماكن المغلقة، الدخان أو التسربات قد تزيد خطورة الموقف — اطلب المساعدة فورًا</a:t>
            </a:r>
            <a:endParaRPr lang="ar-AE" sz="1200" dirty="0"/>
          </a:p>
        </p:txBody>
      </p:sp>
      <p:sp>
        <p:nvSpPr>
          <p:cNvPr id="40" name="Shape 3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D.8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عند الحوادث المرورية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حافظ على الهدوء بعد الحادث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شغّل الإشارات التحذيرية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مسار المركبات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أخلِ الركاب إلى مكان آمن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الإصابات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قدّم الموقع بوضوح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11320272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1320272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336792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اتبع تعليمات فرق الاستجابة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6" name="Text 32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5623560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تقف في وسط الطريق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تتجمهر حول الحادث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تحرك المصاب إلا للضرورة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تصور الحادث أو تنشره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ترجع لمركبة بها دخان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5623560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5623560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640080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تصلح المركبة في مكان خطر</a:t>
            </a:r>
            <a:endParaRPr lang="en-US" sz="1300" dirty="0"/>
          </a:p>
        </p:txBody>
      </p:sp>
      <p:sp>
        <p:nvSpPr>
          <p:cNvPr id="55" name="Shape 51"/>
          <p:cNvSpPr/>
          <p:nvPr/>
        </p:nvSpPr>
        <p:spPr>
          <a:xfrm>
            <a:off x="5623560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5623560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640080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تعرقل وصول مركبات الطوارئ</a:t>
            </a:r>
            <a:endParaRPr lang="en-US" sz="1300" dirty="0"/>
          </a:p>
        </p:txBody>
      </p:sp>
      <p:sp>
        <p:nvSpPr>
          <p:cNvPr id="58" name="Shape 5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9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60" name="Shape 5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64" name="Shape 5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6" name="Shape 6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D.8</a:t>
            </a:r>
            <a:endParaRPr lang="en-US" sz="1000" dirty="0"/>
          </a:p>
        </p:txBody>
      </p:sp>
      <p:sp>
        <p:nvSpPr>
          <p:cNvPr id="68" name="Shape 6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حادث بسيط بدون إصابات والمركبة قابلة للتحرك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شغّل الإشارات، انقل المركبة لمكان آمن، واتبع الإجراءات المعتمدة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حادث مع وجود إصابات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999، أمّن المكان، ولا تحرك المصاب إلا عند خطر مباشر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أشخاص يتجمهرون ويصورون الحادث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ابتعد عن الموقع، ولا تصور أو تنشر، واترك المجال للمختصين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ظهر دخان من إحدى المركبات بعد الحادث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أخلِ الركاب، ابتعد عن المركبة، امنع الاقتراب، واتصل بـ 999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D.8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109960" y="2779776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285292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79192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أول أولوية بعد وقوع حادث مروري؟</a:t>
            </a:r>
            <a:endParaRPr lang="ar-AE" sz="1400" dirty="0"/>
          </a:p>
        </p:txBody>
      </p:sp>
      <p:sp>
        <p:nvSpPr>
          <p:cNvPr id="14" name="Text 9"/>
          <p:cNvSpPr/>
          <p:nvPr/>
        </p:nvSpPr>
        <p:spPr>
          <a:xfrm>
            <a:off x="640080" y="2990088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الأرواح، والابتعاد عن المسار، والتأكد من السلامة دون تعريض النفس</a:t>
            </a:r>
            <a:endParaRPr lang="ar-AE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374136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109960" y="3547872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362102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447288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متى يجب الاتصال بـ 999؟</a:t>
            </a:r>
            <a:endParaRPr lang="ar-AE" sz="1400" dirty="0"/>
          </a:p>
        </p:txBody>
      </p:sp>
      <p:sp>
        <p:nvSpPr>
          <p:cNvPr id="19" name="Text 13"/>
          <p:cNvSpPr/>
          <p:nvPr/>
        </p:nvSpPr>
        <p:spPr>
          <a:xfrm>
            <a:off x="640080" y="3758184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الإصابات أو الحريق أو الدخان أو التسرب أو خطر على مستخدمي الطريق</a:t>
            </a:r>
            <a:endParaRPr lang="ar-AE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4142232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109960" y="4315968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43891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4215384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يجوز تحريك المصاب بعد الحادث؟</a:t>
            </a:r>
            <a:endParaRPr lang="ar-AE" sz="1400" dirty="0"/>
          </a:p>
        </p:txBody>
      </p:sp>
      <p:sp>
        <p:nvSpPr>
          <p:cNvPr id="24" name="Text 17"/>
          <p:cNvSpPr/>
          <p:nvPr/>
        </p:nvSpPr>
        <p:spPr>
          <a:xfrm>
            <a:off x="640080" y="4526280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إلا عند خطر مباشر — ويجب انتظار الجهات المختصة</a:t>
            </a:r>
            <a:endParaRPr lang="ar-AE" sz="1200" dirty="0"/>
          </a:p>
        </p:txBody>
      </p:sp>
      <p:sp>
        <p:nvSpPr>
          <p:cNvPr id="25" name="Shape 18"/>
          <p:cNvSpPr/>
          <p:nvPr/>
        </p:nvSpPr>
        <p:spPr>
          <a:xfrm>
            <a:off x="457200" y="4910328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109960" y="5084064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5157216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983480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 التصرف عند رؤية حادث ولست طرفًا فيه؟</a:t>
            </a:r>
            <a:endParaRPr lang="ar-AE" sz="1400" dirty="0"/>
          </a:p>
        </p:txBody>
      </p:sp>
      <p:sp>
        <p:nvSpPr>
          <p:cNvPr id="29" name="Text 21"/>
          <p:cNvSpPr/>
          <p:nvPr/>
        </p:nvSpPr>
        <p:spPr>
          <a:xfrm>
            <a:off x="640080" y="5294376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التجمهر أو التصوير، ترك المجال للمختصين، والاتصال إن لزم</a:t>
            </a:r>
            <a:endParaRPr lang="ar-AE" sz="1200" dirty="0"/>
          </a:p>
        </p:txBody>
      </p:sp>
      <p:sp>
        <p:nvSpPr>
          <p:cNvPr id="30" name="Shape 2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1" name="Image 6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D.8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55448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 عند الحوادث يحمي الأرواح ويسهّل وصول المختصين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هدوء • تأمين الموقع • أخلِ الركاب • لا للتجمهر والتصوير • اتصل بـ 999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"عند الحوادث، تصرفك الواعي قد يحمي حياة إنسان"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D.8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1699</Words>
  <Application>Microsoft Office PowerPoint</Application>
  <PresentationFormat>شاشة عريضة</PresentationFormat>
  <Paragraphs>372</Paragraphs>
  <Slides>21</Slides>
  <Notes>21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21</vt:i4>
      </vt:variant>
    </vt:vector>
  </HeadingPairs>
  <TitlesOfParts>
    <vt:vector size="25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التصرف الصحيح عند الحوادث المرورية</dc:title>
  <dc:subject>PptxGenJS Presentation</dc:subject>
  <dc:creator>هيئة أبوظبي للدفاع المدني</dc:creator>
  <cp:lastModifiedBy>Lenovo</cp:lastModifiedBy>
  <cp:revision>1</cp:revision>
  <dcterms:created xsi:type="dcterms:W3CDTF">2026-05-07T14:05:34Z</dcterms:created>
  <dcterms:modified xsi:type="dcterms:W3CDTF">2026-05-07T14:08:05Z</dcterms:modified>
</cp:coreProperties>
</file>