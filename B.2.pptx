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8" d="100"/>
          <a:sy n="48" d="100"/>
        </p:scale>
        <p:origin x="53" y="11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1191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23.png"/><Relationship Id="rId5" Type="http://schemas.openxmlformats.org/officeDocument/2006/relationships/image" Target="../media/image24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24.png"/><Relationship Id="rId5" Type="http://schemas.openxmlformats.org/officeDocument/2006/relationships/image" Target="../media/image34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.png"/><Relationship Id="rId5" Type="http://schemas.openxmlformats.org/officeDocument/2006/relationships/image" Target="../media/image29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4.png"/><Relationship Id="rId5" Type="http://schemas.openxmlformats.org/officeDocument/2006/relationships/image" Target="../media/image14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91640"/>
            <a:ext cx="100584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حرائق المنازل</a:t>
            </a:r>
            <a:endParaRPr lang="en-US" sz="40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الوعي يحمي الأسرة والممتلكات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"الوقاية من حرائق المنازل تبدأ من السلوك اليومي الآمن داخل المنزل"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بالوقاية من حرائق المنازل؟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تبدأ من تصرف بسيط يمكن تجنّبه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أولوية كل أسرة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الممتلكات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والمنزل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الحرائق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ومنعها قبل وقوعها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الأسرة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وأفرادها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للتصرف وقت الطوارئ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معظم حرائق المنازل يمكن الوقاية منها بالانتباه والالتزام بإرشادات السلامة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مسببات حرائق المنازل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غالبًا ترتبط بالإهمال أو الاستخدام غير الآمن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الطبخ دون مراقبة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تحميل المقابس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تالفة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شموع دون متابعة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قابلة للاشتعال قرب الحرارة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سوء التخزين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غير آمن للمدافئ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إهمال الصيانة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سبب من هذه الأسباب يمكن السيطرة عليه بالوقاية والمتابعة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المطبخ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أكثر مواقع المنزل ارتباطًا بمخاطر الحرائق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الطبخ دون مراقبة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القابلة للاشتعال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نظّف تراكمات الزيوت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على حرائق الزيت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الحرارة بعد الانتهاء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الموقد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عند ملاحظة دخان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الطبخ باستمرار من أهم وسائل الوقاية من حرائق المنازل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داخل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الاستخدام غير الآمن قد يؤدي لحرائق وإصابات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المقابس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أسلاك أو قوابس تالفة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غير المستخدمة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التمديدات عن السجاد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بأيدٍ مبللة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شواحن معتمدة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السخونة والرائحة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إصلاح الأعطال الكهربائية بنفسك، استعِن بالمختصين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مصادر الحرارة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المدافئ والشموع والأفران تحتاج لانتباه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الستائر والأثاث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الشموع دون متابعة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أطفئها قبل النوم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مدافئ في الممرات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شواية داخل المنزل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التهوية الجيدة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مصدر حرارة صغير قد يسبب حريقًا كبيرًا إذا تُرك دون متابعة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إنذار الدخان وخطة الهروب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الإنذار المبكر والاستعداد ينقذان الأرواح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أجهزة الإنذار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اختبرها بشكل دوري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الأسرة صوت الإنذار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مخرجين من كل غرفة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نقطة تجمع خارجية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درّب الأسرة على الخطة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للمنزل دون إذن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الإنذار المبكر وخطة الهروب قد ينقذان الأرواح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التخزين الآمن للمواد القابلة للاشتعال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سوء التخزين يزيد احتمالية نشوب الحرائق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أبعدها عن مصادر الحرارة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عبواتها الأصلية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وقود داخل المنزل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بعيدًا عن الأطفال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ورق قرب المقابس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تخلّص من التالف بأمان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التخزين الآمن جزء أساسي من الوقاية من حرائق المنازل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ملاحظة مؤشرات خطر؟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تظهر قبل وقوع الحريق ويجب التعامل معها بجدية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82512" y="27660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5392" y="294894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205472" y="260604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199632" y="370332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382512" y="38633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5392" y="40462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205472" y="37033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دخان خفيف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99632" y="480060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82512" y="49606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5392" y="514350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205472" y="480060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سخونة غير طبيعية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97112" y="260604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79992" y="27660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2872" y="294894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902952" y="260604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 غير طبيعي من جهاز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8897112" y="370332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079992" y="38633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62872" y="404622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902952" y="370332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غاز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897112" y="480060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9079992" y="49606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62872" y="51435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902952" y="480060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انقطاع متكرر للكهرباء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2606040"/>
            <a:ext cx="5532120" cy="2926080"/>
          </a:xfrm>
          <a:prstGeom prst="roundRect">
            <a:avLst>
              <a:gd name="adj" fmla="val 2500"/>
            </a:avLst>
          </a:prstGeom>
          <a:solidFill>
            <a:srgbClr val="D1FAE5"/>
          </a:solidFill>
          <a:ln w="9525">
            <a:solidFill>
              <a:srgbClr val="1B873F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457200" y="269748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1371600" y="3108960"/>
            <a:ext cx="3703320" cy="0"/>
          </a:xfrm>
          <a:prstGeom prst="line">
            <a:avLst/>
          </a:prstGeom>
          <a:noFill/>
          <a:ln w="9525">
            <a:solidFill>
              <a:srgbClr val="1B873F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577840" y="3310128"/>
            <a:ext cx="274320" cy="274320"/>
          </a:xfrm>
          <a:prstGeom prst="ellipse">
            <a:avLst/>
          </a:prstGeom>
          <a:solidFill>
            <a:srgbClr val="1B873F"/>
          </a:solidFill>
          <a:ln/>
        </p:spPr>
      </p:sp>
      <p:sp>
        <p:nvSpPr>
          <p:cNvPr id="38" name="Text 28"/>
          <p:cNvSpPr/>
          <p:nvPr/>
        </p:nvSpPr>
        <p:spPr>
          <a:xfrm>
            <a:off x="557784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39" name="Text 29"/>
          <p:cNvSpPr/>
          <p:nvPr/>
        </p:nvSpPr>
        <p:spPr>
          <a:xfrm>
            <a:off x="640080" y="32461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مصدر الخطر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5577840" y="3767328"/>
            <a:ext cx="274320" cy="274320"/>
          </a:xfrm>
          <a:prstGeom prst="ellipse">
            <a:avLst/>
          </a:prstGeom>
          <a:solidFill>
            <a:srgbClr val="1B873F"/>
          </a:solidFill>
          <a:ln/>
        </p:spPr>
      </p:sp>
      <p:sp>
        <p:nvSpPr>
          <p:cNvPr id="41" name="Text 31"/>
          <p:cNvSpPr/>
          <p:nvPr/>
        </p:nvSpPr>
        <p:spPr>
          <a:xfrm>
            <a:off x="557784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2"/>
          <p:cNvSpPr/>
          <p:nvPr/>
        </p:nvSpPr>
        <p:spPr>
          <a:xfrm>
            <a:off x="640080" y="37033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التمديدات التالفة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5577840" y="4224528"/>
            <a:ext cx="274320" cy="274320"/>
          </a:xfrm>
          <a:prstGeom prst="ellipse">
            <a:avLst/>
          </a:prstGeom>
          <a:solidFill>
            <a:srgbClr val="1B873F"/>
          </a:solidFill>
          <a:ln/>
        </p:spPr>
      </p:sp>
      <p:sp>
        <p:nvSpPr>
          <p:cNvPr id="44" name="Text 34"/>
          <p:cNvSpPr/>
          <p:nvPr/>
        </p:nvSpPr>
        <p:spPr>
          <a:xfrm>
            <a:off x="5577840" y="4224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35"/>
          <p:cNvSpPr/>
          <p:nvPr/>
        </p:nvSpPr>
        <p:spPr>
          <a:xfrm>
            <a:off x="640080" y="41605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أفراد الأسرة فورًا</a:t>
            </a:r>
            <a:endParaRPr lang="en-US" sz="1300" dirty="0"/>
          </a:p>
        </p:txBody>
      </p:sp>
      <p:sp>
        <p:nvSpPr>
          <p:cNvPr id="46" name="Shape 36"/>
          <p:cNvSpPr/>
          <p:nvPr/>
        </p:nvSpPr>
        <p:spPr>
          <a:xfrm>
            <a:off x="5577840" y="4681728"/>
            <a:ext cx="274320" cy="274320"/>
          </a:xfrm>
          <a:prstGeom prst="ellipse">
            <a:avLst/>
          </a:prstGeom>
          <a:solidFill>
            <a:srgbClr val="1B873F"/>
          </a:solidFill>
          <a:ln/>
        </p:spPr>
      </p:sp>
      <p:sp>
        <p:nvSpPr>
          <p:cNvPr id="47" name="Text 37"/>
          <p:cNvSpPr/>
          <p:nvPr/>
        </p:nvSpPr>
        <p:spPr>
          <a:xfrm>
            <a:off x="5577840" y="4681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48" name="Text 38"/>
          <p:cNvSpPr/>
          <p:nvPr/>
        </p:nvSpPr>
        <p:spPr>
          <a:xfrm>
            <a:off x="640080" y="46177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الكهرباء بأمان</a:t>
            </a:r>
            <a:endParaRPr lang="en-US" sz="1300" dirty="0"/>
          </a:p>
        </p:txBody>
      </p:sp>
      <p:sp>
        <p:nvSpPr>
          <p:cNvPr id="49" name="Shape 39"/>
          <p:cNvSpPr/>
          <p:nvPr/>
        </p:nvSpPr>
        <p:spPr>
          <a:xfrm>
            <a:off x="5577840" y="5138928"/>
            <a:ext cx="274320" cy="274320"/>
          </a:xfrm>
          <a:prstGeom prst="ellipse">
            <a:avLst/>
          </a:prstGeom>
          <a:solidFill>
            <a:srgbClr val="1B873F"/>
          </a:solidFill>
          <a:ln/>
        </p:spPr>
      </p:sp>
      <p:sp>
        <p:nvSpPr>
          <p:cNvPr id="50" name="Text 40"/>
          <p:cNvSpPr/>
          <p:nvPr/>
        </p:nvSpPr>
        <p:spPr>
          <a:xfrm>
            <a:off x="5577840" y="5138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640080" y="50749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 المباشر</a:t>
            </a:r>
            <a:endParaRPr lang="en-US" sz="1300" dirty="0"/>
          </a:p>
        </p:txBody>
      </p:sp>
      <p:sp>
        <p:nvSpPr>
          <p:cNvPr id="52" name="Shape 4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4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62" name="Shape 5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عند نشوب حريق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الأرواح هي الأولوية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أنذر أفراد الأسرة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فورًا إذا انتشر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أقرب مخرج آمن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لأي سبب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موقع آمن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تخاطر بحياتك من أجل الممتلكات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طفاية الحريق في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على السيطرة في بداية الحريق الصغير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35508" y="2606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549908" y="2788920"/>
            <a:ext cx="777240" cy="7772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549908" y="2788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P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726948" y="3611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اسحب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26948" y="39319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أداة الأمان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406140" y="2606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320540" y="2788920"/>
            <a:ext cx="777240" cy="7772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7" name="Text 13"/>
          <p:cNvSpPr/>
          <p:nvPr/>
        </p:nvSpPr>
        <p:spPr>
          <a:xfrm>
            <a:off x="4320540" y="2788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A</a:t>
            </a:r>
            <a:endParaRPr lang="en-US" sz="3200" dirty="0"/>
          </a:p>
        </p:txBody>
      </p:sp>
      <p:sp>
        <p:nvSpPr>
          <p:cNvPr id="18" name="Text 14"/>
          <p:cNvSpPr/>
          <p:nvPr/>
        </p:nvSpPr>
        <p:spPr>
          <a:xfrm>
            <a:off x="3497580" y="3611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3497580" y="39319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الفوهة لقاعدة الحريق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176772" y="2606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091172" y="2788920"/>
            <a:ext cx="777240" cy="7772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2" name="Text 18"/>
          <p:cNvSpPr/>
          <p:nvPr/>
        </p:nvSpPr>
        <p:spPr>
          <a:xfrm>
            <a:off x="7091172" y="2788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S</a:t>
            </a:r>
            <a:endParaRPr lang="en-US" sz="3200" dirty="0"/>
          </a:p>
        </p:txBody>
      </p:sp>
      <p:sp>
        <p:nvSpPr>
          <p:cNvPr id="23" name="Text 19"/>
          <p:cNvSpPr/>
          <p:nvPr/>
        </p:nvSpPr>
        <p:spPr>
          <a:xfrm>
            <a:off x="6268212" y="3611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اضغط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6268212" y="39319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على الذراع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8947404" y="2606040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861804" y="2788920"/>
            <a:ext cx="777240" cy="7772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7" name="Text 23"/>
          <p:cNvSpPr/>
          <p:nvPr/>
        </p:nvSpPr>
        <p:spPr>
          <a:xfrm>
            <a:off x="9861804" y="2788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S</a:t>
            </a:r>
            <a:endParaRPr lang="en-US" sz="3200" dirty="0"/>
          </a:p>
        </p:txBody>
      </p:sp>
      <p:sp>
        <p:nvSpPr>
          <p:cNvPr id="28" name="Text 24"/>
          <p:cNvSpPr/>
          <p:nvPr/>
        </p:nvSpPr>
        <p:spPr>
          <a:xfrm>
            <a:off x="9038844" y="3611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حرّك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9038844" y="39319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جانب لآخر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02336" y="4526280"/>
            <a:ext cx="3703320" cy="411480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39496" y="45262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⚠ استخدم من 2-3 أمتار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4242816" y="4526280"/>
            <a:ext cx="3703320" cy="411480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379976" y="45262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⚠ اجعل طريق الخروج خلفك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8083296" y="4526280"/>
            <a:ext cx="3703320" cy="411480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220456" y="452628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1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⚠ لا تؤخر الإخلاء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دائمًا: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الآمن ثم الاتصال بالطوارئ</a:t>
            </a:r>
            <a:endParaRPr lang="ar-AE" sz="1200" dirty="0"/>
          </a:p>
        </p:txBody>
      </p:sp>
      <p:sp>
        <p:nvSpPr>
          <p:cNvPr id="38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للوقاية من حرائق المنازل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الطبخ باستمرار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غير المستخدمة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إنذار الدخان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القابلة للاشتعال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المواد بأمان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خطة هروب للأسرة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مصادر الحرارة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المقابس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تمديدات تالفة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على حرائق الزيت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للمنزل بعد الخروج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الأطفال دون إشراف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 من جهاز كهربائي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الجهاز بأمان، افصل الكهرباء، وأبلغ أفراد الأسرة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اشتعل الزيت أثناء الطبخ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ماء، غطّ الوعاء بغطاء مناسب بأمان، واطلب المساعدة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سمعت إنذار الدخان أثناء النوم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أيقظ الأسرة، واخرج فورًا لنقطة التجمع الخارجية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شمعة مشتعلة قرب ستارة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المصدر أو أطفئ الشمعة بأمان، ولا تتركها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ترك الطبخ دون مراقبة؟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متابعة الطبخ باستمرار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سماع إنذار الدخان؟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أخرج فورًا لنقطة التجمع ولا أعود للمنزل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نستخدم الماء على حرائق الزيوت أو الكهرباء؟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 ذلك قد يزيد الخطر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ترك طريق خروج خلفك مع الطفاية؟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تتمكن من الخروج فورًا إذا لم تتم السيطرة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 إجراء للوقاية من حرائق المنازل؟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الانتباه اليومي ومراقبة مصادر الحرارة والإبلاغ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91640"/>
            <a:ext cx="914400" cy="6858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حرائق المنازل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الطبخ • افصل الأجهزة • اختبر الإنذار • أبعد الحرارة • خطة هروب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"منزل آمن يبدأ بوعي الأسرة والتزامها بإرشادات السلامة"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B.2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1122</Words>
  <Application>Microsoft Office PowerPoint</Application>
  <PresentationFormat>شاشة عريضة</PresentationFormat>
  <Paragraphs>279</Paragraphs>
  <Slides>15</Slides>
  <Notes>15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15</vt:i4>
      </vt:variant>
    </vt:vector>
  </HeadingPairs>
  <TitlesOfParts>
    <vt:vector size="19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الوقاية من حرائق المنازل</dc:title>
  <dc:subject>PptxGenJS Presentation</dc:subject>
  <dc:creator>هيئة أبوظبي للدفاع المدني</dc:creator>
  <cp:lastModifiedBy>Lenovo</cp:lastModifiedBy>
  <cp:revision>1</cp:revision>
  <dcterms:created xsi:type="dcterms:W3CDTF">2026-05-06T13:35:05Z</dcterms:created>
  <dcterms:modified xsi:type="dcterms:W3CDTF">2026-05-06T13:47:38Z</dcterms:modified>
</cp:coreProperties>
</file>