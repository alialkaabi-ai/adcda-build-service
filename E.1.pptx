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88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.png"/><Relationship Id="rId5" Type="http://schemas.openxmlformats.org/officeDocument/2006/relationships/image" Target="../media/image31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.png"/><Relationship Id="rId5" Type="http://schemas.openxmlformats.org/officeDocument/2006/relationships/image" Target="../media/image26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4.png"/><Relationship Id="rId5" Type="http://schemas.openxmlformats.org/officeDocument/2006/relationships/image" Target="../media/image37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4.png"/><Relationship Id="rId5" Type="http://schemas.openxmlformats.org/officeDocument/2006/relationships/image" Target="../media/image38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4.png"/><Relationship Id="rId5" Type="http://schemas.openxmlformats.org/officeDocument/2006/relationships/image" Target="../media/image37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6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3.png"/><Relationship Id="rId5" Type="http://schemas.openxmlformats.org/officeDocument/2006/relationships/image" Target="../media/image4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أساسيات الإسعافات الأولية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تصرفك الواعي في الدقائق الأولى يصنع فرقًا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"الإسعافات الأولية خطوات بسيطة ومنظمة تُقدَّم في الدقائق الأولى لحماية الحياة وتقليل تفاقم الإصابة"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بالإسعافات الأولية؟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في الدقائق الأولى يحمي المصاب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الحياة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اللحظات الأولى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التفاقم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الإصابات والحالات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طمأنة المصاب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ومن حوله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المختصين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بمعلومات واضحة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الأخطاء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التي قد تزيد الخطر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مسؤولية مجتمعية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ووعي جماعي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الإسعافات الأولية لا تستبدل المختصين، بل تعني التصرف الصحيح حتى وصولهم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بالإسعافات الأولية؟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رعاية أولية مؤقتة قبل وصول المختصين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الاقتراب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تقييم حالة المصاب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 من المختصين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تقديم رعاية بسيطة وآمنة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المصاب وطمأنته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أي تدخل غير مدرّب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دائمًا للسلامة الشخصية وسلامة المصاب والموجودين في المكان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القاعدة الأساسية: تحقق، اتصل، ساعد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تسلسل بسيط ومنظم وقت 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002536" y="27889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200253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1705356" y="3474720"/>
            <a:ext cx="1097280" cy="109728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816" y="372618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53796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سلامة المكان وحالة المصاب دون تعريض نفسك للخطر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219956" y="260604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843016" y="27889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584301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5545836" y="3474720"/>
            <a:ext cx="1097280" cy="109728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372618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02836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4494276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بالجهات المختصة عند وجود حالة طارئة أو إصابة خطيرة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060436" y="260604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83496" y="27889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0"/>
          <p:cNvSpPr/>
          <p:nvPr/>
        </p:nvSpPr>
        <p:spPr>
          <a:xfrm>
            <a:off x="968349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9386316" y="3474720"/>
            <a:ext cx="1097280" cy="109728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3726180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43316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8334756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ضمن حدود معرفتك وتدريبك حتى وصول المختصين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المنظم يقلل الارتباك ويساعدك على اتخاذ القرار الصحيح</a:t>
            </a:r>
            <a:endParaRPr lang="ar-AE" sz="1200" dirty="0"/>
          </a:p>
        </p:txBody>
      </p:sp>
      <p:sp>
        <p:nvSpPr>
          <p:cNvPr id="33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4" name="Image 5" descr="/home/claude/assets/social_ic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الاقتراب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المخاطر قبل تقديم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المركبات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أو دخان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غاز أو وقود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كهربائية مكشوفة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سقوط أجسام أو زجاج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أو تدافع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كيميائية ضارة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المكان غير آمن، لا تقترب، وابتعد إلى مكان آمن، واطلب المساعدة فورًا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نفسك أولًا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يمكن مساعدة الآخرين إذا أصبح المسعف نفسه في 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موقعًا خطِرًا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أو حاجزًا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ملامسة الدم مباشرة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يديك بعد المساعدة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تتدخل بما يتجاوز معرفتك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دعم شخص آخر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سلامتك جزء من عملية الإسعاف، وليست أمرًا ثانويًا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تقييم حالة المصاب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 نفسك أسئلة هادئة لتقييم الحالة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المصاب واعٍ ويتحدث؟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يتنفس بشكل طبيعي؟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توجد إصابة واضحة؟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توجد علامات نزيف أو ألم؟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قادر على الحركة؟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توجد علامات خطر بالمكان؟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عند اشتباه إصابة الرأس أو الرقبة أو الظهر إلا عند خطر مباشر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نطلب المساعدة فورًا؟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تستوجب الاتصال الفوري بالطوارئ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أو ضعف الاستجابة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التنفس أو توقفه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شديد في الصدر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نزيف شديد أو إصابة كبيرة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خطيرة أو واسعة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اشتباه بكسر أو إصابة الرأس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جلطة أو تشنجات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تسمم أو ابتلاع مادة خطرة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 الطوارئ: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998 للإسعاف • 999 للشرطة والطوارئ العامة • 997 للدفاع المدني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تقول عند الاتصال بالطوارئ؟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المعلومات الواضحة تساعد المختصين على الاستجابة 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معلومات تقدمها للطوارئ: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"الموقع بدقة • نوع الحالة • عدد المصابين • هل واعٍ ويتنفس؟ • وجود نزيف أو حريق"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الحالة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نوع الإصابة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عدد المصابين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للتواصل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تحدث بهدوء، ولا تُنهِ المكالمة إلا بعد طلب الموظف المختص ذلك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طمأنة المصاب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جزء مهم من الإسعافات الأولية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تحدث بصوت هادئ وواضح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عرّف بنفسك واذكر طلب المساعدة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شجّعه على البقاء هادئًا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تعطِ وعودًا غير مؤكدة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 إن كان آمنًا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 ووفّر خصوصية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الخوف والارتباك قد يزيدان صعوبة الموقف — الهدوء يساعد المصاب ومن حوله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الجروح والنزيف البسيط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نظافة وتعقيم وتقليل المضاعفات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يديك أو استخدم قفازات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بضمادة نظيفة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غطِّ الجرح بضماد نظيف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الجرح دون وقاية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مواد غير مخصصة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نزيف شديد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النزيف الشديد أو الإصابة الكبيرة، لا تكتفِ بالإسعاف البسيط — اطلب المساعدة فورًا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الحروق البسيطة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هادئ وسريع لتقليل الألم وتفاقم الإصابة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المصاب عن مصدر الحرارة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برّد بماء جارٍ فاتر أو بارد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الثلج مباشرة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زيوتًا أو معجونًا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غطِّ بضماد نظيف غير لاصق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للحروق الكبيرة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الناتجة عن الكهرباء أو المواد الكيميائية أو الحريق الكبير تحتاج إلى مساعدة طبية فورًا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الإغماء والدوخة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تحدث بسبب التعب أو الحرارة أو الجفاف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 في مكان آمن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الزحام والحرارة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تهوية مناسبة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تطعمه إن كان غير واعٍ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تنفسه واستجابته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الإسعاف إن استمر الإغماء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تتعامل مع الإغماء المتكرر أو الطويل على أنه أمر بسيط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الاختناق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تحتاج إلى تصرف سريع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شديدة في التنفس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الكلام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لون الوجه أو الشفاه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اليدين على الرقبة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فورًا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شجّعه على السعال إن قدر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يدك في الفم عشوائيًا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التفصيلي مع الاختناق يحتاج تدريبًا، وسيتم تناوله في محور مستقل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الاشتباه بالتسمم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كيميائية أو أدوية أو أطعمة فاسدة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مصدر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التقيؤ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تطعمه دون توجيه مختص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بعبوة المادة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بالطوارئ فورًا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التهوية بأمان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حالات التسمم، المعلومة الصحيحة عن المادة قد تساعد المختصين في اتخاذ القرار المناسب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الاشتباه بإصابة في العظام أو السقوط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لتجنب تفاقم الإصابة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الجزء المصاب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البقاء ثابتًا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إعادة العظم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دعمًا بسيطًا إن كنت مدربًا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ألم شديد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إصابة الرأس أو الرقبة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الخاطئ مع إصابات السقوط قد يزيد الألم أو يفاقم الإصابة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شائعة في الإسعافات الأولية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تزيد الخطر بدلًا من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من مكان غير آمن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 المصاب دون ضرورة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إطعام شخص غير واعٍ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وصفات شعبية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حول المصاب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تصوير المصاب أو نشره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تأخير الاتصال بالطوارئ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المعرفة ليس عيبًا، لكن التصرف غير الآمن قد يكون خطرًا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الإسعافات الأولية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سلامة المكان أولًا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الحالات الخطيرة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هدوئك وطمئن المصاب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أو حاجزًا واقيًا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قدّم المساعدة ضمن حدود معرفتك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 ووفّر مساحة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المختصين واتبع تعليماتهم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دون ضرورة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تقدّم تدخلًا لا تعرفه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تعطِ دواءً دون توجيه طبي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مواد غير مخصصة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بالطوارئ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المصاب أو تنشر الحادث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سقط ويشتكي من ألم شديد في الظهر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تحركه، أمّن المكان، طمئنه، واتصل بالإسعاف فورًا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أصيب بجرح بسيط في اليد أثناء اللعب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يديك أو استخدم قفازات، اضغط بضمادة نظيفة، وغطِّ الجرح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شعر بدوخة في مكان حار ومزدحم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إلى مكان آمن ومهوّى، ساعده على الجلوس، وراقب حالته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حدث حريق بسيط وأصيب شخص بحرق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المصدر، برّد الحرق بالماء، ولا تضع مواد شعبية، واطلب المساعدة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خطوة قبل مساعدة أي مصاب؟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المكان وعدم تعريض نفسك أو الآخرين للخطر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بالإسعاف أو الطوارئ؟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إصابة خطيرة أو فقدان وعي أو نزيف شديد أو تسمم أو خطر مباشر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تحريك المصاب بعد السقوط مباشرة؟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إلا عند خطر مباشر يهدد حياته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تجنب التجمهر حول المصاب؟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يعيق التهوية ووصول المساعدة، ويزيد الارتباك، ويعرّض الجميع للخطر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الإسعافات الأولية تبدأ بالوعي والهدوء والتدريب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سلامتك أولًا • تحقق ثم اتصل ثم ساعد • لا تحرك المصاب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"تصرفك الواعي في الدقائق الأولى قد يصنع فرقًا كبيرًا"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Microsoft Office PowerPoint</Application>
  <PresentationFormat>شاشة عريضة</PresentationFormat>
  <Paragraphs>370</Paragraphs>
  <Slides>21</Slides>
  <Notes>21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5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أساسيات الإسعافات الأولية</dc:title>
  <dc:subject>PptxGenJS Presentation</dc:subject>
  <dc:creator>هيئة أبوظبي للدفاع المدني</dc:creator>
  <cp:lastModifiedBy>Lenovo</cp:lastModifiedBy>
  <cp:revision>1</cp:revision>
  <dcterms:created xsi:type="dcterms:W3CDTF">2026-05-07T14:24:34Z</dcterms:created>
  <dcterms:modified xsi:type="dcterms:W3CDTF">2026-05-07T14:31:29Z</dcterms:modified>
</cp:coreProperties>
</file>