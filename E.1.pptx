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9888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31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26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3.png"/><Relationship Id="rId5" Type="http://schemas.openxmlformats.org/officeDocument/2006/relationships/image" Target="../media/image41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أساسيات الإسعافات الأولية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تصرفك الواعي في الدقائق الأولى يصنع فرقًا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"الإسعافات الأولية خطوات بسيطة ومنظمة تُقدَّم في الدقائق الأولى لحماية الحياة وتقليل تفاقم الإصابة"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بالإسعافات الأولية؟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في الدقائق الأولى يحمي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الحياة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اللحظات الأولى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التفاقم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الإصابات والحالات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طمأنة المصاب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ومن حوله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المختصين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بمعلومات واضحة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الأخطاء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التي قد تزيد الخطر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مجتمعية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ووعي جماعي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لا تستبدل المختصين، بل تعني التصرف الصحيح حتى وصولهم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بالإسعافات الأولية؟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رعاية أولية مؤقتة قبل وصول المختصين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الاقتراب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حالة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من المختصين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تقديم رعاية بسيطة وآمنة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المصاب وطمأنته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أي تدخل غير مدرّب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 للسلامة الشخصية وسلامة المصاب والموجودين في المكان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الأساسية: تحقق، اتصل، ساعد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تسلسل بسيط ومنظم وقت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002536" y="27889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200253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170535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6816" y="372618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6235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65379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سلامة المكان وحالة المصاب دون تعريض نفسك للخطر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21995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843016" y="27889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9" name="Text 14"/>
          <p:cNvSpPr/>
          <p:nvPr/>
        </p:nvSpPr>
        <p:spPr>
          <a:xfrm>
            <a:off x="584301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Shape 15"/>
          <p:cNvSpPr/>
          <p:nvPr/>
        </p:nvSpPr>
        <p:spPr>
          <a:xfrm>
            <a:off x="554583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3726180"/>
            <a:ext cx="594360" cy="5943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40283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</a:t>
            </a:r>
            <a:endParaRPr lang="en-US" sz="2200" dirty="0"/>
          </a:p>
        </p:txBody>
      </p:sp>
      <p:sp>
        <p:nvSpPr>
          <p:cNvPr id="23" name="Text 17"/>
          <p:cNvSpPr/>
          <p:nvPr/>
        </p:nvSpPr>
        <p:spPr>
          <a:xfrm>
            <a:off x="449427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بالجهات المختصة عند وجود حالة طارئة أو إصابة خطيرة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06043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683496" y="27889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0"/>
          <p:cNvSpPr/>
          <p:nvPr/>
        </p:nvSpPr>
        <p:spPr>
          <a:xfrm>
            <a:off x="968349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938631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3726180"/>
            <a:ext cx="594360" cy="5943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24331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</a:t>
            </a:r>
            <a:endParaRPr lang="en-US" sz="2200" dirty="0"/>
          </a:p>
        </p:txBody>
      </p:sp>
      <p:sp>
        <p:nvSpPr>
          <p:cNvPr id="30" name="Text 23"/>
          <p:cNvSpPr/>
          <p:nvPr/>
        </p:nvSpPr>
        <p:spPr>
          <a:xfrm>
            <a:off x="833475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ضمن حدود معرفتك وتدريبك حتى وصول المختصين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المنظم يقلل الارتباك ويساعدك على اتخاذ القرار الصحيح</a:t>
            </a:r>
            <a:endParaRPr lang="ar-AE" sz="1200" dirty="0"/>
          </a:p>
        </p:txBody>
      </p:sp>
      <p:sp>
        <p:nvSpPr>
          <p:cNvPr id="33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4" name="Image 5" descr="/home/claude/assets/social_ico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1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الاقتراب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تقديم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المركبات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 أو وقود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أجسام أو زجاج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تدافع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كيميائية ضارة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المكان غير آمن، لا تقترب، وابتعد إلى مكان آمن، واطلب المساعدة فورًا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نفسك أولًا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يمكن مساعدة الآخرين إذا أصبح المسعف نفسه في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موقعًا خطِرًا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ملامسة الدم مباشرة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يديك بعد المساعدة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تتدخل بما يتجاوز معرفتك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دعم شخص آخر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جزء من عملية الإسعاف، وليست أمرًا ثانويًا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حالة المصاب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 نفسك أسئلة هادئة لتقييم الحالة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المصاب واعٍ ويتحدث؟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يتنفس بشكل طبيعي؟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إصابة واضحة؟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علامات نزيف أو ألم؟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قادر على الحركة؟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علامات خطر بالمكان؟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عند اشتباه إصابة الرأس أو الرقبة أو الظهر إلا عند خطر مباشر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نطلب المساعدة فورًا؟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تستوجب الاتصال الفوري بالطوارئ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 أو توقفه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في الصدر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شديد أو إصابة كبيرة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خطيرة أو واسعة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اشتباه بكسر أو إصابة الرأس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جلطة أو تشنجات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تسمم أو ابتلاع مادة خطرة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الطوارئ: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998 للإسعاف • 999 للشرطة والطوارئ العامة • 997 للدفاع المدني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تقول عند الاتصال بالطوارئ؟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المعلومات الواضحة تساعد المختصين على الاستجابة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تقدمها للطوارئ: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"الموقع بدقة • نوع الحالة • عدد المصابين • هل واعٍ ويتنفس؟ • وجود نزيف أو حريق"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الحالة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نوع الإصابة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عدد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للتواصل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بهدوء، ولا تُنهِ المكالمة إلا بعد طلب الموظف المختص ذلك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طمأنة المصاب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جزء مهم من الإسعافات الأولية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بصوت هادئ وواضح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عرّف بنفسك واذكر طلب المساعدة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البقاء هادئًا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وعودًا غير مؤكدة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 إن كان آمنًا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 ووفّر خصوصية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الخوف والارتباك قد يزيدان صعوبة الموقف — الهدوء يساعد المصاب ومن حوله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الجروح والنزيف البسيط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وتعقيم وتقليل المضاعفات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يديك أو استخدم قفازات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بضمادة نظيفة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الجرح بضماد نظيف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الجرح دون وقاية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مخصصة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نزيف 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النزيف الشديد أو الإصابة الكبيرة، لا تكتفِ بالإسعاف البسيط — اطلب المساعدة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الحروق البسيطة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هادئ وسريع لتقليل الألم وتفاقم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مصدر الحرارة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برّد بماء جارٍ فاتر أو بارد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الثلج مباشرة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زيوتًا أو معجونًا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بضماد نظيف غير لاصق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للحروق الكبيرة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الناتجة عن الكهرباء أو المواد الكيميائية أو الحريق الكبير تحتاج إلى مساعدة طبية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الإغماء والدوخة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تحدث بسبب التعب أو الحرارة أو الجفاف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في مكان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الزحام والحرارة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تهوية 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تطعمه إن كان غير واعٍ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تنفسه واستجابته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الإسعاف إن استمر الإغماء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تتعامل مع الإغماء المتكرر أو الطويل على أنه أمر بسيط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الاختناق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إلى تصرف سريع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شديدة في التنفس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الكلام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الوجه أو الشفاه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اليدين على الرقبة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السعال إن قدر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يدك في الفم عشوائيًا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التفصيلي مع الاختناق يحتاج تدريبًا، وسيتم تناوله في محور مستقل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الاشتباه بالتسمم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كيميائية أو أدوية أو أطعمة فاسدة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تطعمه دون توجيه مختص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بعبوة المادة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فورًا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التهوية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حالات التسمم، المعلومة الصحيحة عن المادة قد تساعد المختصين في اتخاذ القرار المناسب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الاشتباه بإصابة في العظام أو 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لتجنب تفاقم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الجزء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البقاء ثابتًا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إعادة العظم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دعمًا بسيطًا إن كنت مدربًا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ألم شديد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إصابة الرأس أو الرقبة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الخاطئ مع إصابات السقوط قد يزيد الألم أو يفاقم الإصابة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في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 بدلًا من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مكان غير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المصاب دون ضرورة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إطعام شخص غير واعٍ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وصفات شعبية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المصاب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المصاب أو نشره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الاتصال بالطوارئ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المعرفة ليس عيبًا، لكن التصرف غير الآمن قد يكون خطرًا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سلامة المكان أولًا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الحالات الخطيرة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 وطمئن المصاب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 واقيًا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المساعدة ضمن حدود معرفتك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 ووفّر مساحة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المختصين واتبع تعليماتهم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دون ضرورة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تقدّم تدخلًا لا تعرفه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دواءً دون توجيه طبي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مخصصة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بالطوارئ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 أو تنشر الحادث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سقط ويشتكي من ألم شديد في الظهر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أمّن المكان، طمئنه، واتصل بالإسعاف فورًا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أصيب بجرح بسيط في اليد أثناء اللعب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يديك أو استخدم قفازات، اضغط بضمادة نظيفة، وغطِّ الجرح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شعر بدوخة في مكان حار ومزدحم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إلى مكان آمن ومهوّى، ساعده على الجلوس، وراقب حالته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حدث حريق بسيط وأصيب شخص بحرق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المصدر، برّد الحرق بالماء، ولا تضع مواد شعبية، واطلب المساعدة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قبل مساعدة أي مصاب؟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المكان وعدم تعريض نفسك أو الآخرين للخطر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بالإسعاف أو الطوارئ؟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إصابة خطيرة أو فقدان وعي أو نزيف شديد أو تسمم أو خطر مباشر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تحريك المصاب بعد السقوط مباشرة؟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إلا عند خطر مباشر يهدد حياته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تجنب التجمهر حول المصاب؟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يعيق التهوية ووصول المساعدة، ويزيد الارتباك، ويعرّض الجميع للخطر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تبدأ بالوعي والهدوء والتدريب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أولًا • تحقق ثم اتصل ثم ساعد • لا تحرك المصاب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"تصرفك الواعي في الدقائق الأولى قد يصنع فرقًا كبيرًا"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1682</Words>
  <Application>Microsoft Office PowerPoint</Application>
  <PresentationFormat>شاشة عريضة</PresentationFormat>
  <Paragraphs>370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أساسيات الإسعافات الأولية</dc:title>
  <dc:subject>PptxGenJS Presentation</dc:subject>
  <dc:creator>هيئة أبوظبي للدفاع المدني</dc:creator>
  <cp:lastModifiedBy>Lenovo</cp:lastModifiedBy>
  <cp:revision>1</cp:revision>
  <dcterms:created xsi:type="dcterms:W3CDTF">2026-05-07T14:24:34Z</dcterms:created>
  <dcterms:modified xsi:type="dcterms:W3CDTF">2026-05-07T14:31:29Z</dcterms:modified>
</cp:coreProperties>
</file>