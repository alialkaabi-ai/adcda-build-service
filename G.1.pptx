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7" d="100"/>
          <a:sy n="97" d="100"/>
        </p:scale>
        <p:origin x="115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383670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11" Type="http://schemas.openxmlformats.org/officeDocument/2006/relationships/image" Target="../media/image4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image" Target="../media/image2.png"/><Relationship Id="rId9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1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11" Type="http://schemas.openxmlformats.org/officeDocument/2006/relationships/image" Target="../media/image4.png"/><Relationship Id="rId5" Type="http://schemas.openxmlformats.org/officeDocument/2006/relationships/image" Target="../media/image11.png"/><Relationship Id="rId10" Type="http://schemas.openxmlformats.org/officeDocument/2006/relationships/image" Target="../media/image16.png"/><Relationship Id="rId4" Type="http://schemas.openxmlformats.org/officeDocument/2006/relationships/image" Target="../media/image2.png"/><Relationship Id="rId9" Type="http://schemas.openxmlformats.org/officeDocument/2006/relationships/image" Target="../media/image15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.png"/><Relationship Id="rId7" Type="http://schemas.openxmlformats.org/officeDocument/2006/relationships/image" Target="../media/image19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11" Type="http://schemas.openxmlformats.org/officeDocument/2006/relationships/image" Target="../media/image23.png"/><Relationship Id="rId5" Type="http://schemas.openxmlformats.org/officeDocument/2006/relationships/image" Target="../media/image17.png"/><Relationship Id="rId10" Type="http://schemas.openxmlformats.org/officeDocument/2006/relationships/image" Target="../media/image22.png"/><Relationship Id="rId4" Type="http://schemas.openxmlformats.org/officeDocument/2006/relationships/image" Target="../media/image2.png"/><Relationship Id="rId9" Type="http://schemas.openxmlformats.org/officeDocument/2006/relationships/image" Target="../media/image2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1.png"/><Relationship Id="rId7" Type="http://schemas.openxmlformats.org/officeDocument/2006/relationships/image" Target="../media/image11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7.png"/><Relationship Id="rId11" Type="http://schemas.openxmlformats.org/officeDocument/2006/relationships/image" Target="../media/image23.png"/><Relationship Id="rId5" Type="http://schemas.openxmlformats.org/officeDocument/2006/relationships/image" Target="../media/image26.png"/><Relationship Id="rId10" Type="http://schemas.openxmlformats.org/officeDocument/2006/relationships/image" Target="../media/image13.png"/><Relationship Id="rId4" Type="http://schemas.openxmlformats.org/officeDocument/2006/relationships/image" Target="../media/image2.png"/><Relationship Id="rId9" Type="http://schemas.openxmlformats.org/officeDocument/2006/relationships/image" Target="../media/image29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1.png"/><Relationship Id="rId7" Type="http://schemas.openxmlformats.org/officeDocument/2006/relationships/image" Target="../media/image30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11" Type="http://schemas.openxmlformats.org/officeDocument/2006/relationships/image" Target="../media/image13.png"/><Relationship Id="rId5" Type="http://schemas.openxmlformats.org/officeDocument/2006/relationships/image" Target="../media/image21.png"/><Relationship Id="rId10" Type="http://schemas.openxmlformats.org/officeDocument/2006/relationships/image" Target="../media/image32.png"/><Relationship Id="rId4" Type="http://schemas.openxmlformats.org/officeDocument/2006/relationships/image" Target="../media/image2.png"/><Relationship Id="rId9" Type="http://schemas.openxmlformats.org/officeDocument/2006/relationships/image" Target="../media/image31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image" Target="../media/image1.png"/><Relationship Id="rId7" Type="http://schemas.openxmlformats.org/officeDocument/2006/relationships/image" Target="../media/image29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.png"/><Relationship Id="rId11" Type="http://schemas.openxmlformats.org/officeDocument/2006/relationships/image" Target="../media/image35.png"/><Relationship Id="rId5" Type="http://schemas.openxmlformats.org/officeDocument/2006/relationships/image" Target="../media/image17.png"/><Relationship Id="rId10" Type="http://schemas.openxmlformats.org/officeDocument/2006/relationships/image" Target="../media/image30.png"/><Relationship Id="rId4" Type="http://schemas.openxmlformats.org/officeDocument/2006/relationships/image" Target="../media/image2.png"/><Relationship Id="rId9" Type="http://schemas.openxmlformats.org/officeDocument/2006/relationships/image" Target="../media/image20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1.png"/><Relationship Id="rId7" Type="http://schemas.openxmlformats.org/officeDocument/2006/relationships/image" Target="../media/image3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7.png"/><Relationship Id="rId11" Type="http://schemas.openxmlformats.org/officeDocument/2006/relationships/image" Target="../media/image4.png"/><Relationship Id="rId5" Type="http://schemas.openxmlformats.org/officeDocument/2006/relationships/image" Target="../media/image36.png"/><Relationship Id="rId10" Type="http://schemas.openxmlformats.org/officeDocument/2006/relationships/image" Target="../media/image25.png"/><Relationship Id="rId4" Type="http://schemas.openxmlformats.org/officeDocument/2006/relationships/image" Target="../media/image2.png"/><Relationship Id="rId9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1.png"/><Relationship Id="rId7" Type="http://schemas.openxmlformats.org/officeDocument/2006/relationships/image" Target="../media/image3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7.png"/><Relationship Id="rId11" Type="http://schemas.openxmlformats.org/officeDocument/2006/relationships/image" Target="../media/image4.png"/><Relationship Id="rId5" Type="http://schemas.openxmlformats.org/officeDocument/2006/relationships/image" Target="../media/image38.png"/><Relationship Id="rId10" Type="http://schemas.openxmlformats.org/officeDocument/2006/relationships/image" Target="../media/image15.png"/><Relationship Id="rId4" Type="http://schemas.openxmlformats.org/officeDocument/2006/relationships/image" Target="../media/image2.png"/><Relationship Id="rId9" Type="http://schemas.openxmlformats.org/officeDocument/2006/relationships/image" Target="../media/image4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1.png"/><Relationship Id="rId7" Type="http://schemas.openxmlformats.org/officeDocument/2006/relationships/image" Target="../media/image42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1.png"/><Relationship Id="rId11" Type="http://schemas.openxmlformats.org/officeDocument/2006/relationships/image" Target="../media/image45.png"/><Relationship Id="rId5" Type="http://schemas.openxmlformats.org/officeDocument/2006/relationships/image" Target="../media/image23.png"/><Relationship Id="rId10" Type="http://schemas.openxmlformats.org/officeDocument/2006/relationships/image" Target="../media/image44.png"/><Relationship Id="rId4" Type="http://schemas.openxmlformats.org/officeDocument/2006/relationships/image" Target="../media/image2.png"/><Relationship Id="rId9" Type="http://schemas.openxmlformats.org/officeDocument/2006/relationships/image" Target="../media/image43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png"/><Relationship Id="rId13" Type="http://schemas.openxmlformats.org/officeDocument/2006/relationships/image" Target="../media/image4.png"/><Relationship Id="rId3" Type="http://schemas.openxmlformats.org/officeDocument/2006/relationships/image" Target="../media/image1.png"/><Relationship Id="rId7" Type="http://schemas.openxmlformats.org/officeDocument/2006/relationships/image" Target="../media/image21.png"/><Relationship Id="rId12" Type="http://schemas.openxmlformats.org/officeDocument/2006/relationships/image" Target="../media/image4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0.png"/><Relationship Id="rId11" Type="http://schemas.openxmlformats.org/officeDocument/2006/relationships/image" Target="../media/image23.png"/><Relationship Id="rId5" Type="http://schemas.openxmlformats.org/officeDocument/2006/relationships/image" Target="../media/image17.png"/><Relationship Id="rId10" Type="http://schemas.openxmlformats.org/officeDocument/2006/relationships/image" Target="../media/image11.png"/><Relationship Id="rId4" Type="http://schemas.openxmlformats.org/officeDocument/2006/relationships/image" Target="../media/image2.png"/><Relationship Id="rId9" Type="http://schemas.openxmlformats.org/officeDocument/2006/relationships/image" Target="../media/image2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13" Type="http://schemas.openxmlformats.org/officeDocument/2006/relationships/image" Target="../media/image4.png"/><Relationship Id="rId3" Type="http://schemas.openxmlformats.org/officeDocument/2006/relationships/image" Target="../media/image1.png"/><Relationship Id="rId7" Type="http://schemas.openxmlformats.org/officeDocument/2006/relationships/image" Target="../media/image41.png"/><Relationship Id="rId12" Type="http://schemas.openxmlformats.org/officeDocument/2006/relationships/image" Target="../media/image2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4.png"/><Relationship Id="rId11" Type="http://schemas.openxmlformats.org/officeDocument/2006/relationships/image" Target="../media/image15.png"/><Relationship Id="rId5" Type="http://schemas.openxmlformats.org/officeDocument/2006/relationships/image" Target="../media/image13.png"/><Relationship Id="rId10" Type="http://schemas.openxmlformats.org/officeDocument/2006/relationships/image" Target="../media/image38.png"/><Relationship Id="rId4" Type="http://schemas.openxmlformats.org/officeDocument/2006/relationships/image" Target="../media/image2.png"/><Relationship Id="rId9" Type="http://schemas.openxmlformats.org/officeDocument/2006/relationships/image" Target="../media/image36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png"/><Relationship Id="rId3" Type="http://schemas.openxmlformats.org/officeDocument/2006/relationships/image" Target="../media/image1.png"/><Relationship Id="rId7" Type="http://schemas.openxmlformats.org/officeDocument/2006/relationships/image" Target="../media/image23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7.png"/><Relationship Id="rId11" Type="http://schemas.openxmlformats.org/officeDocument/2006/relationships/image" Target="../media/image16.png"/><Relationship Id="rId5" Type="http://schemas.openxmlformats.org/officeDocument/2006/relationships/image" Target="../media/image14.png"/><Relationship Id="rId10" Type="http://schemas.openxmlformats.org/officeDocument/2006/relationships/image" Target="../media/image48.png"/><Relationship Id="rId4" Type="http://schemas.openxmlformats.org/officeDocument/2006/relationships/image" Target="../media/image2.png"/><Relationship Id="rId9" Type="http://schemas.openxmlformats.org/officeDocument/2006/relationships/image" Target="../media/image3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7.png"/><Relationship Id="rId4" Type="http://schemas.openxmlformats.org/officeDocument/2006/relationships/image" Target="../media/image2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Shape 3"/>
          <p:cNvSpPr/>
          <p:nvPr/>
        </p:nvSpPr>
        <p:spPr>
          <a:xfrm>
            <a:off x="5088636" y="1097280"/>
            <a:ext cx="2011680" cy="2011680"/>
          </a:xfrm>
          <a:prstGeom prst="ellipse">
            <a:avLst/>
          </a:prstGeom>
          <a:solidFill>
            <a:srgbClr val="DCE7F5">
              <a:alpha val="50000"/>
            </a:srgbClr>
          </a:solidFill>
          <a:ln/>
        </p:spPr>
      </p:sp>
      <p:sp>
        <p:nvSpPr>
          <p:cNvPr id="8" name="Shape 4"/>
          <p:cNvSpPr/>
          <p:nvPr/>
        </p:nvSpPr>
        <p:spPr>
          <a:xfrm>
            <a:off x="5317236" y="1325880"/>
            <a:ext cx="1554480" cy="155448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91556" y="1600200"/>
            <a:ext cx="1005840" cy="100584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457200" y="365760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3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إدارة مخاطر حرائق المنازل والمطابخ</a:t>
            </a:r>
            <a:endParaRPr lang="en-US" sz="3200" dirty="0"/>
          </a:p>
        </p:txBody>
      </p:sp>
      <p:sp>
        <p:nvSpPr>
          <p:cNvPr id="11" name="Text 6"/>
          <p:cNvSpPr/>
          <p:nvPr/>
        </p:nvSpPr>
        <p:spPr>
          <a:xfrm>
            <a:off x="457200" y="45262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8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وقاية يومية، تجهيز للمنزل، وتصرف صحيح</a:t>
            </a:r>
            <a:endParaRPr lang="en-US" sz="1800" dirty="0"/>
          </a:p>
        </p:txBody>
      </p:sp>
      <p:sp>
        <p:nvSpPr>
          <p:cNvPr id="12" name="Shape 7"/>
          <p:cNvSpPr/>
          <p:nvPr/>
        </p:nvSpPr>
        <p:spPr>
          <a:xfrm>
            <a:off x="5637276" y="4983480"/>
            <a:ext cx="914400" cy="0"/>
          </a:xfrm>
          <a:prstGeom prst="line">
            <a:avLst/>
          </a:prstGeom>
          <a:noFill/>
          <a:ln w="25400">
            <a:solidFill>
              <a:srgbClr val="0B4EA2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731520" y="5257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300" i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"الوقاية اليومية أبسط وأقل تكلفة من التعامل مع نتائج الحريق"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15" name="Image 3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17" name="Text 1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18" name="Shape 1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G.1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لماذا نهتم بإدارة مخاطر حرائق المنازل؟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السلامة المنزلية مسؤولية يومية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49377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509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79576" y="3200400"/>
            <a:ext cx="457200" cy="45720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7452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58521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حماية الأرواح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58521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داخل المنزل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236829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282549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54096" y="3200400"/>
            <a:ext cx="457200" cy="45720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261975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20" name="Text 14"/>
          <p:cNvSpPr/>
          <p:nvPr/>
        </p:nvSpPr>
        <p:spPr>
          <a:xfrm>
            <a:off x="245973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تقليل الاحتمال</a:t>
            </a:r>
            <a:endParaRPr lang="en-US" sz="1400" dirty="0"/>
          </a:p>
        </p:txBody>
      </p:sp>
      <p:sp>
        <p:nvSpPr>
          <p:cNvPr id="21" name="Text 15"/>
          <p:cNvSpPr/>
          <p:nvPr/>
        </p:nvSpPr>
        <p:spPr>
          <a:xfrm>
            <a:off x="245973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بنشوب الحريق</a:t>
            </a:r>
            <a:endParaRPr lang="en-US" sz="1100" dirty="0"/>
          </a:p>
        </p:txBody>
      </p:sp>
      <p:sp>
        <p:nvSpPr>
          <p:cNvPr id="22" name="Shape 16"/>
          <p:cNvSpPr/>
          <p:nvPr/>
        </p:nvSpPr>
        <p:spPr>
          <a:xfrm>
            <a:off x="424281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7"/>
          <p:cNvSpPr/>
          <p:nvPr/>
        </p:nvSpPr>
        <p:spPr>
          <a:xfrm>
            <a:off x="470001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2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28616" y="3200400"/>
            <a:ext cx="457200" cy="457200"/>
          </a:xfrm>
          <a:prstGeom prst="rect">
            <a:avLst/>
          </a:prstGeom>
        </p:spPr>
      </p:pic>
      <p:sp>
        <p:nvSpPr>
          <p:cNvPr id="25" name="Shape 18"/>
          <p:cNvSpPr/>
          <p:nvPr/>
        </p:nvSpPr>
        <p:spPr>
          <a:xfrm>
            <a:off x="449427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26" name="Text 19"/>
          <p:cNvSpPr/>
          <p:nvPr/>
        </p:nvSpPr>
        <p:spPr>
          <a:xfrm>
            <a:off x="433425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منع الانتشار</a:t>
            </a:r>
            <a:endParaRPr lang="en-US" sz="1400" dirty="0"/>
          </a:p>
        </p:txBody>
      </p:sp>
      <p:sp>
        <p:nvSpPr>
          <p:cNvPr id="27" name="Text 20"/>
          <p:cNvSpPr/>
          <p:nvPr/>
        </p:nvSpPr>
        <p:spPr>
          <a:xfrm>
            <a:off x="433425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عند البداية</a:t>
            </a:r>
            <a:endParaRPr lang="en-US" sz="1100" dirty="0"/>
          </a:p>
        </p:txBody>
      </p:sp>
      <p:sp>
        <p:nvSpPr>
          <p:cNvPr id="28" name="Shape 21"/>
          <p:cNvSpPr/>
          <p:nvPr/>
        </p:nvSpPr>
        <p:spPr>
          <a:xfrm>
            <a:off x="611733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9" name="Shape 22"/>
          <p:cNvSpPr/>
          <p:nvPr/>
        </p:nvSpPr>
        <p:spPr>
          <a:xfrm>
            <a:off x="657453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30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03136" y="3200400"/>
            <a:ext cx="457200" cy="457200"/>
          </a:xfrm>
          <a:prstGeom prst="rect">
            <a:avLst/>
          </a:prstGeom>
        </p:spPr>
      </p:pic>
      <p:sp>
        <p:nvSpPr>
          <p:cNvPr id="31" name="Shape 23"/>
          <p:cNvSpPr/>
          <p:nvPr/>
        </p:nvSpPr>
        <p:spPr>
          <a:xfrm>
            <a:off x="636879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32" name="Text 24"/>
          <p:cNvSpPr/>
          <p:nvPr/>
        </p:nvSpPr>
        <p:spPr>
          <a:xfrm>
            <a:off x="620877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حماية الأطفال</a:t>
            </a:r>
            <a:endParaRPr lang="en-US" sz="1400" dirty="0"/>
          </a:p>
        </p:txBody>
      </p:sp>
      <p:sp>
        <p:nvSpPr>
          <p:cNvPr id="33" name="Text 25"/>
          <p:cNvSpPr/>
          <p:nvPr/>
        </p:nvSpPr>
        <p:spPr>
          <a:xfrm>
            <a:off x="620877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وكبار السن</a:t>
            </a:r>
            <a:endParaRPr lang="en-US" sz="1100" dirty="0"/>
          </a:p>
        </p:txBody>
      </p:sp>
      <p:sp>
        <p:nvSpPr>
          <p:cNvPr id="34" name="Shape 26"/>
          <p:cNvSpPr/>
          <p:nvPr/>
        </p:nvSpPr>
        <p:spPr>
          <a:xfrm>
            <a:off x="799185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7"/>
          <p:cNvSpPr/>
          <p:nvPr/>
        </p:nvSpPr>
        <p:spPr>
          <a:xfrm>
            <a:off x="844905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36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677656" y="3200400"/>
            <a:ext cx="457200" cy="457200"/>
          </a:xfrm>
          <a:prstGeom prst="rect">
            <a:avLst/>
          </a:prstGeom>
        </p:spPr>
      </p:pic>
      <p:sp>
        <p:nvSpPr>
          <p:cNvPr id="37" name="Shape 28"/>
          <p:cNvSpPr/>
          <p:nvPr/>
        </p:nvSpPr>
        <p:spPr>
          <a:xfrm>
            <a:off x="824331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38" name="Text 29"/>
          <p:cNvSpPr/>
          <p:nvPr/>
        </p:nvSpPr>
        <p:spPr>
          <a:xfrm>
            <a:off x="808329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جاهزية الأسرة</a:t>
            </a:r>
            <a:endParaRPr lang="en-US" sz="1400" dirty="0"/>
          </a:p>
        </p:txBody>
      </p:sp>
      <p:sp>
        <p:nvSpPr>
          <p:cNvPr id="39" name="Text 30"/>
          <p:cNvSpPr/>
          <p:nvPr/>
        </p:nvSpPr>
        <p:spPr>
          <a:xfrm>
            <a:off x="808329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للطوارئ</a:t>
            </a:r>
            <a:endParaRPr lang="en-US" sz="1100" dirty="0"/>
          </a:p>
        </p:txBody>
      </p:sp>
      <p:sp>
        <p:nvSpPr>
          <p:cNvPr id="40" name="Shape 31"/>
          <p:cNvSpPr/>
          <p:nvPr/>
        </p:nvSpPr>
        <p:spPr>
          <a:xfrm>
            <a:off x="986637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41" name="Shape 32"/>
          <p:cNvSpPr/>
          <p:nvPr/>
        </p:nvSpPr>
        <p:spPr>
          <a:xfrm>
            <a:off x="103235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4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552176" y="3200400"/>
            <a:ext cx="457200" cy="457200"/>
          </a:xfrm>
          <a:prstGeom prst="rect">
            <a:avLst/>
          </a:prstGeom>
        </p:spPr>
      </p:pic>
      <p:sp>
        <p:nvSpPr>
          <p:cNvPr id="43" name="Shape 33"/>
          <p:cNvSpPr/>
          <p:nvPr/>
        </p:nvSpPr>
        <p:spPr>
          <a:xfrm>
            <a:off x="101178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44" name="Text 34"/>
          <p:cNvSpPr/>
          <p:nvPr/>
        </p:nvSpPr>
        <p:spPr>
          <a:xfrm>
            <a:off x="995781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تقليل الخسائر</a:t>
            </a:r>
            <a:endParaRPr lang="en-US" sz="1400" dirty="0"/>
          </a:p>
        </p:txBody>
      </p:sp>
      <p:sp>
        <p:nvSpPr>
          <p:cNvPr id="45" name="Text 35"/>
          <p:cNvSpPr/>
          <p:nvPr/>
        </p:nvSpPr>
        <p:spPr>
          <a:xfrm>
            <a:off x="995781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في الممتلكات</a:t>
            </a:r>
            <a:endParaRPr lang="en-US" sz="1100" dirty="0"/>
          </a:p>
        </p:txBody>
      </p:sp>
      <p:sp>
        <p:nvSpPr>
          <p:cNvPr id="46" name="Shape 36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7" name="Text 37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إدارة الخطر تعني منع أسبابه قبل حدوثه، لا انتظار وقوع الحريق</a:t>
            </a:r>
            <a:endParaRPr lang="ar-AE" sz="1200" dirty="0"/>
          </a:p>
        </p:txBody>
      </p:sp>
      <p:sp>
        <p:nvSpPr>
          <p:cNvPr id="48" name="Shape 38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9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50" name="Shape 39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0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52" name="Shape 41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2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4" name="Shape 43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5" name="Text 44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6" name="Shape 45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7" name="Text 46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G.1</a:t>
            </a:r>
            <a:endParaRPr lang="en-US" sz="1000" dirty="0"/>
          </a:p>
        </p:txBody>
      </p:sp>
      <p:sp>
        <p:nvSpPr>
          <p:cNvPr id="58" name="Shape 47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9" name="Text 48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 المقصود بإدارة مخاطر الحرائق المنزلية؟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عملية مستمرة لمعرفة الخطر وتقليله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تحديد مصادر الاشتعال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إبعاد المواد القابلة للاشتعال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متابعة سلامة الأجهزة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تجهيز وسائل الإنذار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344271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3625596" y="45720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08476" y="475488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444855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تدريب الأسرة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614019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6323076" y="45720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05956" y="475488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714603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اتصال بـ 999 عند الخطر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الوقاية اليومية أبسط وأقل تكلفة من التعامل مع نتائج الحريق</a:t>
            </a:r>
            <a:endParaRPr lang="ar-AE" sz="1200" dirty="0"/>
          </a:p>
        </p:txBody>
      </p:sp>
      <p:sp>
        <p:nvSpPr>
          <p:cNvPr id="36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7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G.1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أبرز مصادر الخطر في المطبخ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أكثر الأماكن تجمعًا لمصادر الحرارة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ترك الطبخ دون مراقبة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ارتفاع حرارة الزيوت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مناشف وأوراق قرب الموقد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أجهزة طبخ تالفة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5720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75488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تحميل المقابس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5720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75488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الانشغال بالأجهزة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5720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75488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عبث الأطفال بالمفاتيح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توعوية: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المراقبة أثناء الطبخ هي خط الدفاع الأول ضد حرائق المطابخ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G.1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مخاطر الزيوت أثناء الطبخ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حرائق الزيوت من أخطر حرائق المطبخ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1371600" y="2926080"/>
            <a:ext cx="2286000" cy="2286000"/>
          </a:xfrm>
          <a:prstGeom prst="ellipse">
            <a:avLst/>
          </a:prstGeom>
          <a:solidFill>
            <a:srgbClr val="FEF2F2"/>
          </a:solidFill>
          <a:ln/>
        </p:spPr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0" y="3383280"/>
            <a:ext cx="1371600" cy="137160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3154680" y="4617720"/>
            <a:ext cx="594360" cy="594360"/>
          </a:xfrm>
          <a:prstGeom prst="ellipse">
            <a:avLst/>
          </a:prstGeom>
          <a:solidFill>
            <a:srgbClr val="DC2626"/>
          </a:solidFill>
          <a:ln w="38100">
            <a:solidFill>
              <a:srgbClr val="FFFFFF"/>
            </a:solidFill>
            <a:prstDash val="solid"/>
          </a:ln>
        </p:spPr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91840" y="4754880"/>
            <a:ext cx="320040" cy="32004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4846320" y="2788920"/>
            <a:ext cx="68580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11320272" y="2834640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6" name="Text 10"/>
          <p:cNvSpPr/>
          <p:nvPr/>
        </p:nvSpPr>
        <p:spPr>
          <a:xfrm>
            <a:off x="11320272" y="28346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17" name="Text 11"/>
          <p:cNvSpPr/>
          <p:nvPr/>
        </p:nvSpPr>
        <p:spPr>
          <a:xfrm>
            <a:off x="4983480" y="2788920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تترك الزيت دون مراقبة</a:t>
            </a:r>
            <a:endParaRPr lang="en-US" sz="1200" dirty="0"/>
          </a:p>
        </p:txBody>
      </p:sp>
      <p:sp>
        <p:nvSpPr>
          <p:cNvPr id="18" name="Shape 12"/>
          <p:cNvSpPr/>
          <p:nvPr/>
        </p:nvSpPr>
        <p:spPr>
          <a:xfrm>
            <a:off x="4846320" y="3236976"/>
            <a:ext cx="68580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11320272" y="3282696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0" name="Text 14"/>
          <p:cNvSpPr/>
          <p:nvPr/>
        </p:nvSpPr>
        <p:spPr>
          <a:xfrm>
            <a:off x="11320272" y="32826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4983480" y="3236976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ترفع الحرارة فوق اللازم</a:t>
            </a:r>
            <a:endParaRPr lang="en-US" sz="1200" dirty="0"/>
          </a:p>
        </p:txBody>
      </p:sp>
      <p:sp>
        <p:nvSpPr>
          <p:cNvPr id="22" name="Shape 16"/>
          <p:cNvSpPr/>
          <p:nvPr/>
        </p:nvSpPr>
        <p:spPr>
          <a:xfrm>
            <a:off x="4846320" y="3685032"/>
            <a:ext cx="68580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11320272" y="3730752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4" name="Text 18"/>
          <p:cNvSpPr/>
          <p:nvPr/>
        </p:nvSpPr>
        <p:spPr>
          <a:xfrm>
            <a:off x="11320272" y="37307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25" name="Text 19"/>
          <p:cNvSpPr/>
          <p:nvPr/>
        </p:nvSpPr>
        <p:spPr>
          <a:xfrm>
            <a:off x="4983480" y="3685032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استخدم أواني مستقرة</a:t>
            </a:r>
            <a:endParaRPr lang="en-US" sz="1200" dirty="0"/>
          </a:p>
        </p:txBody>
      </p:sp>
      <p:sp>
        <p:nvSpPr>
          <p:cNvPr id="26" name="Shape 20"/>
          <p:cNvSpPr/>
          <p:nvPr/>
        </p:nvSpPr>
        <p:spPr>
          <a:xfrm>
            <a:off x="4846320" y="4133088"/>
            <a:ext cx="68580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11320272" y="4178808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8" name="Text 22"/>
          <p:cNvSpPr/>
          <p:nvPr/>
        </p:nvSpPr>
        <p:spPr>
          <a:xfrm>
            <a:off x="11320272" y="41788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29" name="Text 23"/>
          <p:cNvSpPr/>
          <p:nvPr/>
        </p:nvSpPr>
        <p:spPr>
          <a:xfrm>
            <a:off x="4983480" y="4133088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 الأطفال عن الموقد</a:t>
            </a:r>
            <a:endParaRPr lang="en-US" sz="1200" dirty="0"/>
          </a:p>
        </p:txBody>
      </p:sp>
      <p:sp>
        <p:nvSpPr>
          <p:cNvPr id="30" name="Shape 24"/>
          <p:cNvSpPr/>
          <p:nvPr/>
        </p:nvSpPr>
        <p:spPr>
          <a:xfrm>
            <a:off x="4846320" y="4581144"/>
            <a:ext cx="68580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5"/>
          <p:cNvSpPr/>
          <p:nvPr/>
        </p:nvSpPr>
        <p:spPr>
          <a:xfrm>
            <a:off x="11320272" y="4626864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2" name="Text 26"/>
          <p:cNvSpPr/>
          <p:nvPr/>
        </p:nvSpPr>
        <p:spPr>
          <a:xfrm>
            <a:off x="11320272" y="46268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33" name="Text 27"/>
          <p:cNvSpPr/>
          <p:nvPr/>
        </p:nvSpPr>
        <p:spPr>
          <a:xfrm>
            <a:off x="4983480" y="4581144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 المواد القابلة للاشتعال</a:t>
            </a:r>
            <a:endParaRPr lang="en-US" sz="1200" dirty="0"/>
          </a:p>
        </p:txBody>
      </p:sp>
      <p:sp>
        <p:nvSpPr>
          <p:cNvPr id="34" name="Shape 28"/>
          <p:cNvSpPr/>
          <p:nvPr/>
        </p:nvSpPr>
        <p:spPr>
          <a:xfrm>
            <a:off x="4846320" y="5029200"/>
            <a:ext cx="68580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29"/>
          <p:cNvSpPr/>
          <p:nvPr/>
        </p:nvSpPr>
        <p:spPr>
          <a:xfrm>
            <a:off x="11320272" y="5074920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6" name="Text 30"/>
          <p:cNvSpPr/>
          <p:nvPr/>
        </p:nvSpPr>
        <p:spPr>
          <a:xfrm>
            <a:off x="11320272" y="50749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4983480" y="5029200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أطفئ الموقد عند ظهور دخان</a:t>
            </a:r>
            <a:endParaRPr lang="en-US" sz="1200" dirty="0"/>
          </a:p>
        </p:txBody>
      </p:sp>
      <p:sp>
        <p:nvSpPr>
          <p:cNvPr id="38" name="Shape 32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33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 مهم: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تستخدم الماء على حرائق الزيوت — قد ينتشر الحريق ويزيد الخطر</a:t>
            </a:r>
            <a:endParaRPr lang="ar-AE" sz="1200" dirty="0"/>
          </a:p>
        </p:txBody>
      </p:sp>
      <p:sp>
        <p:nvSpPr>
          <p:cNvPr id="40" name="Shape 34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4" descr="/home/claude/assets/social_icon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5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6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7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8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9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40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41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42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G.1</a:t>
            </a:r>
            <a:endParaRPr lang="en-US" sz="1000" dirty="0"/>
          </a:p>
        </p:txBody>
      </p:sp>
      <p:sp>
        <p:nvSpPr>
          <p:cNvPr id="50" name="Shape 43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4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سلامة الغاز داخل المنزل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متابعة وصيانة واستخدام آمن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سلامة التوصيلات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إغلاق الغاز بعد الاستخدام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تتجاهل رائحة الغاز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تشغل الكهرباء عند تسرب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5720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75488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تهوية المكان إن أمكن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5720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75488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فحص دوري من مختصين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5720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75488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 الأطفال عن المفاتيح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تصرف 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ابتعد، تجنّب أي شرر، واتصل بـ 999 عند تسرب الغاز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G.1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المخاطر الكهربائية في المنزل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أعطال قد تشعل حريقًا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تحميل المقابس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تمديدات تالفة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أجهزة قرب الماء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ترك الأجهزة دون متابعة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5720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75488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شواحن غير معتمدة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5720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75488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حرارة أو رائحة احتراق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5720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75488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إصلاحات بطرق غير مختصة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أي رائحة احتراق أو شرر تحتاج إلى إيقاف الاستخدام وفحص مختص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G.1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المواد القابلة للاشتعال في المنزل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وجودها قرب الحرارة يزيد الخطر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مناشف قرب الموقد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أوراق وكرتون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ستائر قرب الحرارة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مواد التنظيف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5720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75488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بخاخات مضغوطة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5720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75488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زيوت وسوائل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5720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75488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أثاث قرب المدافئ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إرشاد وقائي: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احفظ المواد القابلة للاشتعال بعيدًا عن الحرارة وفي أماكن آمنة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G.1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أجهزة إنذار الدخان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 مبكر يمنح وقتًا للخروج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تركيب في أماكن مناسبة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اختبار الجهاز دوريًا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تغيير البطاريات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تعطّل الجهاز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344271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3625596" y="45720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08476" y="475488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444855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علّم الأسرة معنى الصوت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614019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6323076" y="45720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05956" y="475488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714603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تعامل بجدية مع الإنذار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توعوية: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الإنذار المبكر يمنح الأسرة فرصة للخروج قبل انتشار الدخان أو الحريق</a:t>
            </a:r>
            <a:endParaRPr lang="ar-AE" sz="1200" dirty="0"/>
          </a:p>
        </p:txBody>
      </p:sp>
      <p:sp>
        <p:nvSpPr>
          <p:cNvPr id="36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7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G.1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طفاية الحريق المنزلية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تساعد على حريق صغير جدًا في بدايته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مكان واضح وسهل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صلاحية دورية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اعرف طريقة الاستخدام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للحرائق الكبيرة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344271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3625596" y="45720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08476" y="475488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444855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إخلاء فوري عند الخطر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614019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6323076" y="45720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05956" y="475488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714603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سلامة الأشخاص أولًا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 مهم: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الأولوية دائمًا لسلامة الأشخاص، وليس إنقاذ الممتلكات</a:t>
            </a:r>
            <a:endParaRPr lang="ar-AE" sz="1200" dirty="0"/>
          </a:p>
        </p:txBody>
      </p:sp>
      <p:sp>
        <p:nvSpPr>
          <p:cNvPr id="36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7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G.1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خطة الهروب من المنزل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تسرّع التصرف وقت الإنذار أو الحريق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99632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1347704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2" name="Text 8"/>
          <p:cNvSpPr/>
          <p:nvPr/>
        </p:nvSpPr>
        <p:spPr>
          <a:xfrm>
            <a:off x="11347704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6336792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حدد مخارج كل غرفة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199632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11347704" y="326440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6" name="Text 12"/>
          <p:cNvSpPr/>
          <p:nvPr/>
        </p:nvSpPr>
        <p:spPr>
          <a:xfrm>
            <a:off x="11347704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6336792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حدد طريقين للخروج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6199632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11347704" y="384048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0" name="Text 16"/>
          <p:cNvSpPr/>
          <p:nvPr/>
        </p:nvSpPr>
        <p:spPr>
          <a:xfrm>
            <a:off x="11347704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6336792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حدد نقطة تجمع خارجية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6199632" y="4334256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11347704" y="4416552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4" name="Text 20"/>
          <p:cNvSpPr/>
          <p:nvPr/>
        </p:nvSpPr>
        <p:spPr>
          <a:xfrm>
            <a:off x="11347704" y="44165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6336792" y="4334256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درّب الأسرة على الخطة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457200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5605272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8" name="Text 24"/>
          <p:cNvSpPr/>
          <p:nvPr/>
        </p:nvSpPr>
        <p:spPr>
          <a:xfrm>
            <a:off x="5605272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Text 25"/>
          <p:cNvSpPr/>
          <p:nvPr/>
        </p:nvSpPr>
        <p:spPr>
          <a:xfrm>
            <a:off x="594360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علّم الأطفال عدم الاختباء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457200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5605272" y="326440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32" name="Text 28"/>
          <p:cNvSpPr/>
          <p:nvPr/>
        </p:nvSpPr>
        <p:spPr>
          <a:xfrm>
            <a:off x="5605272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594360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اتفقوا على عدم الرجوع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457200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5605272" y="384048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36" name="Text 32"/>
          <p:cNvSpPr/>
          <p:nvPr/>
        </p:nvSpPr>
        <p:spPr>
          <a:xfrm>
            <a:off x="5605272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594360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بـ 999 من مكان آمن</a:t>
            </a:r>
            <a:endParaRPr lang="en-US" sz="1300" dirty="0"/>
          </a:p>
        </p:txBody>
      </p:sp>
      <p:sp>
        <p:nvSpPr>
          <p:cNvPr id="38" name="Shape 3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3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الخطة غير المتدرب عليها قد لا تكون فعالة وقت الطوارئ</a:t>
            </a:r>
            <a:endParaRPr lang="ar-AE" sz="1200" dirty="0"/>
          </a:p>
        </p:txBody>
      </p:sp>
      <p:sp>
        <p:nvSpPr>
          <p:cNvPr id="40" name="Shape 3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4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4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4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4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G.1</a:t>
            </a:r>
            <a:endParaRPr lang="en-US" sz="1000" dirty="0"/>
          </a:p>
        </p:txBody>
      </p:sp>
      <p:sp>
        <p:nvSpPr>
          <p:cNvPr id="50" name="Shape 4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حماية الأطفال وكبار السن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الفئات الأكثر عرضة وقت الحرائق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 الأطفال عن المطبخ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تتركهم قرب الحرارة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علّمهم عدم العبث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أدوات الطبخ بعيدة عن الحافة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5720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75488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وصول كبار السن للمخارج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5720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75488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خطة لمن يحتاج مساعدة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5720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75488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مراقبة الأجهزة في غرفهم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توعوية: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إدارة المخاطر تعني الاهتمام بمن لا يستطيعون التصرف بسرعة وقت الطوارئ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G.1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السلوكيات الخاطئة التي تزيد الخطر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عادات بسيطة لكنها خطرة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ترك الطبخ دون مراقبة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ماء على حرائق الزيت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تحميل المقابس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شموع ومدافئ دون متابعة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74523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928116" y="45720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10996" y="475488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175107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تخزين قابل للاشتعال قرب الحرارة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344271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3625596" y="45720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808476" y="475488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444855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تجاهل رائحة الغاز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614019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6323076" y="45720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505956" y="475488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714603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السماح للأطفال بالعبث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883767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39" name="Shape 28"/>
          <p:cNvSpPr/>
          <p:nvPr/>
        </p:nvSpPr>
        <p:spPr>
          <a:xfrm>
            <a:off x="9020556" y="45720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40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203436" y="4754880"/>
            <a:ext cx="320040" cy="320040"/>
          </a:xfrm>
          <a:prstGeom prst="rect">
            <a:avLst/>
          </a:prstGeom>
        </p:spPr>
      </p:pic>
      <p:sp>
        <p:nvSpPr>
          <p:cNvPr id="41" name="Text 29"/>
          <p:cNvSpPr/>
          <p:nvPr/>
        </p:nvSpPr>
        <p:spPr>
          <a:xfrm>
            <a:off x="984351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الرجوع للمنزل بعد الخروج</a:t>
            </a:r>
            <a:endParaRPr lang="en-US" sz="1300" dirty="0"/>
          </a:p>
        </p:txBody>
      </p:sp>
      <p:sp>
        <p:nvSpPr>
          <p:cNvPr id="42" name="Shape 30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السلوك الآمن داخل المنزل يقلل المخاطر قبل الحاجة إلى الطوارئ</a:t>
            </a:r>
            <a:endParaRPr lang="ar-AE" sz="1200" dirty="0"/>
          </a:p>
        </p:txBody>
      </p:sp>
      <p:sp>
        <p:nvSpPr>
          <p:cNvPr id="44" name="Shape 32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5" name="Image 10" descr="/home/claude/assets/social_icons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6" name="Shape 33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4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8" name="Shape 35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6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0" name="Shape 37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8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2" name="Shape 39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0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G.1</a:t>
            </a:r>
            <a:endParaRPr lang="en-US" sz="1000" dirty="0"/>
          </a:p>
        </p:txBody>
      </p:sp>
      <p:sp>
        <p:nvSpPr>
          <p:cNvPr id="54" name="Shape 41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5" name="Text 42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ماذا تفعل عند نشوب حريق في المطبخ؟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تصرف بسرعة وهدوء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99632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1347704" y="2688336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2" name="Text 8"/>
          <p:cNvSpPr/>
          <p:nvPr/>
        </p:nvSpPr>
        <p:spPr>
          <a:xfrm>
            <a:off x="11347704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6336792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أوقف الحرارة إن كان آمنًا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199632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11347704" y="3264408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6" name="Text 12"/>
          <p:cNvSpPr/>
          <p:nvPr/>
        </p:nvSpPr>
        <p:spPr>
          <a:xfrm>
            <a:off x="11347704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6336792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ماء على حرائق الزيت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6199632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11347704" y="3840480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0" name="Text 16"/>
          <p:cNvSpPr/>
          <p:nvPr/>
        </p:nvSpPr>
        <p:spPr>
          <a:xfrm>
            <a:off x="11347704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6336792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تنقل الوعاء المشتعل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6199632" y="4334256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11347704" y="4416552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4" name="Text 20"/>
          <p:cNvSpPr/>
          <p:nvPr/>
        </p:nvSpPr>
        <p:spPr>
          <a:xfrm>
            <a:off x="11347704" y="44165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6336792" y="4334256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أخلِ أفراد الأسرة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457200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5605272" y="2688336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8" name="Text 24"/>
          <p:cNvSpPr/>
          <p:nvPr/>
        </p:nvSpPr>
        <p:spPr>
          <a:xfrm>
            <a:off x="5605272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Text 25"/>
          <p:cNvSpPr/>
          <p:nvPr/>
        </p:nvSpPr>
        <p:spPr>
          <a:xfrm>
            <a:off x="594360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أغلق الباب خلفك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457200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5605272" y="3264408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2" name="Text 28"/>
          <p:cNvSpPr/>
          <p:nvPr/>
        </p:nvSpPr>
        <p:spPr>
          <a:xfrm>
            <a:off x="5605272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594360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بـ 999 من مكان آمن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457200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5605272" y="3840480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6" name="Text 32"/>
          <p:cNvSpPr/>
          <p:nvPr/>
        </p:nvSpPr>
        <p:spPr>
          <a:xfrm>
            <a:off x="5605272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594360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ترجع إلى المنزل</a:t>
            </a:r>
            <a:endParaRPr lang="en-US" sz="1300" dirty="0"/>
          </a:p>
        </p:txBody>
      </p:sp>
      <p:sp>
        <p:nvSpPr>
          <p:cNvPr id="38" name="Shape 3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3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إذا انتشر الحريق أو الدخان، اخرج فورًا ولا تحاول الإطفاء</a:t>
            </a:r>
            <a:endParaRPr lang="ar-AE" sz="1200" dirty="0"/>
          </a:p>
        </p:txBody>
      </p:sp>
      <p:sp>
        <p:nvSpPr>
          <p:cNvPr id="40" name="Shape 3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4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4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4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4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G.1</a:t>
            </a:r>
            <a:endParaRPr lang="en-US" sz="1000" dirty="0"/>
          </a:p>
        </p:txBody>
      </p:sp>
      <p:sp>
        <p:nvSpPr>
          <p:cNvPr id="50" name="Shape 4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ماذا تفعل عند انتشار الدخان؟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الدخان قد يكون أخطر من اللهب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99632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1347704" y="2688336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2" name="Text 8"/>
          <p:cNvSpPr/>
          <p:nvPr/>
        </p:nvSpPr>
        <p:spPr>
          <a:xfrm>
            <a:off x="11347704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6336792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اخرج من أقرب مخرج آمن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199632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11347704" y="3264408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6" name="Text 12"/>
          <p:cNvSpPr/>
          <p:nvPr/>
        </p:nvSpPr>
        <p:spPr>
          <a:xfrm>
            <a:off x="11347704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6336792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ابقَ منخفضًا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6199632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11347704" y="3840480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0" name="Text 16"/>
          <p:cNvSpPr/>
          <p:nvPr/>
        </p:nvSpPr>
        <p:spPr>
          <a:xfrm>
            <a:off x="11347704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6336792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تستخدم المصعد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6199632" y="4334256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11347704" y="4416552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4" name="Text 20"/>
          <p:cNvSpPr/>
          <p:nvPr/>
        </p:nvSpPr>
        <p:spPr>
          <a:xfrm>
            <a:off x="11347704" y="44165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6336792" y="4334256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أغلق الأبواب خلفك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457200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5605272" y="2688336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8" name="Text 24"/>
          <p:cNvSpPr/>
          <p:nvPr/>
        </p:nvSpPr>
        <p:spPr>
          <a:xfrm>
            <a:off x="5605272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Text 25"/>
          <p:cNvSpPr/>
          <p:nvPr/>
        </p:nvSpPr>
        <p:spPr>
          <a:xfrm>
            <a:off x="594360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توجه لنقطة التجمع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457200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5605272" y="3264408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2" name="Text 28"/>
          <p:cNvSpPr/>
          <p:nvPr/>
        </p:nvSpPr>
        <p:spPr>
          <a:xfrm>
            <a:off x="5605272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594360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بـ 999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457200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5605272" y="3840480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6" name="Text 32"/>
          <p:cNvSpPr/>
          <p:nvPr/>
        </p:nvSpPr>
        <p:spPr>
          <a:xfrm>
            <a:off x="5605272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594360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تدخل مرة أخرى</a:t>
            </a:r>
            <a:endParaRPr lang="en-US" sz="1300" dirty="0"/>
          </a:p>
        </p:txBody>
      </p:sp>
      <p:sp>
        <p:nvSpPr>
          <p:cNvPr id="38" name="Shape 3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3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الخروج السريع والآمن أهم من البحث عن الممتلكات</a:t>
            </a:r>
            <a:endParaRPr lang="ar-AE" sz="1200" dirty="0"/>
          </a:p>
        </p:txBody>
      </p:sp>
      <p:sp>
        <p:nvSpPr>
          <p:cNvPr id="40" name="Shape 3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4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4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4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4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G.1</a:t>
            </a:r>
            <a:endParaRPr lang="en-US" sz="1000" dirty="0"/>
          </a:p>
        </p:txBody>
      </p:sp>
      <p:sp>
        <p:nvSpPr>
          <p:cNvPr id="50" name="Shape 4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إدارة المخاطر قبل وقوع الحريق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إجراءات وقائية يومية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فحص الأجهزة دوريًا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تنظيف تراكم الدهون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تترك الموقد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إبعاد القابل للاشتعال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74523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928116" y="45720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10996" y="475488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175107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اختبار إنذار الدخان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344271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3625596" y="45720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808476" y="475488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444855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طفاية حريق مناسبة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614019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6323076" y="45720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505956" y="475488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714603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تدريب الأسرة على الخطة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883767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9" name="Shape 28"/>
          <p:cNvSpPr/>
          <p:nvPr/>
        </p:nvSpPr>
        <p:spPr>
          <a:xfrm>
            <a:off x="9020556" y="45720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40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203436" y="4754880"/>
            <a:ext cx="320040" cy="320040"/>
          </a:xfrm>
          <a:prstGeom prst="rect">
            <a:avLst/>
          </a:prstGeom>
        </p:spPr>
      </p:pic>
      <p:sp>
        <p:nvSpPr>
          <p:cNvPr id="41" name="Text 29"/>
          <p:cNvSpPr/>
          <p:nvPr/>
        </p:nvSpPr>
        <p:spPr>
          <a:xfrm>
            <a:off x="984351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توعية الأطفال</a:t>
            </a:r>
            <a:endParaRPr lang="en-US" sz="1300" dirty="0"/>
          </a:p>
        </p:txBody>
      </p:sp>
      <p:sp>
        <p:nvSpPr>
          <p:cNvPr id="42" name="Shape 30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توعوية: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المنزل الآمن هو الذي تُراجع فيه المخاطر قبل أن تتحول إلى حوادث</a:t>
            </a:r>
            <a:endParaRPr lang="ar-AE" sz="1200" dirty="0"/>
          </a:p>
        </p:txBody>
      </p:sp>
      <p:sp>
        <p:nvSpPr>
          <p:cNvPr id="44" name="Shape 32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5" name="Image 10" descr="/home/claude/assets/social_icons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6" name="Shape 33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4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8" name="Shape 35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6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0" name="Shape 37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8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2" name="Shape 39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0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G.1</a:t>
            </a:r>
            <a:endParaRPr lang="en-US" sz="1000" dirty="0"/>
          </a:p>
        </p:txBody>
      </p:sp>
      <p:sp>
        <p:nvSpPr>
          <p:cNvPr id="54" name="Shape 41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5" name="Text 42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دور الأسرة في تقليل المخاطر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السلامة مسؤولية مشتركة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مسؤول عن الإنذار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مسؤول عن إغلاق الحرارة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توعية الأطفال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مساعدة كبار السن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5720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75488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مراجعة خطة الهروب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5720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75488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نقطة تجمع متفق عليها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2062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5720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75488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2062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999 في مكان واضح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عندما يعرف كل فرد دوره، تقل الفوضى وقت الطوارئ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G.1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افعل ولا تفعل في حرائق المنازل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ممارسات صحيحة وأخرى يجب تجنّبها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53912" y="2606040"/>
            <a:ext cx="5577840" cy="3749040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6153912" y="2606040"/>
            <a:ext cx="5577840" cy="502920"/>
          </a:xfrm>
          <a:prstGeom prst="rect">
            <a:avLst/>
          </a:prstGeom>
          <a:solidFill>
            <a:srgbClr val="D1FAE5"/>
          </a:solidFill>
          <a:ln/>
        </p:spPr>
      </p:sp>
      <p:sp>
        <p:nvSpPr>
          <p:cNvPr id="12" name="Text 8"/>
          <p:cNvSpPr/>
          <p:nvPr/>
        </p:nvSpPr>
        <p:spPr>
          <a:xfrm>
            <a:off x="6336792" y="2606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افعل  ✓</a:t>
            </a:r>
            <a:endParaRPr lang="en-US" sz="1800" dirty="0"/>
          </a:p>
        </p:txBody>
      </p:sp>
      <p:sp>
        <p:nvSpPr>
          <p:cNvPr id="13" name="Shape 9"/>
          <p:cNvSpPr/>
          <p:nvPr/>
        </p:nvSpPr>
        <p:spPr>
          <a:xfrm>
            <a:off x="11320272" y="32918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11320272" y="3291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6336792" y="32461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راقب الطبخ دائمًا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11320272" y="37490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11320272" y="3749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6336792" y="37033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 القابل للاشتعال عن الموقد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11320272" y="42062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11320272" y="42062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7"/>
          <p:cNvSpPr/>
          <p:nvPr/>
        </p:nvSpPr>
        <p:spPr>
          <a:xfrm>
            <a:off x="6336792" y="41605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افحص الكهرباء والأجهزة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11320272" y="46634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11320272" y="4663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24" name="Text 20"/>
          <p:cNvSpPr/>
          <p:nvPr/>
        </p:nvSpPr>
        <p:spPr>
          <a:xfrm>
            <a:off x="6336792" y="46177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ركّب إنذار الدخان وافحصه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11320272" y="51206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11320272" y="51206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27" name="Text 23"/>
          <p:cNvSpPr/>
          <p:nvPr/>
        </p:nvSpPr>
        <p:spPr>
          <a:xfrm>
            <a:off x="6336792" y="50749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جهّز خطة هروب ونقطة تجمع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11320272" y="55778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11320272" y="5577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30" name="Text 26"/>
          <p:cNvSpPr/>
          <p:nvPr/>
        </p:nvSpPr>
        <p:spPr>
          <a:xfrm>
            <a:off x="6336792" y="55321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أخلِ المنزل عند الانتشار</a:t>
            </a:r>
            <a:endParaRPr lang="en-US" sz="1300" dirty="0"/>
          </a:p>
        </p:txBody>
      </p:sp>
      <p:sp>
        <p:nvSpPr>
          <p:cNvPr id="31" name="Shape 27"/>
          <p:cNvSpPr/>
          <p:nvPr/>
        </p:nvSpPr>
        <p:spPr>
          <a:xfrm>
            <a:off x="11320272" y="60350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32" name="Text 28"/>
          <p:cNvSpPr/>
          <p:nvPr/>
        </p:nvSpPr>
        <p:spPr>
          <a:xfrm>
            <a:off x="11320272" y="6035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000" dirty="0"/>
          </a:p>
        </p:txBody>
      </p:sp>
      <p:sp>
        <p:nvSpPr>
          <p:cNvPr id="33" name="Text 29"/>
          <p:cNvSpPr/>
          <p:nvPr/>
        </p:nvSpPr>
        <p:spPr>
          <a:xfrm>
            <a:off x="6336792" y="59893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بـ 999 من مكان آمن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457200" y="2606040"/>
            <a:ext cx="5577840" cy="3749040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457200" y="2606040"/>
            <a:ext cx="5577840" cy="50292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36" name="Text 32"/>
          <p:cNvSpPr/>
          <p:nvPr/>
        </p:nvSpPr>
        <p:spPr>
          <a:xfrm>
            <a:off x="640080" y="2606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تفعل  ✕</a:t>
            </a:r>
            <a:endParaRPr lang="en-US" sz="1800" dirty="0"/>
          </a:p>
        </p:txBody>
      </p:sp>
      <p:sp>
        <p:nvSpPr>
          <p:cNvPr id="37" name="Shape 33"/>
          <p:cNvSpPr/>
          <p:nvPr/>
        </p:nvSpPr>
        <p:spPr>
          <a:xfrm>
            <a:off x="5623560" y="32918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38" name="Text 34"/>
          <p:cNvSpPr/>
          <p:nvPr/>
        </p:nvSpPr>
        <p:spPr>
          <a:xfrm>
            <a:off x="5623560" y="3291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39" name="Text 35"/>
          <p:cNvSpPr/>
          <p:nvPr/>
        </p:nvSpPr>
        <p:spPr>
          <a:xfrm>
            <a:off x="640080" y="32461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تترك الطعام على النار</a:t>
            </a:r>
            <a:endParaRPr lang="en-US" sz="1300" dirty="0"/>
          </a:p>
        </p:txBody>
      </p:sp>
      <p:sp>
        <p:nvSpPr>
          <p:cNvPr id="40" name="Shape 36"/>
          <p:cNvSpPr/>
          <p:nvPr/>
        </p:nvSpPr>
        <p:spPr>
          <a:xfrm>
            <a:off x="5623560" y="37490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41" name="Text 37"/>
          <p:cNvSpPr/>
          <p:nvPr/>
        </p:nvSpPr>
        <p:spPr>
          <a:xfrm>
            <a:off x="5623560" y="3749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42" name="Text 38"/>
          <p:cNvSpPr/>
          <p:nvPr/>
        </p:nvSpPr>
        <p:spPr>
          <a:xfrm>
            <a:off x="640080" y="37033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ماء على حرائق الزيت</a:t>
            </a:r>
            <a:endParaRPr lang="en-US" sz="1300" dirty="0"/>
          </a:p>
        </p:txBody>
      </p:sp>
      <p:sp>
        <p:nvSpPr>
          <p:cNvPr id="43" name="Shape 39"/>
          <p:cNvSpPr/>
          <p:nvPr/>
        </p:nvSpPr>
        <p:spPr>
          <a:xfrm>
            <a:off x="5623560" y="42062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44" name="Text 40"/>
          <p:cNvSpPr/>
          <p:nvPr/>
        </p:nvSpPr>
        <p:spPr>
          <a:xfrm>
            <a:off x="5623560" y="42062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45" name="Text 41"/>
          <p:cNvSpPr/>
          <p:nvPr/>
        </p:nvSpPr>
        <p:spPr>
          <a:xfrm>
            <a:off x="640080" y="41605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تحمّل المقابس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>
            <a:off x="5623560" y="46634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47" name="Text 43"/>
          <p:cNvSpPr/>
          <p:nvPr/>
        </p:nvSpPr>
        <p:spPr>
          <a:xfrm>
            <a:off x="5623560" y="4663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48" name="Text 44"/>
          <p:cNvSpPr/>
          <p:nvPr/>
        </p:nvSpPr>
        <p:spPr>
          <a:xfrm>
            <a:off x="640080" y="46177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تتجاهل رائحة الغاز</a:t>
            </a:r>
            <a:endParaRPr lang="en-US" sz="1300" dirty="0"/>
          </a:p>
        </p:txBody>
      </p:sp>
      <p:sp>
        <p:nvSpPr>
          <p:cNvPr id="49" name="Shape 45"/>
          <p:cNvSpPr/>
          <p:nvPr/>
        </p:nvSpPr>
        <p:spPr>
          <a:xfrm>
            <a:off x="5623560" y="51206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50" name="Text 46"/>
          <p:cNvSpPr/>
          <p:nvPr/>
        </p:nvSpPr>
        <p:spPr>
          <a:xfrm>
            <a:off x="5623560" y="51206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51" name="Text 47"/>
          <p:cNvSpPr/>
          <p:nvPr/>
        </p:nvSpPr>
        <p:spPr>
          <a:xfrm>
            <a:off x="640080" y="50749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تترك الأطفال يعبثون</a:t>
            </a:r>
            <a:endParaRPr lang="en-US" sz="1300" dirty="0"/>
          </a:p>
        </p:txBody>
      </p:sp>
      <p:sp>
        <p:nvSpPr>
          <p:cNvPr id="52" name="Shape 48"/>
          <p:cNvSpPr/>
          <p:nvPr/>
        </p:nvSpPr>
        <p:spPr>
          <a:xfrm>
            <a:off x="5623560" y="55778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53" name="Text 49"/>
          <p:cNvSpPr/>
          <p:nvPr/>
        </p:nvSpPr>
        <p:spPr>
          <a:xfrm>
            <a:off x="5623560" y="5577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54" name="Text 50"/>
          <p:cNvSpPr/>
          <p:nvPr/>
        </p:nvSpPr>
        <p:spPr>
          <a:xfrm>
            <a:off x="640080" y="55321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تطفئ حريقًا كبيرًا</a:t>
            </a:r>
            <a:endParaRPr lang="en-US" sz="1300" dirty="0"/>
          </a:p>
        </p:txBody>
      </p:sp>
      <p:sp>
        <p:nvSpPr>
          <p:cNvPr id="55" name="Shape 51"/>
          <p:cNvSpPr/>
          <p:nvPr/>
        </p:nvSpPr>
        <p:spPr>
          <a:xfrm>
            <a:off x="5623560" y="60350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56" name="Text 52"/>
          <p:cNvSpPr/>
          <p:nvPr/>
        </p:nvSpPr>
        <p:spPr>
          <a:xfrm>
            <a:off x="5623560" y="6035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000" dirty="0"/>
          </a:p>
        </p:txBody>
      </p:sp>
      <p:sp>
        <p:nvSpPr>
          <p:cNvPr id="57" name="Text 53"/>
          <p:cNvSpPr/>
          <p:nvPr/>
        </p:nvSpPr>
        <p:spPr>
          <a:xfrm>
            <a:off x="640080" y="59893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ترجع للمنزل بعد الإخلاء</a:t>
            </a:r>
            <a:endParaRPr lang="en-US" sz="1300" dirty="0"/>
          </a:p>
        </p:txBody>
      </p:sp>
      <p:sp>
        <p:nvSpPr>
          <p:cNvPr id="58" name="Shape 54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59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60" name="Shape 55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1" name="Text 56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62" name="Shape 57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3" name="Text 58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64" name="Shape 59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5" name="Text 60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66" name="Shape 61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7" name="Text 62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G.1</a:t>
            </a:r>
            <a:endParaRPr lang="en-US" sz="1000" dirty="0"/>
          </a:p>
        </p:txBody>
      </p:sp>
      <p:sp>
        <p:nvSpPr>
          <p:cNvPr id="68" name="Shape 63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9" name="Text 64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سيناريوهات تفاعلية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تطبيق عملي لما تعلمته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53912" y="26060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6336792" y="27706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12" name="Text 8"/>
          <p:cNvSpPr/>
          <p:nvPr/>
        </p:nvSpPr>
        <p:spPr>
          <a:xfrm>
            <a:off x="6336792" y="27706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1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7525512" y="27432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أثناء الطبخ، الزيت بدأ يصدر دخانًا واضحًا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6336792" y="32918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6473952" y="33192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أوقف الحرارة إن كان آمنًا، لا تضف ماء، وأبعد الأشخاص عن المنطقة</a:t>
            </a:r>
            <a:endParaRPr lang="ar-AE" sz="1200" dirty="0"/>
          </a:p>
        </p:txBody>
      </p:sp>
      <p:sp>
        <p:nvSpPr>
          <p:cNvPr id="16" name="Shape 12"/>
          <p:cNvSpPr/>
          <p:nvPr/>
        </p:nvSpPr>
        <p:spPr>
          <a:xfrm>
            <a:off x="457200" y="26060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0080" y="27706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18" name="Text 14"/>
          <p:cNvSpPr/>
          <p:nvPr/>
        </p:nvSpPr>
        <p:spPr>
          <a:xfrm>
            <a:off x="640080" y="27706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2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1828800" y="27432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انطلق إنذار الدخان أثناء الليل</a:t>
            </a:r>
            <a:endParaRPr lang="en-US" sz="1400" dirty="0"/>
          </a:p>
        </p:txBody>
      </p:sp>
      <p:sp>
        <p:nvSpPr>
          <p:cNvPr id="20" name="Shape 16"/>
          <p:cNvSpPr/>
          <p:nvPr/>
        </p:nvSpPr>
        <p:spPr>
          <a:xfrm>
            <a:off x="640080" y="32918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777240" y="33192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أيقظ الأسرة، نفّذ خطة الهروب، اخرج لنقطة التجمع، واتصل بـ 999</a:t>
            </a:r>
            <a:endParaRPr lang="ar-AE" sz="1200" dirty="0"/>
          </a:p>
        </p:txBody>
      </p:sp>
      <p:sp>
        <p:nvSpPr>
          <p:cNvPr id="22" name="Shape 18"/>
          <p:cNvSpPr/>
          <p:nvPr/>
        </p:nvSpPr>
        <p:spPr>
          <a:xfrm>
            <a:off x="6153912" y="44348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6336792" y="45994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24" name="Text 20"/>
          <p:cNvSpPr/>
          <p:nvPr/>
        </p:nvSpPr>
        <p:spPr>
          <a:xfrm>
            <a:off x="6336792" y="45994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3</a:t>
            </a:r>
            <a:endParaRPr lang="en-US" sz="1200" dirty="0"/>
          </a:p>
        </p:txBody>
      </p:sp>
      <p:sp>
        <p:nvSpPr>
          <p:cNvPr id="25" name="Text 21"/>
          <p:cNvSpPr/>
          <p:nvPr/>
        </p:nvSpPr>
        <p:spPr>
          <a:xfrm>
            <a:off x="7525512" y="45720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شممت رائحة غاز داخل المطبخ</a:t>
            </a:r>
            <a:endParaRPr lang="en-US" sz="1400" dirty="0"/>
          </a:p>
        </p:txBody>
      </p:sp>
      <p:sp>
        <p:nvSpPr>
          <p:cNvPr id="26" name="Shape 22"/>
          <p:cNvSpPr/>
          <p:nvPr/>
        </p:nvSpPr>
        <p:spPr>
          <a:xfrm>
            <a:off x="6336792" y="51206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6473952" y="51480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تجنب المفاتيح الكهربائية، هوّ المكان إن كان آمنًا، ابتعد، واتصل بـ 999</a:t>
            </a:r>
            <a:endParaRPr lang="ar-AE" sz="1200" dirty="0"/>
          </a:p>
        </p:txBody>
      </p:sp>
      <p:sp>
        <p:nvSpPr>
          <p:cNvPr id="28" name="Shape 24"/>
          <p:cNvSpPr/>
          <p:nvPr/>
        </p:nvSpPr>
        <p:spPr>
          <a:xfrm>
            <a:off x="457200" y="44348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640080" y="45994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30" name="Text 26"/>
          <p:cNvSpPr/>
          <p:nvPr/>
        </p:nvSpPr>
        <p:spPr>
          <a:xfrm>
            <a:off x="640080" y="45994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4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1828800" y="45720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أحدهم يريد الرجوع لأخذ غرض من المنزل المحترق</a:t>
            </a:r>
            <a:endParaRPr lang="en-US" sz="1400" dirty="0"/>
          </a:p>
        </p:txBody>
      </p:sp>
      <p:sp>
        <p:nvSpPr>
          <p:cNvPr id="32" name="Shape 28"/>
          <p:cNvSpPr/>
          <p:nvPr/>
        </p:nvSpPr>
        <p:spPr>
          <a:xfrm>
            <a:off x="640080" y="51206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777240" y="51480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امنعه من الرجوع، ابقَ في نقطة التجمع، وانتظر الجهات المختصة</a:t>
            </a:r>
            <a:endParaRPr lang="ar-AE" sz="1200" dirty="0"/>
          </a:p>
        </p:txBody>
      </p:sp>
      <p:sp>
        <p:nvSpPr>
          <p:cNvPr id="34" name="Shape 30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5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6" name="Shape 31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7" name="Text 32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8" name="Shape 33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34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0" name="Shape 35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6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2" name="Shape 37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G.1</a:t>
            </a:r>
            <a:endParaRPr lang="en-US" sz="1000" dirty="0"/>
          </a:p>
        </p:txBody>
      </p:sp>
      <p:sp>
        <p:nvSpPr>
          <p:cNvPr id="44" name="Shape 39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اختبر معلوماتك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أسئلة سريعة لتقييم فهمك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457200" y="2606040"/>
            <a:ext cx="11247120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1109960" y="2779776"/>
            <a:ext cx="411480" cy="41148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83112" y="2852928"/>
            <a:ext cx="274320" cy="27432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640080" y="2679192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4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س1: </a:t>
            </a:r>
            <a:r>
              <a:rPr lang="ar-AE" alt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 أهم إجراء للوقاية من حرائق المطبخ؟</a:t>
            </a:r>
            <a:endParaRPr lang="ar-AE" sz="1400" dirty="0"/>
          </a:p>
        </p:txBody>
      </p:sp>
      <p:sp>
        <p:nvSpPr>
          <p:cNvPr id="14" name="Text 9"/>
          <p:cNvSpPr/>
          <p:nvPr/>
        </p:nvSpPr>
        <p:spPr>
          <a:xfrm>
            <a:off x="640080" y="2990088"/>
            <a:ext cx="10378440" cy="29260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2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مراقبة الطبخ وعدم ترك الطعام أو الزيت على الموقد دون متابعة</a:t>
            </a:r>
            <a:endParaRPr lang="ar-AE" sz="1200" dirty="0"/>
          </a:p>
        </p:txBody>
      </p:sp>
      <p:sp>
        <p:nvSpPr>
          <p:cNvPr id="15" name="Shape 10"/>
          <p:cNvSpPr/>
          <p:nvPr/>
        </p:nvSpPr>
        <p:spPr>
          <a:xfrm>
            <a:off x="457200" y="3374136"/>
            <a:ext cx="11247120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11109960" y="3547872"/>
            <a:ext cx="411480" cy="41148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83112" y="3621024"/>
            <a:ext cx="274320" cy="27432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40080" y="3447288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4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س2: </a:t>
            </a:r>
            <a:r>
              <a:rPr lang="ar-AE" alt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هل يجوز استخدام الماء على حرائق الزيت؟</a:t>
            </a:r>
            <a:endParaRPr lang="ar-AE" sz="1400" dirty="0"/>
          </a:p>
        </p:txBody>
      </p:sp>
      <p:sp>
        <p:nvSpPr>
          <p:cNvPr id="19" name="Text 13"/>
          <p:cNvSpPr/>
          <p:nvPr/>
        </p:nvSpPr>
        <p:spPr>
          <a:xfrm>
            <a:off x="640080" y="3758184"/>
            <a:ext cx="10378440" cy="29260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2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لا، قد يؤدي إلى انتشار الحريق وزيادة الخطر</a:t>
            </a:r>
            <a:endParaRPr lang="ar-AE" sz="1200" dirty="0"/>
          </a:p>
        </p:txBody>
      </p:sp>
      <p:sp>
        <p:nvSpPr>
          <p:cNvPr id="20" name="Shape 14"/>
          <p:cNvSpPr/>
          <p:nvPr/>
        </p:nvSpPr>
        <p:spPr>
          <a:xfrm>
            <a:off x="457200" y="4142232"/>
            <a:ext cx="11247120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11109960" y="4315968"/>
            <a:ext cx="411480" cy="41148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83112" y="4389120"/>
            <a:ext cx="274320" cy="27432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640080" y="4215384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4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س3: </a:t>
            </a:r>
            <a:r>
              <a:rPr lang="ar-AE" alt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ماذا تفعل عند سماع إنذار الدخان أو رؤية حريق منتشر؟</a:t>
            </a:r>
            <a:endParaRPr lang="ar-AE" sz="1400" dirty="0"/>
          </a:p>
        </p:txBody>
      </p:sp>
      <p:sp>
        <p:nvSpPr>
          <p:cNvPr id="24" name="Text 17"/>
          <p:cNvSpPr/>
          <p:nvPr/>
        </p:nvSpPr>
        <p:spPr>
          <a:xfrm>
            <a:off x="640080" y="4526280"/>
            <a:ext cx="10378440" cy="29260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2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نفّذ خطة الهروب، اخرج لنقطة التجمع، واتصل بـ 999 من مكان آمن</a:t>
            </a:r>
            <a:endParaRPr lang="ar-AE" sz="1200" dirty="0"/>
          </a:p>
        </p:txBody>
      </p:sp>
      <p:sp>
        <p:nvSpPr>
          <p:cNvPr id="25" name="Shape 18"/>
          <p:cNvSpPr/>
          <p:nvPr/>
        </p:nvSpPr>
        <p:spPr>
          <a:xfrm>
            <a:off x="457200" y="4910328"/>
            <a:ext cx="11247120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6" name="Shape 19"/>
          <p:cNvSpPr/>
          <p:nvPr/>
        </p:nvSpPr>
        <p:spPr>
          <a:xfrm>
            <a:off x="11109960" y="5084064"/>
            <a:ext cx="411480" cy="41148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83112" y="5157216"/>
            <a:ext cx="274320" cy="274320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640080" y="4983480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4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س4: </a:t>
            </a:r>
            <a:r>
              <a:rPr lang="ar-AE" alt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لماذا نحدد نقطة تجمع خارج المنزل؟</a:t>
            </a:r>
            <a:endParaRPr lang="ar-AE" sz="1400" dirty="0"/>
          </a:p>
        </p:txBody>
      </p:sp>
      <p:sp>
        <p:nvSpPr>
          <p:cNvPr id="29" name="Text 21"/>
          <p:cNvSpPr/>
          <p:nvPr/>
        </p:nvSpPr>
        <p:spPr>
          <a:xfrm>
            <a:off x="640080" y="5294376"/>
            <a:ext cx="10378440" cy="29260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2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للتأكد من خروج الأسرة ومنع الرجوع إلى داخل المنزل أثناء الحريق</a:t>
            </a:r>
            <a:endParaRPr lang="ar-AE" sz="1200" dirty="0"/>
          </a:p>
        </p:txBody>
      </p:sp>
      <p:sp>
        <p:nvSpPr>
          <p:cNvPr id="30" name="Shape 22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1" name="Image 6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2" name="Shape 23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3" name="Text 24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4" name="Shape 25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5" name="Text 26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36" name="Shape 27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7" name="Text 28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38" name="Shape 29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30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G.1</a:t>
            </a:r>
            <a:endParaRPr lang="en-US" sz="1000" dirty="0"/>
          </a:p>
        </p:txBody>
      </p:sp>
      <p:sp>
        <p:nvSpPr>
          <p:cNvPr id="40" name="Shape 31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2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Shape 3"/>
          <p:cNvSpPr/>
          <p:nvPr/>
        </p:nvSpPr>
        <p:spPr>
          <a:xfrm>
            <a:off x="5088636" y="1097280"/>
            <a:ext cx="2011680" cy="2011680"/>
          </a:xfrm>
          <a:prstGeom prst="ellipse">
            <a:avLst/>
          </a:prstGeom>
          <a:solidFill>
            <a:srgbClr val="DCE7F5">
              <a:alpha val="50000"/>
            </a:srgbClr>
          </a:solidFill>
          <a:ln/>
        </p:spPr>
      </p:sp>
      <p:sp>
        <p:nvSpPr>
          <p:cNvPr id="8" name="Shape 4"/>
          <p:cNvSpPr/>
          <p:nvPr/>
        </p:nvSpPr>
        <p:spPr>
          <a:xfrm>
            <a:off x="5362956" y="1280160"/>
            <a:ext cx="1463040" cy="146304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37276" y="1554480"/>
            <a:ext cx="914400" cy="91440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457200" y="347472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4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شكرًا لكم</a:t>
            </a:r>
            <a:endParaRPr lang="en-US" sz="4400" dirty="0"/>
          </a:p>
        </p:txBody>
      </p:sp>
      <p:sp>
        <p:nvSpPr>
          <p:cNvPr id="11" name="Text 6"/>
          <p:cNvSpPr/>
          <p:nvPr/>
        </p:nvSpPr>
        <p:spPr>
          <a:xfrm>
            <a:off x="457200" y="42976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6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الوقاية تبدأ بالوعي والالتزام اليومي بإجراءات السلامة</a:t>
            </a:r>
            <a:endParaRPr lang="en-US" sz="1600" dirty="0"/>
          </a:p>
        </p:txBody>
      </p:sp>
      <p:sp>
        <p:nvSpPr>
          <p:cNvPr id="12" name="Shape 7"/>
          <p:cNvSpPr/>
          <p:nvPr/>
        </p:nvSpPr>
        <p:spPr>
          <a:xfrm>
            <a:off x="5637276" y="4754880"/>
            <a:ext cx="914400" cy="0"/>
          </a:xfrm>
          <a:prstGeom prst="line">
            <a:avLst/>
          </a:prstGeom>
          <a:noFill/>
          <a:ln w="25400">
            <a:solidFill>
              <a:srgbClr val="0B4EA2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457200" y="49834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راقب الطبخ • افحص الكهرباء والغاز • ركّب الإنذار • اتصل بـ 999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2286000" y="5440680"/>
            <a:ext cx="7589520" cy="685800"/>
          </a:xfrm>
          <a:prstGeom prst="roundRect">
            <a:avLst>
              <a:gd name="adj" fmla="val 6667"/>
            </a:avLst>
          </a:prstGeom>
          <a:solidFill>
            <a:srgbClr val="EEF3FA"/>
          </a:solidFill>
          <a:ln w="9525">
            <a:solidFill>
              <a:srgbClr val="0B4EA2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2286000" y="5440680"/>
            <a:ext cx="7589520" cy="6858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i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"الوقاية من حرائق المنازل تبدأ من سلوك يومي واعٍ داخل كل أسرة"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17" name="Image 3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G.1</a:t>
            </a:r>
            <a:endParaRPr lang="en-US" sz="1000" dirty="0"/>
          </a:p>
        </p:txBody>
      </p:sp>
      <p:sp>
        <p:nvSpPr>
          <p:cNvPr id="26" name="Shape 20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نسق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1574</Words>
  <Application>Microsoft Office PowerPoint</Application>
  <PresentationFormat>شاشة عريضة</PresentationFormat>
  <Paragraphs>379</Paragraphs>
  <Slides>21</Slides>
  <Notes>21</Notes>
  <HiddenSlides>0</HiddenSlides>
  <MMClips>0</MMClips>
  <ScaleCrop>false</ScaleCrop>
  <HeadingPairs>
    <vt:vector size="6" baseType="variant">
      <vt:variant>
        <vt:lpstr>الخطوط المستخدمة</vt:lpstr>
      </vt:variant>
      <vt:variant>
        <vt:i4>3</vt:i4>
      </vt:variant>
      <vt:variant>
        <vt:lpstr>نسق</vt:lpstr>
      </vt:variant>
      <vt:variant>
        <vt:i4>1</vt:i4>
      </vt:variant>
      <vt:variant>
        <vt:lpstr>عناوين الشرائح</vt:lpstr>
      </vt:variant>
      <vt:variant>
        <vt:i4>21</vt:i4>
      </vt:variant>
    </vt:vector>
  </HeadingPairs>
  <TitlesOfParts>
    <vt:vector size="25" baseType="lpstr">
      <vt:lpstr>Arial</vt:lpstr>
      <vt:lpstr>Calibri</vt:lpstr>
      <vt:lpstr>Tajawal</vt:lpstr>
      <vt:lpstr>Office Theme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إدارة مخاطر حرائق المنازل والمطابخ</dc:title>
  <dc:subject>PptxGenJS Presentation</dc:subject>
  <dc:creator>هيئة أبوظبي للدفاع المدني</dc:creator>
  <cp:lastModifiedBy>Lenovo</cp:lastModifiedBy>
  <cp:revision>1</cp:revision>
  <dcterms:created xsi:type="dcterms:W3CDTF">2026-05-08T00:11:32Z</dcterms:created>
  <dcterms:modified xsi:type="dcterms:W3CDTF">2026-05-08T00:27:59Z</dcterms:modified>
</cp:coreProperties>
</file>