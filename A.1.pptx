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D882CA-F54D-455F-AD16-A527F49FA1C5}" v="1" dt="2026-06-08T08:08:00.51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61" d="100"/>
          <a:sy n="61" d="100"/>
        </p:scale>
        <p:origin x="485" y="-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i Alkaabi" userId="b0c4608ab7c67d9e" providerId="LiveId" clId="{35D882CA-F54D-455F-AD16-A527F49FA1C5}"/>
    <pc:docChg chg="undo custSel modSld">
      <pc:chgData name="Ali Alkaabi" userId="b0c4608ab7c67d9e" providerId="LiveId" clId="{35D882CA-F54D-455F-AD16-A527F49FA1C5}" dt="2026-06-08T08:09:34.833" v="111" actId="1076"/>
      <pc:docMkLst>
        <pc:docMk/>
      </pc:docMkLst>
      <pc:sldChg chg="modSp mod">
        <pc:chgData name="Ali Alkaabi" userId="b0c4608ab7c67d9e" providerId="LiveId" clId="{35D882CA-F54D-455F-AD16-A527F49FA1C5}" dt="2026-05-24T22:50:42.045" v="1" actId="2711"/>
        <pc:sldMkLst>
          <pc:docMk/>
          <pc:sldMk cId="0" sldId="257"/>
        </pc:sldMkLst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4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5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6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7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8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9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10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11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13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14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42.045" v="1" actId="2711"/>
          <ac:spMkLst>
            <pc:docMk/>
            <pc:sldMk cId="0" sldId="257"/>
            <ac:spMk id="15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16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17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19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20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21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22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23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25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26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27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28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29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31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32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33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34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35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37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38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39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40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41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43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44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45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46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47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48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50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51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52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53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54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55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56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57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58" creationId="{00000000-0000-0000-0000-000000000000}"/>
          </ac:spMkLst>
        </pc:spChg>
        <pc:spChg chg="mod">
          <ac:chgData name="Ali Alkaabi" userId="b0c4608ab7c67d9e" providerId="LiveId" clId="{35D882CA-F54D-455F-AD16-A527F49FA1C5}" dt="2026-05-24T22:50:34.609" v="0" actId="2711"/>
          <ac:spMkLst>
            <pc:docMk/>
            <pc:sldMk cId="0" sldId="257"/>
            <ac:spMk id="59" creationId="{00000000-0000-0000-0000-000000000000}"/>
          </ac:spMkLst>
        </pc:spChg>
      </pc:sldChg>
      <pc:sldChg chg="addSp delSp modSp mod">
        <pc:chgData name="Ali Alkaabi" userId="b0c4608ab7c67d9e" providerId="LiveId" clId="{35D882CA-F54D-455F-AD16-A527F49FA1C5}" dt="2026-06-08T08:09:34.833" v="111" actId="1076"/>
        <pc:sldMkLst>
          <pc:docMk/>
          <pc:sldMk cId="0" sldId="269"/>
        </pc:sldMkLst>
        <pc:spChg chg="mod">
          <ac:chgData name="Ali Alkaabi" userId="b0c4608ab7c67d9e" providerId="LiveId" clId="{35D882CA-F54D-455F-AD16-A527F49FA1C5}" dt="2026-06-07T14:13:27.393" v="56" actId="20577"/>
          <ac:spMkLst>
            <pc:docMk/>
            <pc:sldMk cId="0" sldId="269"/>
            <ac:spMk id="23" creationId="{00000000-0000-0000-0000-000000000000}"/>
          </ac:spMkLst>
        </pc:spChg>
        <pc:spChg chg="del">
          <ac:chgData name="Ali Alkaabi" userId="b0c4608ab7c67d9e" providerId="LiveId" clId="{35D882CA-F54D-455F-AD16-A527F49FA1C5}" dt="2026-06-08T08:09:29.348" v="110" actId="478"/>
          <ac:spMkLst>
            <pc:docMk/>
            <pc:sldMk cId="0" sldId="269"/>
            <ac:spMk id="27" creationId="{00000000-0000-0000-0000-000000000000}"/>
          </ac:spMkLst>
        </pc:spChg>
        <pc:spChg chg="add mod">
          <ac:chgData name="Ali Alkaabi" userId="b0c4608ab7c67d9e" providerId="LiveId" clId="{35D882CA-F54D-455F-AD16-A527F49FA1C5}" dt="2026-06-08T08:09:34.833" v="111" actId="1076"/>
          <ac:spMkLst>
            <pc:docMk/>
            <pc:sldMk cId="0" sldId="269"/>
            <ac:spMk id="28" creationId="{6555D62A-A967-1088-97CF-55A80010E46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95445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4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2.png"/><Relationship Id="rId9" Type="http://schemas.openxmlformats.org/officeDocument/2006/relationships/image" Target="../media/image2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4.png"/><Relationship Id="rId5" Type="http://schemas.openxmlformats.org/officeDocument/2006/relationships/image" Target="../media/image25.png"/><Relationship Id="rId10" Type="http://schemas.openxmlformats.org/officeDocument/2006/relationships/image" Target="../media/image28.png"/><Relationship Id="rId4" Type="http://schemas.openxmlformats.org/officeDocument/2006/relationships/image" Target="../media/image2.png"/><Relationship Id="rId9" Type="http://schemas.openxmlformats.org/officeDocument/2006/relationships/image" Target="../media/image2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jp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1.png"/><Relationship Id="rId7" Type="http://schemas.openxmlformats.org/officeDocument/2006/relationships/image" Target="../media/image18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11" Type="http://schemas.openxmlformats.org/officeDocument/2006/relationships/image" Target="../media/image34.png"/><Relationship Id="rId5" Type="http://schemas.openxmlformats.org/officeDocument/2006/relationships/image" Target="../media/image30.png"/><Relationship Id="rId10" Type="http://schemas.openxmlformats.org/officeDocument/2006/relationships/image" Target="../media/image33.png"/><Relationship Id="rId4" Type="http://schemas.openxmlformats.org/officeDocument/2006/relationships/image" Target="../media/image2.png"/><Relationship Id="rId9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1.png"/><Relationship Id="rId7" Type="http://schemas.openxmlformats.org/officeDocument/2006/relationships/image" Target="../media/image2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11" Type="http://schemas.openxmlformats.org/officeDocument/2006/relationships/image" Target="../media/image37.png"/><Relationship Id="rId5" Type="http://schemas.openxmlformats.org/officeDocument/2006/relationships/image" Target="../media/image30.png"/><Relationship Id="rId10" Type="http://schemas.openxmlformats.org/officeDocument/2006/relationships/image" Target="../media/image36.png"/><Relationship Id="rId4" Type="http://schemas.openxmlformats.org/officeDocument/2006/relationships/image" Target="../media/image2.png"/><Relationship Id="rId9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5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91640"/>
            <a:ext cx="1005840" cy="7772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الإخلاء الآمن في المدارس</a:t>
            </a:r>
            <a:endParaRPr lang="en-US" sz="38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وعي الطلبة أثناء الطوارئ أساس السلامة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8"/>
          <p:cNvSpPr/>
          <p:nvPr/>
        </p:nvSpPr>
        <p:spPr>
          <a:xfrm>
            <a:off x="1371600" y="525780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"الإخلاء الآمن لا يعتمد على السرعة فقط، بل على الهدوء والالتزام بالتعليمات"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A.1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 lang="en-US">
              <a:ea typeface="Tajawal"/>
            </a:endParaRPr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 lang="en-US">
              <a:ea typeface="Tajawal"/>
            </a:endParaRPr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 lang="en-US">
              <a:ea typeface="Tajawal"/>
            </a:endParaRPr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/>
                <a:cs typeface="Tajawal" pitchFamily="34" charset="-120"/>
              </a:rPr>
              <a:t>لماذا نتعلم الإخلاء؟</a:t>
            </a:r>
            <a:endParaRPr lang="en-US" sz="2800" dirty="0">
              <a:ea typeface="Tajawal"/>
            </a:endParaRPr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/>
                <a:ea typeface="Tajawal" pitchFamily="34" charset="-122"/>
                <a:cs typeface="Tajawal" pitchFamily="34" charset="-120"/>
              </a:rPr>
              <a:t>الطارئ قد يحدث في أي وقت ويجب الاستعداد له</a:t>
            </a:r>
            <a:endParaRPr lang="en-US" sz="1400" dirty="0">
              <a:latin typeface="Tajawal"/>
            </a:endParaRPr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 lang="en-US">
              <a:latin typeface="Tajawal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 lang="en-US">
              <a:latin typeface="Tajawal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 lang="en-US">
              <a:latin typeface="Tajawal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>
              <a:latin typeface="Tajawal"/>
            </a:endParaRPr>
          </a:p>
        </p:txBody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/>
                <a:ea typeface="Tajawal" pitchFamily="34" charset="-122"/>
                <a:cs typeface="Tajawal" pitchFamily="34" charset="-120"/>
              </a:rPr>
              <a:t>حماية الأرواح</a:t>
            </a:r>
            <a:endParaRPr lang="en-US" sz="1400" dirty="0">
              <a:latin typeface="Tajawal"/>
            </a:endParaRPr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/>
                <a:cs typeface="Tajawal" pitchFamily="34" charset="-120"/>
              </a:rPr>
              <a:t>أولوية </a:t>
            </a:r>
            <a:r>
              <a:rPr lang="en-US" sz="1100" dirty="0">
                <a:solidFill>
                  <a:srgbClr val="555555"/>
                </a:solidFill>
                <a:latin typeface="Abadi" panose="020F0502020204030204" pitchFamily="34" charset="0"/>
                <a:ea typeface="Tajawal"/>
                <a:cs typeface="Tajawal" pitchFamily="34" charset="-120"/>
              </a:rPr>
              <a:t>كل</a:t>
            </a: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/>
                <a:cs typeface="Tajawal" pitchFamily="34" charset="-120"/>
              </a:rPr>
              <a:t> خطة طوارئ</a:t>
            </a:r>
            <a:endParaRPr lang="en-US" sz="1100" dirty="0">
              <a:ea typeface="Tajawal"/>
            </a:endParaRPr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 lang="en-US">
              <a:latin typeface="Tajawal"/>
              <a:ea typeface="Tajawal"/>
            </a:endParaRPr>
          </a:p>
        </p:txBody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 lang="en-US">
              <a:latin typeface="Tajawal"/>
              <a:ea typeface="Tajawal"/>
            </a:endParaRPr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>
              <a:latin typeface="Tajawal"/>
              <a:ea typeface="Tajawal"/>
            </a:endParaRPr>
          </a:p>
        </p:txBody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/>
                <a:ea typeface="Tajawal"/>
                <a:cs typeface="Tajawal" pitchFamily="34" charset="-120"/>
              </a:rPr>
              <a:t>تقليل الإصابات</a:t>
            </a:r>
            <a:endParaRPr lang="en-US" sz="1400" dirty="0">
              <a:latin typeface="Tajawal"/>
              <a:ea typeface="Tajawal"/>
            </a:endParaRPr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/>
                <a:cs typeface="Tajawal" pitchFamily="34" charset="-120"/>
              </a:rPr>
              <a:t>بالاستجابة المنظمة</a:t>
            </a:r>
            <a:endParaRPr lang="en-US" sz="1100" dirty="0">
              <a:ea typeface="Tajawal"/>
            </a:endParaRPr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 lang="en-US">
              <a:latin typeface="Tajawal"/>
            </a:endParaRPr>
          </a:p>
        </p:txBody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 lang="en-US">
              <a:latin typeface="Tajawal"/>
            </a:endParaRPr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>
              <a:latin typeface="Tajawal"/>
            </a:endParaRPr>
          </a:p>
        </p:txBody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/>
                <a:ea typeface="Tajawal" pitchFamily="34" charset="-122"/>
                <a:cs typeface="Tajawal" pitchFamily="34" charset="-120"/>
              </a:rPr>
              <a:t>منع الفوضى</a:t>
            </a:r>
            <a:endParaRPr lang="en-US" sz="1400" dirty="0">
              <a:latin typeface="Tajawal"/>
            </a:endParaRPr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/>
                <a:cs typeface="Tajawal" pitchFamily="34" charset="-120"/>
              </a:rPr>
              <a:t>تجنب التدافع</a:t>
            </a:r>
            <a:endParaRPr lang="en-US" sz="1100" dirty="0">
              <a:ea typeface="Tajawal"/>
            </a:endParaRPr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 lang="en-US">
              <a:latin typeface="Tajawal"/>
            </a:endParaRPr>
          </a:p>
        </p:txBody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 lang="en-US">
              <a:latin typeface="Tajawal"/>
            </a:endParaRPr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>
              <a:latin typeface="Tajawal"/>
            </a:endParaRPr>
          </a:p>
        </p:txBody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/>
                <a:ea typeface="Tajawal" pitchFamily="34" charset="-122"/>
                <a:cs typeface="Tajawal" pitchFamily="34" charset="-120"/>
              </a:rPr>
              <a:t>دعم المعلمين</a:t>
            </a:r>
            <a:endParaRPr lang="en-US" sz="1400" dirty="0">
              <a:latin typeface="Tajawal"/>
            </a:endParaRPr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/>
                <a:cs typeface="Tajawal" pitchFamily="34" charset="-120"/>
              </a:rPr>
              <a:t>في تنظيم الطلبة</a:t>
            </a:r>
            <a:endParaRPr lang="en-US" sz="1100" dirty="0">
              <a:ea typeface="Tajawal"/>
            </a:endParaRPr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 lang="en-US">
              <a:latin typeface="Tajawal"/>
            </a:endParaRPr>
          </a:p>
        </p:txBody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 lang="en-US">
              <a:latin typeface="Tajawal"/>
            </a:endParaRPr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>
              <a:latin typeface="Tajawal"/>
            </a:endParaRPr>
          </a:p>
        </p:txBody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/>
                <a:ea typeface="Tajawal" pitchFamily="34" charset="-122"/>
                <a:cs typeface="Tajawal" pitchFamily="34" charset="-120"/>
              </a:rPr>
              <a:t>تسهيل الطوارئ</a:t>
            </a:r>
            <a:endParaRPr lang="en-US" sz="1400" dirty="0">
              <a:latin typeface="Tajawal"/>
            </a:endParaRPr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/>
                <a:cs typeface="Tajawal" pitchFamily="34" charset="-120"/>
              </a:rPr>
              <a:t>عمل الفرق المختصة</a:t>
            </a:r>
            <a:endParaRPr lang="en-US" sz="1100" dirty="0">
              <a:ea typeface="Tajawal"/>
            </a:endParaRPr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 lang="en-US">
              <a:latin typeface="Tajawal"/>
            </a:endParaRPr>
          </a:p>
        </p:txBody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 lang="en-US">
              <a:latin typeface="Tajawal"/>
            </a:endParaRPr>
          </a:p>
        </p:txBody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>
              <a:latin typeface="Tajawal"/>
            </a:endParaRPr>
          </a:p>
        </p:txBody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/>
                <a:ea typeface="Tajawal" pitchFamily="34" charset="-122"/>
                <a:cs typeface="Tajawal" pitchFamily="34" charset="-120"/>
              </a:rPr>
              <a:t>نقطة التجمع</a:t>
            </a:r>
            <a:endParaRPr lang="en-US" sz="1400" dirty="0">
              <a:latin typeface="Tajawal"/>
            </a:endParaRPr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/>
                <a:cs typeface="Tajawal" pitchFamily="34" charset="-120"/>
              </a:rPr>
              <a:t>التأكد من الجميع</a:t>
            </a:r>
            <a:endParaRPr lang="en-US" sz="1100" dirty="0">
              <a:ea typeface="Tajawal"/>
            </a:endParaRPr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US">
              <a:latin typeface="Tajawal"/>
            </a:endParaRPr>
          </a:p>
        </p:txBody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/>
                <a:ea typeface="Tajawal" pitchFamily="34" charset="-122"/>
                <a:cs typeface="Tajawal" pitchFamily="34" charset="-120"/>
              </a:rPr>
              <a:t>التدريب على الإخلاء يجعلك أكثر استعدادًا وقت الطوارئ</a:t>
            </a:r>
            <a:endParaRPr lang="ar-AE" sz="1200" dirty="0">
              <a:latin typeface="Tajawal"/>
            </a:endParaRPr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>
              <a:ea typeface="Tajawal"/>
            </a:endParaRPr>
          </a:p>
        </p:txBody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>
              <a:ea typeface="Tajawal"/>
            </a:endParaRPr>
          </a:p>
        </p:txBody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/>
                <a:cs typeface="Tajawal" pitchFamily="34" charset="-120"/>
              </a:rPr>
              <a:t>@civildefencead</a:t>
            </a:r>
            <a:endParaRPr lang="en-US" sz="1000" dirty="0">
              <a:ea typeface="Tajawal"/>
            </a:endParaRPr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>
              <a:latin typeface="Tajawal"/>
            </a:endParaRPr>
          </a:p>
        </p:txBody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>
              <a:latin typeface="Tajawal"/>
            </a:endParaRPr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>
              <a:latin typeface="Tajawal"/>
            </a:endParaRPr>
          </a:p>
        </p:txBody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>
              <a:latin typeface="Tajawal"/>
            </a:endParaRPr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>
              <a:ea typeface="Tajawal"/>
            </a:endParaRPr>
          </a:p>
        </p:txBody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/>
                <a:cs typeface="Tajawal" pitchFamily="34" charset="-120"/>
              </a:rPr>
              <a:t>A.1</a:t>
            </a:r>
            <a:endParaRPr lang="en-US" sz="1000" dirty="0">
              <a:ea typeface="Tajawal"/>
            </a:endParaRPr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>
              <a:latin typeface="Tajawal"/>
            </a:endParaRPr>
          </a:p>
        </p:txBody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>
              <a:latin typeface="Tajaw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نحتاج إلى الإخلاء؟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حالات تستدعي مغادرة المبنى المدرسي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56235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سماع إنذار الحريق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440283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2579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وجود دخان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3"/>
          <p:cNvSpPr/>
          <p:nvPr/>
        </p:nvSpPr>
        <p:spPr>
          <a:xfrm>
            <a:off x="824331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6627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حدوث حريق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37947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6"/>
          <p:cNvSpPr/>
          <p:nvPr/>
        </p:nvSpPr>
        <p:spPr>
          <a:xfrm>
            <a:off x="56235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8531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تسرب غاز أو مادة خطرة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21995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19"/>
          <p:cNvSpPr/>
          <p:nvPr/>
        </p:nvSpPr>
        <p:spPr>
          <a:xfrm>
            <a:off x="440283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22579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توجيه من الإدارة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06043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2"/>
          <p:cNvSpPr/>
          <p:nvPr/>
        </p:nvSpPr>
        <p:spPr>
          <a:xfrm>
            <a:off x="824331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6863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06627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أي طارئ يستدعي المغادرة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تنتظر رؤية الخطر، اتبع التعليمات فور سماع الإنذار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A.1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 عند سماع الإنذار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عن النشاط واستجب لتعليمات المعلم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الهدوء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عن الحديث والحركة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استمع لتعليمات المعلم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اترك الحقيبة والأغراض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اصطف مع زملائك بنظام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اخرج بهدوء دون تدافع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أقرب مخرج آمن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توجه إلى نقطة التجمع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الأغراض يمكن تعويضها، أما السلامة فلا تعوّض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A.1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الذي يجب تجنبه أثناء الإخلاء؟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تصرفات تزيد الخطر وتؤخر الخروج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37947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56235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0896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الركض في الممرات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25983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344271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5596" y="310896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26567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دفع الزملاء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3"/>
          <p:cNvSpPr/>
          <p:nvPr/>
        </p:nvSpPr>
        <p:spPr>
          <a:xfrm>
            <a:off x="632307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0896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الرجوع للحقائب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902055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6"/>
          <p:cNvSpPr/>
          <p:nvPr/>
        </p:nvSpPr>
        <p:spPr>
          <a:xfrm>
            <a:off x="920343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86316" y="310896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002639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المصعد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7947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19"/>
          <p:cNvSpPr/>
          <p:nvPr/>
        </p:nvSpPr>
        <p:spPr>
          <a:xfrm>
            <a:off x="56235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236" y="45720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38531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التصوير أثناء الطوارئ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25983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2"/>
          <p:cNvSpPr/>
          <p:nvPr/>
        </p:nvSpPr>
        <p:spPr>
          <a:xfrm>
            <a:off x="344271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25596" y="45720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26567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الخروج من المجموعة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25"/>
          <p:cNvSpPr/>
          <p:nvPr/>
        </p:nvSpPr>
        <p:spPr>
          <a:xfrm>
            <a:off x="632307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57200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فتح الأبواب دون إذن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902055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28"/>
          <p:cNvSpPr/>
          <p:nvPr/>
        </p:nvSpPr>
        <p:spPr>
          <a:xfrm>
            <a:off x="920343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86316" y="457200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1002639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العودة بعد الخروج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قاعدة ذهبية: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اخرج بهدوء، ابقَ مع مجموعتك، ولا تعُد إلى المبنى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A.1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مسارات الإخلاء ومخارج الطوارئ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وُضعت لمساعدة الطلبة على الخروج بأمان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56235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تعرّف على أقرب مخرج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440283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2579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اعرف مخرجًا بديلًا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3"/>
          <p:cNvSpPr/>
          <p:nvPr/>
        </p:nvSpPr>
        <p:spPr>
          <a:xfrm>
            <a:off x="824331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6627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تغلق أبواب الطوارئ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37947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6"/>
          <p:cNvSpPr/>
          <p:nvPr/>
        </p:nvSpPr>
        <p:spPr>
          <a:xfrm>
            <a:off x="56235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8531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تضع الحقائب في الممرات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21995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19"/>
          <p:cNvSpPr/>
          <p:nvPr/>
        </p:nvSpPr>
        <p:spPr>
          <a:xfrm>
            <a:off x="440283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22579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لوحات الإرشاد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06043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2"/>
          <p:cNvSpPr/>
          <p:nvPr/>
        </p:nvSpPr>
        <p:spPr>
          <a:xfrm>
            <a:off x="824331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6863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06627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السلالم فقط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الممر الخالي من العوائق يعني إخلاء أسرع وأكثر أمانًا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A.1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إذا لم تكن داخل الصف وقت الإنذار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تكون في المكتبة أو المقصف أو الممرات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ترجع إلى الصف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22783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11347704" y="331012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11347704" y="3310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22783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توجه لأقرب مخرج آمن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84962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11347704" y="393192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6"/>
          <p:cNvSpPr/>
          <p:nvPr/>
        </p:nvSpPr>
        <p:spPr>
          <a:xfrm>
            <a:off x="11347704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84962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المصعد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19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انضم لأقرب مجموعة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322783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3"/>
          <p:cNvSpPr/>
          <p:nvPr/>
        </p:nvSpPr>
        <p:spPr>
          <a:xfrm>
            <a:off x="5605272" y="331012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5605272" y="3310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322783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أقرب معلم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84962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7"/>
          <p:cNvSpPr/>
          <p:nvPr/>
        </p:nvSpPr>
        <p:spPr>
          <a:xfrm>
            <a:off x="5605272" y="393192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8"/>
          <p:cNvSpPr/>
          <p:nvPr/>
        </p:nvSpPr>
        <p:spPr>
          <a:xfrm>
            <a:off x="5605272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84962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أخبر المسؤول عند نقطة التجمع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سؤال تفاعلي: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إذا كنت في المكتبة وسمعت الإنذار، اخرج من أقرب مخرج ولا تعد للصف</a:t>
            </a:r>
            <a:endParaRPr lang="ar-AE" sz="1200" dirty="0"/>
          </a:p>
        </p:txBody>
      </p:sp>
      <p:sp>
        <p:nvSpPr>
          <p:cNvPr id="36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7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A.1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نقطة التجمع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المكان الآمن خارج المبنى لتجمع الطلبة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7"/>
          <p:cNvSpPr/>
          <p:nvPr/>
        </p:nvSpPr>
        <p:spPr>
          <a:xfrm>
            <a:off x="4846320" y="2697480"/>
            <a:ext cx="6858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8"/>
          <p:cNvSpPr/>
          <p:nvPr/>
        </p:nvSpPr>
        <p:spPr>
          <a:xfrm>
            <a:off x="11338560" y="2766060"/>
            <a:ext cx="274320" cy="27432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11338560" y="27660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0"/>
          <p:cNvSpPr/>
          <p:nvPr/>
        </p:nvSpPr>
        <p:spPr>
          <a:xfrm>
            <a:off x="4983480" y="269748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التأكد من سلامة الجميع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846320" y="3200400"/>
            <a:ext cx="6858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2"/>
          <p:cNvSpPr/>
          <p:nvPr/>
        </p:nvSpPr>
        <p:spPr>
          <a:xfrm>
            <a:off x="11338560" y="3268980"/>
            <a:ext cx="274320" cy="27432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3"/>
          <p:cNvSpPr/>
          <p:nvPr/>
        </p:nvSpPr>
        <p:spPr>
          <a:xfrm>
            <a:off x="11338560" y="32689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4983480" y="320040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معرفة الطلبة المفقودين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4846320" y="3703320"/>
            <a:ext cx="6858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11338560" y="3771900"/>
            <a:ext cx="274320" cy="27432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7"/>
          <p:cNvSpPr/>
          <p:nvPr/>
        </p:nvSpPr>
        <p:spPr>
          <a:xfrm>
            <a:off x="11338560" y="37719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983480" y="370332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الصفوف بعيدًا عن الخطر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4846320" y="4206240"/>
            <a:ext cx="6858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11338560" y="4274820"/>
            <a:ext cx="274320" cy="27432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1"/>
          <p:cNvSpPr/>
          <p:nvPr/>
        </p:nvSpPr>
        <p:spPr>
          <a:xfrm>
            <a:off x="11338560" y="42748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4983480" y="420624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منع العودة العشوائية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4846320" y="4709160"/>
            <a:ext cx="6858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4"/>
          <p:cNvSpPr/>
          <p:nvPr/>
        </p:nvSpPr>
        <p:spPr>
          <a:xfrm>
            <a:off x="11338560" y="4777740"/>
            <a:ext cx="274320" cy="27432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5"/>
          <p:cNvSpPr/>
          <p:nvPr/>
        </p:nvSpPr>
        <p:spPr>
          <a:xfrm>
            <a:off x="11338560" y="4777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4983480" y="470916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مساعدة فرق الطوارئ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4846320" y="5212080"/>
            <a:ext cx="6858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28"/>
          <p:cNvSpPr/>
          <p:nvPr/>
        </p:nvSpPr>
        <p:spPr>
          <a:xfrm>
            <a:off x="11338560" y="5280660"/>
            <a:ext cx="274320" cy="27432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29"/>
          <p:cNvSpPr/>
          <p:nvPr/>
        </p:nvSpPr>
        <p:spPr>
          <a:xfrm>
            <a:off x="11338560" y="52806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Text 30"/>
          <p:cNvSpPr/>
          <p:nvPr/>
        </p:nvSpPr>
        <p:spPr>
          <a:xfrm>
            <a:off x="4983480" y="521208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البقاء حتى السماح بالعودة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ابقَ في نقطة التجمع مع صفك حتى يسمح المسؤول بالعودة</a:t>
            </a:r>
            <a:endParaRPr lang="ar-AE" sz="1200" dirty="0"/>
          </a:p>
        </p:txBody>
      </p:sp>
      <p:sp>
        <p:nvSpPr>
          <p:cNvPr id="38" name="Shape 3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9" name="Image 3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0" name="Shape 3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2" name="Shape 3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3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4" name="Shape 3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3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6" name="Shape 4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A.1</a:t>
            </a:r>
            <a:endParaRPr lang="en-US" sz="1000" dirty="0"/>
          </a:p>
        </p:txBody>
      </p:sp>
      <p:sp>
        <p:nvSpPr>
          <p:cNvPr id="48" name="Shape 4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  <p:pic>
        <p:nvPicPr>
          <p:cNvPr id="50" name="صورة 49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1598" y="2926080"/>
            <a:ext cx="2143125" cy="214312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دور الطالب أثناء الإخلاء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لكل طالب دور في نجاح عملية الإخلاء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الالتزام بالهدوء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اتباع تعليمات المعلم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دفع الزملاء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التوقف في الممرات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العودة للمبنى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البقاء مع الصف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الإبلاغ عن المفقودين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السلوك المسؤول أثناء الإخلاء يحمي الجميع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A.1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دور المعلم والمشرف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توجيه الطلبة وتنظيم خروجهم بأمان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تهدئة الطلبة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توجيه الصف للمخرج الآمن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منع التدافع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التأكد من اتباع المسار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مرافقة الطلبة لنقطة التجمع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حصر الحضور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إبلاغ الإدارة بالملاحظات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اتباع تعليمات المعلم جزء أساسي من سلامتك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A.1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عند وجود دخان أثناء الإخلاء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الدخان قد يعيق الرؤية والتنفس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تدخل ممرًا مليئًا بالدخان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22783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11347704" y="331012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11347704" y="3310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22783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مسارًا بديلًا آمنًا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84962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11347704" y="393192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6"/>
          <p:cNvSpPr/>
          <p:nvPr/>
        </p:nvSpPr>
        <p:spPr>
          <a:xfrm>
            <a:off x="11347704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84962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المعلم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19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تفتح بابًا فيه دخان كثيف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322783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3"/>
          <p:cNvSpPr/>
          <p:nvPr/>
        </p:nvSpPr>
        <p:spPr>
          <a:xfrm>
            <a:off x="5605272" y="331012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5605272" y="3310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322783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مصدر الخطر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84962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7"/>
          <p:cNvSpPr/>
          <p:nvPr/>
        </p:nvSpPr>
        <p:spPr>
          <a:xfrm>
            <a:off x="5605272" y="393192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8"/>
          <p:cNvSpPr/>
          <p:nvPr/>
        </p:nvSpPr>
        <p:spPr>
          <a:xfrm>
            <a:off x="5605272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84962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المسؤول إذا تعذر الخروج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الدخان خطر حتى لو لم تشاهد اللهب</a:t>
            </a:r>
            <a:endParaRPr lang="ar-AE" sz="1200" dirty="0"/>
          </a:p>
        </p:txBody>
      </p:sp>
      <p:sp>
        <p:nvSpPr>
          <p:cNvPr id="36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7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A.1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سمعت الإنذار وأنت في دورات المياه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اخرج من أقرب مخرج آمن وأبلغ المسؤول عند نقطة التجمع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نسيت حقيبتك أو جهازك داخل الصف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ترجع إلى المبنى، السلامة أهم من الأغراض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زميل يركض ويدفع الطلبة أثناء النزول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التدافع وأبلغ المعلم أو المشرف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وصلت لنقطة التجمع وكنت خارج الصف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أخبر المعلم أو المسؤول فورًا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A.1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11201400" y="2706624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2770632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51760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نستخدم المصعد وقت الحريق؟</a:t>
            </a:r>
            <a:endParaRPr lang="ar-AE" sz="1300" dirty="0"/>
          </a:p>
        </p:txBody>
      </p:sp>
      <p:sp>
        <p:nvSpPr>
          <p:cNvPr id="14" name="Text 9"/>
          <p:cNvSpPr/>
          <p:nvPr/>
        </p:nvSpPr>
        <p:spPr>
          <a:xfrm>
            <a:off x="640080" y="2898648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نستخدم السلالم فقط</a:t>
            </a:r>
            <a:endParaRPr lang="ar-AE" sz="1100" dirty="0"/>
          </a:p>
        </p:txBody>
      </p:sp>
      <p:sp>
        <p:nvSpPr>
          <p:cNvPr id="15" name="Shape 10"/>
          <p:cNvSpPr/>
          <p:nvPr/>
        </p:nvSpPr>
        <p:spPr>
          <a:xfrm>
            <a:off x="457200" y="3209544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11201400" y="3310128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3741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255264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نعود للمبنى بعد الخروج لأخذ الحقيبة؟</a:t>
            </a:r>
            <a:endParaRPr lang="ar-AE" sz="1300" dirty="0"/>
          </a:p>
        </p:txBody>
      </p:sp>
      <p:sp>
        <p:nvSpPr>
          <p:cNvPr id="19" name="Text 13"/>
          <p:cNvSpPr/>
          <p:nvPr/>
        </p:nvSpPr>
        <p:spPr>
          <a:xfrm>
            <a:off x="640080" y="3502152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لأن الخطر قد يكون مستمرًا</a:t>
            </a:r>
            <a:endParaRPr lang="ar-AE" sz="1100" dirty="0"/>
          </a:p>
        </p:txBody>
      </p:sp>
      <p:sp>
        <p:nvSpPr>
          <p:cNvPr id="20" name="Shape 14"/>
          <p:cNvSpPr/>
          <p:nvPr/>
        </p:nvSpPr>
        <p:spPr>
          <a:xfrm>
            <a:off x="457200" y="3813048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11201400" y="3913632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977640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3858768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إذا كنت خارج الصف وقت الإنذار؟</a:t>
            </a:r>
            <a:endParaRPr lang="ar-AE" sz="1300" dirty="0"/>
          </a:p>
        </p:txBody>
      </p:sp>
      <p:sp>
        <p:nvSpPr>
          <p:cNvPr id="24" name="Text 17"/>
          <p:cNvSpPr/>
          <p:nvPr/>
        </p:nvSpPr>
        <p:spPr>
          <a:xfrm>
            <a:off x="640080" y="4105656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أتوجه لأقرب مخرج آمن، ثم أبلغ المسؤول في نقطة التجمع</a:t>
            </a:r>
            <a:endParaRPr lang="ar-AE" sz="1100" dirty="0"/>
          </a:p>
        </p:txBody>
      </p:sp>
      <p:sp>
        <p:nvSpPr>
          <p:cNvPr id="25" name="Shape 18"/>
          <p:cNvSpPr/>
          <p:nvPr/>
        </p:nvSpPr>
        <p:spPr>
          <a:xfrm>
            <a:off x="457200" y="4416552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19"/>
          <p:cNvSpPr/>
          <p:nvPr/>
        </p:nvSpPr>
        <p:spPr>
          <a:xfrm>
            <a:off x="11201400" y="4517136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4581144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462272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أين نذهب بعد الإخلاء؟</a:t>
            </a:r>
            <a:endParaRPr lang="ar-AE" sz="1300" dirty="0"/>
          </a:p>
        </p:txBody>
      </p:sp>
      <p:sp>
        <p:nvSpPr>
          <p:cNvPr id="29" name="Text 21"/>
          <p:cNvSpPr/>
          <p:nvPr/>
        </p:nvSpPr>
        <p:spPr>
          <a:xfrm>
            <a:off x="640080" y="4709160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إلى نقطة التجمع المحددة</a:t>
            </a:r>
            <a:endParaRPr lang="ar-AE" sz="1100" dirty="0"/>
          </a:p>
        </p:txBody>
      </p:sp>
      <p:sp>
        <p:nvSpPr>
          <p:cNvPr id="30" name="Shape 22"/>
          <p:cNvSpPr/>
          <p:nvPr/>
        </p:nvSpPr>
        <p:spPr>
          <a:xfrm>
            <a:off x="457200" y="5020056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3"/>
          <p:cNvSpPr/>
          <p:nvPr/>
        </p:nvSpPr>
        <p:spPr>
          <a:xfrm>
            <a:off x="11201400" y="5120640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5184648"/>
            <a:ext cx="237744" cy="237744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40080" y="5065776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س5: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لا نركض أثناء الإخلاء؟</a:t>
            </a:r>
            <a:endParaRPr lang="ar-AE" sz="1300" dirty="0"/>
          </a:p>
        </p:txBody>
      </p:sp>
      <p:sp>
        <p:nvSpPr>
          <p:cNvPr id="34" name="Text 25"/>
          <p:cNvSpPr/>
          <p:nvPr/>
        </p:nvSpPr>
        <p:spPr>
          <a:xfrm>
            <a:off x="640080" y="5312664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لأن الركض قد يسبب التدافع والإصابات</a:t>
            </a:r>
            <a:endParaRPr lang="ar-AE" sz="1100" dirty="0"/>
          </a:p>
        </p:txBody>
      </p:sp>
      <p:sp>
        <p:nvSpPr>
          <p:cNvPr id="35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Image 7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A.1</a:t>
            </a:r>
            <a:endParaRPr lang="en-US" sz="1000" dirty="0"/>
          </a:p>
        </p:txBody>
      </p:sp>
      <p:sp>
        <p:nvSpPr>
          <p:cNvPr id="45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691640"/>
            <a:ext cx="914400" cy="6858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7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الإخلاء الآمن مسؤولية الجميع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اسمع الإنذار • اترك أغراضك • اخرج بهدوء • السلالم فقط • نقطة التجمع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"هدوؤك والتزامك أثناء الإخلاء قد ينقذ حياتك وحياة من حولك"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 err="1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</a:t>
            </a: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 </a:t>
            </a:r>
            <a:r>
              <a:rPr lang="en-US" sz="1000" dirty="0" err="1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أكثر</a:t>
            </a: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 </a:t>
            </a:r>
            <a:r>
              <a:rPr lang="en-US" sz="1000" dirty="0" err="1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أمنا</a:t>
            </a: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 </a:t>
            </a:r>
            <a:r>
              <a:rPr lang="en-US" sz="1000" dirty="0" err="1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A.1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555D62A-A967-1088-97CF-55A80010E460}"/>
              </a:ext>
            </a:extLst>
          </p:cNvPr>
          <p:cNvSpPr txBox="1"/>
          <p:nvPr/>
        </p:nvSpPr>
        <p:spPr>
          <a:xfrm>
            <a:off x="8458450" y="6473166"/>
            <a:ext cx="34196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By : Ali Alkaabi – Hasan </a:t>
            </a:r>
            <a:r>
              <a:rPr lang="en-US" dirty="0" err="1"/>
              <a:t>Alahbabi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1117</Words>
  <Application>Microsoft Office PowerPoint</Application>
  <PresentationFormat>Widescreen</PresentationFormat>
  <Paragraphs>245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Abadi</vt:lpstr>
      <vt:lpstr>Arial</vt:lpstr>
      <vt:lpstr>Tajawal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الإخلاء الآمن في المدارس</dc:title>
  <dc:subject>PptxGenJS Presentation</dc:subject>
  <dc:creator>هيئة أبوظبي للدفاع المدني</dc:creator>
  <cp:lastModifiedBy>Ali Alkaabi</cp:lastModifiedBy>
  <cp:revision>2</cp:revision>
  <dcterms:created xsi:type="dcterms:W3CDTF">2026-05-06T11:04:56Z</dcterms:created>
  <dcterms:modified xsi:type="dcterms:W3CDTF">2026-06-08T08:09:36Z</dcterms:modified>
</cp:coreProperties>
</file>