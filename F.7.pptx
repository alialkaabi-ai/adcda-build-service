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1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104888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4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.png"/><Relationship Id="rId7" Type="http://schemas.openxmlformats.org/officeDocument/2006/relationships/image" Target="../media/image19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openxmlformats.org/officeDocument/2006/relationships/image" Target="../media/image22.png"/><Relationship Id="rId4" Type="http://schemas.openxmlformats.org/officeDocument/2006/relationships/image" Target="../media/image2.png"/><Relationship Id="rId9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11" Type="http://schemas.openxmlformats.org/officeDocument/2006/relationships/image" Target="../media/image26.png"/><Relationship Id="rId5" Type="http://schemas.openxmlformats.org/officeDocument/2006/relationships/image" Target="../media/image12.png"/><Relationship Id="rId10" Type="http://schemas.openxmlformats.org/officeDocument/2006/relationships/image" Target="../media/image25.png"/><Relationship Id="rId4" Type="http://schemas.openxmlformats.org/officeDocument/2006/relationships/image" Target="../media/image2.png"/><Relationship Id="rId9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11" Type="http://schemas.openxmlformats.org/officeDocument/2006/relationships/image" Target="../media/image14.png"/><Relationship Id="rId5" Type="http://schemas.openxmlformats.org/officeDocument/2006/relationships/image" Target="../media/image12.png"/><Relationship Id="rId10" Type="http://schemas.openxmlformats.org/officeDocument/2006/relationships/image" Target="../media/image30.png"/><Relationship Id="rId4" Type="http://schemas.openxmlformats.org/officeDocument/2006/relationships/image" Target="../media/image2.png"/><Relationship Id="rId9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11" Type="http://schemas.openxmlformats.org/officeDocument/2006/relationships/image" Target="../media/image4.png"/><Relationship Id="rId5" Type="http://schemas.openxmlformats.org/officeDocument/2006/relationships/image" Target="../media/image12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2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11" Type="http://schemas.openxmlformats.org/officeDocument/2006/relationships/image" Target="../media/image4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2.png"/><Relationship Id="rId9" Type="http://schemas.openxmlformats.org/officeDocument/2006/relationships/image" Target="../media/image3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12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11" Type="http://schemas.openxmlformats.org/officeDocument/2006/relationships/image" Target="../media/image14.png"/><Relationship Id="rId5" Type="http://schemas.openxmlformats.org/officeDocument/2006/relationships/image" Target="../media/image32.png"/><Relationship Id="rId10" Type="http://schemas.openxmlformats.org/officeDocument/2006/relationships/image" Target="../media/image31.png"/><Relationship Id="rId4" Type="http://schemas.openxmlformats.org/officeDocument/2006/relationships/image" Target="../media/image2.png"/><Relationship Id="rId9" Type="http://schemas.openxmlformats.org/officeDocument/2006/relationships/image" Target="../media/image4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1.png"/><Relationship Id="rId7" Type="http://schemas.openxmlformats.org/officeDocument/2006/relationships/image" Target="../media/image26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11" Type="http://schemas.openxmlformats.org/officeDocument/2006/relationships/image" Target="../media/image14.png"/><Relationship Id="rId5" Type="http://schemas.openxmlformats.org/officeDocument/2006/relationships/image" Target="../media/image16.png"/><Relationship Id="rId10" Type="http://schemas.openxmlformats.org/officeDocument/2006/relationships/image" Target="../media/image40.png"/><Relationship Id="rId4" Type="http://schemas.openxmlformats.org/officeDocument/2006/relationships/image" Target="../media/image2.png"/><Relationship Id="rId9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5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28.png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حرائق البطاريات</a:t>
            </a:r>
            <a:endParaRPr lang="en-US" sz="38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شحن آمن… واستخدام مسؤول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8"/>
          <p:cNvSpPr/>
          <p:nvPr/>
        </p:nvSpPr>
        <p:spPr>
          <a:xfrm>
            <a:off x="1371600" y="525780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"البطاريات جزء من حياتنا اليومية، لكن سوء استخدامها أو شحنها بطريقة غير آمنة قد يسبب مخاطر خطيرة"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F.7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نهتم بسلامة البطاريات؟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البطاريات قد تتحول لمصدر خطر عند التلف أو الشحن غير الآمن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4937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9509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95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452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9"/>
          <p:cNvSpPr/>
          <p:nvPr/>
        </p:nvSpPr>
        <p:spPr>
          <a:xfrm>
            <a:off x="5852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الحرائق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852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السبب الأخطر للبطاريات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36829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2"/>
          <p:cNvSpPr/>
          <p:nvPr/>
        </p:nvSpPr>
        <p:spPr>
          <a:xfrm>
            <a:off x="282549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409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261975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4"/>
          <p:cNvSpPr/>
          <p:nvPr/>
        </p:nvSpPr>
        <p:spPr>
          <a:xfrm>
            <a:off x="245973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ارتفاع الحرارة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45973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أثناء الشحن والاستخدام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24281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7"/>
          <p:cNvSpPr/>
          <p:nvPr/>
        </p:nvSpPr>
        <p:spPr>
          <a:xfrm>
            <a:off x="470001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861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449427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/>
          <p:nvPr/>
        </p:nvSpPr>
        <p:spPr>
          <a:xfrm>
            <a:off x="433425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الأطفال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433425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 البطاريات الصغيرة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11733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2"/>
          <p:cNvSpPr/>
          <p:nvPr/>
        </p:nvSpPr>
        <p:spPr>
          <a:xfrm>
            <a:off x="657453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313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636879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24"/>
          <p:cNvSpPr/>
          <p:nvPr/>
        </p:nvSpPr>
        <p:spPr>
          <a:xfrm>
            <a:off x="620877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الممتلكات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620877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والأجهزة المنزلية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799185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7"/>
          <p:cNvSpPr/>
          <p:nvPr/>
        </p:nvSpPr>
        <p:spPr>
          <a:xfrm>
            <a:off x="844905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765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824331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29"/>
          <p:cNvSpPr/>
          <p:nvPr/>
        </p:nvSpPr>
        <p:spPr>
          <a:xfrm>
            <a:off x="808329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السلوك الآمن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808329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أثناء الشحن والتخزين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98663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1" name="Shape 32"/>
          <p:cNvSpPr/>
          <p:nvPr/>
        </p:nvSpPr>
        <p:spPr>
          <a:xfrm>
            <a:off x="103235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52176" y="3200400"/>
            <a:ext cx="457200" cy="457200"/>
          </a:xfrm>
          <a:prstGeom prst="rect">
            <a:avLst/>
          </a:prstGeom>
        </p:spPr>
      </p:pic>
      <p:sp>
        <p:nvSpPr>
          <p:cNvPr id="43" name="Shape 33"/>
          <p:cNvSpPr/>
          <p:nvPr/>
        </p:nvSpPr>
        <p:spPr>
          <a:xfrm>
            <a:off x="101178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34"/>
          <p:cNvSpPr/>
          <p:nvPr/>
        </p:nvSpPr>
        <p:spPr>
          <a:xfrm>
            <a:off x="99578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اختيار المعتمد</a:t>
            </a:r>
            <a:endParaRPr lang="en-US" sz="1400" dirty="0"/>
          </a:p>
        </p:txBody>
      </p:sp>
      <p:sp>
        <p:nvSpPr>
          <p:cNvPr id="45" name="Text 35"/>
          <p:cNvSpPr/>
          <p:nvPr/>
        </p:nvSpPr>
        <p:spPr>
          <a:xfrm>
            <a:off x="99578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تجنّب المنتجات غير الموثوقة</a:t>
            </a:r>
            <a:endParaRPr lang="en-US" sz="1100" dirty="0"/>
          </a:p>
        </p:txBody>
      </p:sp>
      <p:sp>
        <p:nvSpPr>
          <p:cNvPr id="46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الاستخدام الصحيح يبدأ من اختيار المنتج الآمن واتباع تعليمات الشركة</a:t>
            </a:r>
            <a:endParaRPr lang="ar-AE" sz="1200" dirty="0"/>
          </a:p>
        </p:txBody>
      </p:sp>
      <p:sp>
        <p:nvSpPr>
          <p:cNvPr id="48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9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4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6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F.7</a:t>
            </a:r>
            <a:endParaRPr lang="en-US" sz="1000" dirty="0"/>
          </a:p>
        </p:txBody>
      </p:sp>
      <p:sp>
        <p:nvSpPr>
          <p:cNvPr id="58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أبرز مخاطر البطاريات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تظهر عند استخدام بطارية تالفة أو شاحن غير مناسب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ارتفاع حرارة البطارية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انتفاخ البطارية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تسرب مواد كيميائية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شواحن غير معتمدة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الشحن على أسطح قابلة للاشتعال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ترك الشحن دون متابعة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التعرض للحرارة المباشرة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علامات التلف أو السخونة غير الطبيعية لا يجب تجاهلها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F.7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الشحن الآمن للأجهزة الإلكترونية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الشحن يحتاج موقعًا مناسبًا ومتابعة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شاحنًا أصليًا أو معتمدًا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اشحن على سطح ثابت غير قابل للاشتعال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تضع الجهاز تحت الوسائد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تجنّب الشحن قرب مصادر الحرارة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افصل الشاحن بعد اكتمال الشحن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شاحنًا تالفًا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الاستخدام عند سخونة غير طبيعية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الشحن الآمن يقلل خطر ارتفاع الحرارة والحرائق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F.7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مؤشرات تلف البطارية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علامات تشير إلى أن البطارية غير آمنة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انتفاخ البطارية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سخونة غير طبيعية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رائحة احتراق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تسرب سوائل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تشققات أو تلف ظاهر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صعوبة في الشحن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صوت غير طبيعي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35"/>
          <p:cNvSpPr/>
          <p:nvPr/>
        </p:nvSpPr>
        <p:spPr>
          <a:xfrm>
            <a:off x="5605272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6"/>
          <p:cNvSpPr/>
          <p:nvPr/>
        </p:nvSpPr>
        <p:spPr>
          <a:xfrm>
            <a:off x="5605272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8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594360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توقف مفاجئ متكرر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9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الاستخدام، افصل الجهاز بأمان، وأبعده عن المواد القابلة للاشتعال</a:t>
            </a:r>
            <a:endParaRPr lang="ar-AE" sz="1200" dirty="0"/>
          </a:p>
        </p:txBody>
      </p:sp>
      <p:sp>
        <p:nvSpPr>
          <p:cNvPr id="44" name="Shape 4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4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F.7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5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التخزين الآمن للبطاريات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التخزين الصحيح يقلل احتمالية التلف وارتفاع الحرارة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مكان جاف وبارد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بعيدًا عن أشعة الشمس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بعيدًا عن القابل للاشتعال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تخلط السليمة مع التالفة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بعيدًا عن متناول الأطفال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تخلط المعدنيات معها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الشركة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التخزين العشوائي قد يحوّل البطارية إلى مصدر خطر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F.7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سلامة الأطفال من البطاريات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البطاريات الصغيرة قد تشكل خطرًا على الأطفال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D1FAE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1B873F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697480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9"/>
          <p:cNvSpPr/>
          <p:nvPr/>
        </p:nvSpPr>
        <p:spPr>
          <a:xfrm>
            <a:off x="11320272" y="273405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0"/>
          <p:cNvSpPr/>
          <p:nvPr/>
        </p:nvSpPr>
        <p:spPr>
          <a:xfrm>
            <a:off x="11320272" y="27340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697480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احفظ البطاريات في مكان مغلق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136392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11320272" y="317296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4"/>
          <p:cNvSpPr/>
          <p:nvPr/>
        </p:nvSpPr>
        <p:spPr>
          <a:xfrm>
            <a:off x="11320272" y="31729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136392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إغلاق غطاء البطاريات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575304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17"/>
          <p:cNvSpPr/>
          <p:nvPr/>
        </p:nvSpPr>
        <p:spPr>
          <a:xfrm>
            <a:off x="11320272" y="36118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18"/>
          <p:cNvSpPr/>
          <p:nvPr/>
        </p:nvSpPr>
        <p:spPr>
          <a:xfrm>
            <a:off x="11320272" y="3611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575304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البطاريات على الطاولات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4014216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1"/>
          <p:cNvSpPr/>
          <p:nvPr/>
        </p:nvSpPr>
        <p:spPr>
          <a:xfrm>
            <a:off x="11320272" y="405079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2"/>
          <p:cNvSpPr/>
          <p:nvPr/>
        </p:nvSpPr>
        <p:spPr>
          <a:xfrm>
            <a:off x="11320272" y="4050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4014216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الشواحن عن الأطفال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453128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5"/>
          <p:cNvSpPr/>
          <p:nvPr/>
        </p:nvSpPr>
        <p:spPr>
          <a:xfrm>
            <a:off x="11320272" y="4489704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26"/>
          <p:cNvSpPr/>
          <p:nvPr/>
        </p:nvSpPr>
        <p:spPr>
          <a:xfrm>
            <a:off x="11320272" y="4489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453128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تسمح للأطفال باللعب بها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4892040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29"/>
          <p:cNvSpPr/>
          <p:nvPr/>
        </p:nvSpPr>
        <p:spPr>
          <a:xfrm>
            <a:off x="11320272" y="492861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0"/>
          <p:cNvSpPr/>
          <p:nvPr/>
        </p:nvSpPr>
        <p:spPr>
          <a:xfrm>
            <a:off x="11320272" y="4928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4892040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المساعدة عند الابتلاع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846320" y="5330952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33"/>
          <p:cNvSpPr/>
          <p:nvPr/>
        </p:nvSpPr>
        <p:spPr>
          <a:xfrm>
            <a:off x="11320272" y="536752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4"/>
          <p:cNvSpPr/>
          <p:nvPr/>
        </p:nvSpPr>
        <p:spPr>
          <a:xfrm>
            <a:off x="11320272" y="5367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4983480" y="5330952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علّمهم خطورة البطاريات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البطاريات الصغيرة ليست ألعابًا، ويجب حفظها بعيدًا عن الأطفال</a:t>
            </a:r>
            <a:endParaRPr lang="ar-AE" sz="1200" dirty="0"/>
          </a:p>
        </p:txBody>
      </p:sp>
      <p:sp>
        <p:nvSpPr>
          <p:cNvPr id="44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5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F.7</a:t>
            </a:r>
            <a:endParaRPr lang="en-US" sz="1000" dirty="0"/>
          </a:p>
        </p:txBody>
      </p:sp>
      <p:sp>
        <p:nvSpPr>
          <p:cNvPr id="54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بطاريات الدراجات والأجهزة الكبيرة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تحتاج عناية إضافية بسبب حجمها وقدرتها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الشاحن المخصص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تشحن في ممرات الخروج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أبعدها عن الأثاث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افحص بعد السقوط أو التلف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الشحن دون متابعة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تعدّل البطارية أو الشاحن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احفظها في موقع آمن مهوّى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35"/>
          <p:cNvSpPr/>
          <p:nvPr/>
        </p:nvSpPr>
        <p:spPr>
          <a:xfrm>
            <a:off x="5605272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6"/>
          <p:cNvSpPr/>
          <p:nvPr/>
        </p:nvSpPr>
        <p:spPr>
          <a:xfrm>
            <a:off x="5605272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8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594360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افصل الشحن عند الإكتمال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9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تجعل بطارية كبيرة قيد الشحن عائقًا أمام مسار الخروج</a:t>
            </a:r>
            <a:endParaRPr lang="ar-AE" sz="1200" dirty="0"/>
          </a:p>
        </p:txBody>
      </p:sp>
      <p:sp>
        <p:nvSpPr>
          <p:cNvPr id="44" name="Shape 4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4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F.7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5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التخلص الآمن من البطاريات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التخلص غير السليم قد يسبب حرائق ومخاطر بيئية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ترمها في النفايات العادية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نقاط إعادة التدوير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غطِّ الأطراف بشريط عازل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تثقب البطارية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تفتحها أو تفككها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احفظ التالفة في مكان آمن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المختصين عن الكبيرة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للموظفين: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البطارية التالفة تحتاج إلى تعامل حذر حتى بعد التوقف عن استخدامها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F.7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حرائق الشحن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اختر موقع الشحن المناسب وتابع الجهاز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37947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56235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3182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اشحن في مكان جيد التهوية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21995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440283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5716" y="313182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22579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تجنّب الشحن على الأرائك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806043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824331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6196" y="313182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06627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تشحن قرب القابل للاشتعال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37947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56235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236" y="468630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38531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تغطِّ الأجهزة أثناء الشحن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21995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440283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85716" y="46863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22579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شاحنًا غير مناسب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806043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824331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26196" y="46863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906627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افصل عند سخونة أو رائحة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اختر مكان الشحن كما تختار مكانًا آمنًا لأي مصدر حرارة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F.7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الفئات الأكثر عرضة لمخاطر البطاريات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بعض الفئات تحتاج إلى عناية إضافية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37947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562356" y="290322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086100"/>
            <a:ext cx="411480" cy="41148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76756" y="27432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الأطفال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476756" y="31729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خطر الابتلاع واللعب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21995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1"/>
          <p:cNvSpPr/>
          <p:nvPr/>
        </p:nvSpPr>
        <p:spPr>
          <a:xfrm>
            <a:off x="4402836" y="290322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5716" y="3086100"/>
            <a:ext cx="411480" cy="41148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317236" y="27432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كبار السن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5317236" y="31729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صعوبة كشف العلامات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806043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5"/>
          <p:cNvSpPr/>
          <p:nvPr/>
        </p:nvSpPr>
        <p:spPr>
          <a:xfrm>
            <a:off x="8243316" y="290322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6196" y="3086100"/>
            <a:ext cx="411480" cy="41148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9157716" y="27432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أصحاب الهمم</a:t>
            </a:r>
            <a:endParaRPr lang="en-US" sz="1400" dirty="0"/>
          </a:p>
        </p:txBody>
      </p:sp>
      <p:sp>
        <p:nvSpPr>
          <p:cNvPr id="24" name="Text 17"/>
          <p:cNvSpPr/>
          <p:nvPr/>
        </p:nvSpPr>
        <p:spPr>
          <a:xfrm>
            <a:off x="9157716" y="31729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اعتماد على الأجهزة الطبية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379476" y="411480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19"/>
          <p:cNvSpPr/>
          <p:nvPr/>
        </p:nvSpPr>
        <p:spPr>
          <a:xfrm>
            <a:off x="562356" y="441198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236" y="4594860"/>
            <a:ext cx="411480" cy="41148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1476756" y="42519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ركاب الدراجات الكهربائية</a:t>
            </a:r>
            <a:endParaRPr lang="en-US" sz="1400" dirty="0"/>
          </a:p>
        </p:txBody>
      </p:sp>
      <p:sp>
        <p:nvSpPr>
          <p:cNvPr id="29" name="Text 21"/>
          <p:cNvSpPr/>
          <p:nvPr/>
        </p:nvSpPr>
        <p:spPr>
          <a:xfrm>
            <a:off x="1476756" y="468172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تعامل يومي مع بطاريات كبيرة</a:t>
            </a:r>
            <a:endParaRPr lang="en-US" sz="1100" dirty="0"/>
          </a:p>
        </p:txBody>
      </p:sp>
      <p:sp>
        <p:nvSpPr>
          <p:cNvPr id="30" name="Shape 22"/>
          <p:cNvSpPr/>
          <p:nvPr/>
        </p:nvSpPr>
        <p:spPr>
          <a:xfrm>
            <a:off x="4219956" y="411480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3"/>
          <p:cNvSpPr/>
          <p:nvPr/>
        </p:nvSpPr>
        <p:spPr>
          <a:xfrm>
            <a:off x="4402836" y="441198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85716" y="4594860"/>
            <a:ext cx="411480" cy="411480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5317236" y="42519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مستخدمو الأجهزة المنزلية</a:t>
            </a:r>
            <a:endParaRPr lang="en-US" sz="1400" dirty="0"/>
          </a:p>
        </p:txBody>
      </p:sp>
      <p:sp>
        <p:nvSpPr>
          <p:cNvPr id="34" name="Text 25"/>
          <p:cNvSpPr/>
          <p:nvPr/>
        </p:nvSpPr>
        <p:spPr>
          <a:xfrm>
            <a:off x="5317236" y="468172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متابعة شحن مستمرة</a:t>
            </a:r>
            <a:endParaRPr lang="en-US" sz="1100" dirty="0"/>
          </a:p>
        </p:txBody>
      </p:sp>
      <p:sp>
        <p:nvSpPr>
          <p:cNvPr id="35" name="Shape 26"/>
          <p:cNvSpPr/>
          <p:nvPr/>
        </p:nvSpPr>
        <p:spPr>
          <a:xfrm>
            <a:off x="8060436" y="411480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Shape 27"/>
          <p:cNvSpPr/>
          <p:nvPr/>
        </p:nvSpPr>
        <p:spPr>
          <a:xfrm>
            <a:off x="8243316" y="441198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7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26196" y="4594860"/>
            <a:ext cx="411480" cy="411480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9157716" y="42519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ورش الإصلاح</a:t>
            </a:r>
            <a:endParaRPr lang="en-US" sz="1400" dirty="0"/>
          </a:p>
        </p:txBody>
      </p:sp>
      <p:sp>
        <p:nvSpPr>
          <p:cNvPr id="39" name="Text 29"/>
          <p:cNvSpPr/>
          <p:nvPr/>
        </p:nvSpPr>
        <p:spPr>
          <a:xfrm>
            <a:off x="9157716" y="468172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تعامل مع بطاريات تالفة</a:t>
            </a:r>
            <a:endParaRPr lang="en-US" sz="1100" dirty="0"/>
          </a:p>
        </p:txBody>
      </p:sp>
      <p:sp>
        <p:nvSpPr>
          <p:cNvPr id="40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السلوك الآمن يحمي كل فئة من المخاطر المرتبطة بها</a:t>
            </a:r>
            <a:endParaRPr lang="ar-AE" sz="1200" dirty="0"/>
          </a:p>
        </p:txBody>
      </p:sp>
      <p:sp>
        <p:nvSpPr>
          <p:cNvPr id="42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3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4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8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0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F.7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سخونة البطارية أو ظهور دخان؟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تصرّف بسرعة وحذر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37947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56235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0896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استخدام الجهاز فورًا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25983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344271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5596" y="310896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26567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افصل الشاحن إن كان آمنًا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632307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0896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الجهاز عن المواد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902055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920343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86316" y="310896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002639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البطارية الساخنة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7947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56235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5236" y="45720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38531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تضع الجهاز تحت الماء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325983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344271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25596" y="45720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426567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الموجودين عن الموقع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614019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5"/>
          <p:cNvSpPr/>
          <p:nvPr/>
        </p:nvSpPr>
        <p:spPr>
          <a:xfrm>
            <a:off x="632307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05956" y="457200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14603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اخرج لمكان آمن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902055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9" name="Shape 28"/>
          <p:cNvSpPr/>
          <p:nvPr/>
        </p:nvSpPr>
        <p:spPr>
          <a:xfrm>
            <a:off x="920343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86316" y="4572000"/>
            <a:ext cx="320040" cy="32004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1002639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الخطر</a:t>
            </a:r>
            <a:endParaRPr lang="en-US" sz="1300" dirty="0"/>
          </a:p>
        </p:txBody>
      </p:sp>
      <p:sp>
        <p:nvSpPr>
          <p:cNvPr id="42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تحاول معالجة بطارية تالفة أو ساخنة بطريقة عشوائية</a:t>
            </a:r>
            <a:endParaRPr lang="ar-AE" sz="1200" dirty="0"/>
          </a:p>
        </p:txBody>
      </p:sp>
      <p:sp>
        <p:nvSpPr>
          <p:cNvPr id="44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5" name="Image 10" descr="/home/claude/assets/social_icon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F.7</a:t>
            </a:r>
            <a:endParaRPr lang="en-US" sz="1000" dirty="0"/>
          </a:p>
        </p:txBody>
      </p:sp>
      <p:sp>
        <p:nvSpPr>
          <p:cNvPr id="54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حالات خاصة في استخدام البطاريات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بعض الاستخدامات تستدعي حذرًا إضافيًا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بطاريات الدراجات الكهربائية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بطاريات السكوتر والألعاب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البطاريات في الرحلات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البطاريات الاحتياطية للشحن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البطاريات في درجات حرارة عالية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البطاريات بعد السقوط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بطاريات الأجهزة الطبية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كل بطارية لها بيئة استخدام مناسبة يجب الالتزام بها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F.7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التواصل والإبلاغ عند حريق بطارية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البلاغ الواضح يسرّع وصول المساعدة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1005840" y="2606040"/>
            <a:ext cx="1828800" cy="1828800"/>
          </a:xfrm>
          <a:prstGeom prst="ellipse">
            <a:avLst/>
          </a:prstGeom>
          <a:solidFill>
            <a:srgbClr val="DC262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1170432" y="2770632"/>
            <a:ext cx="1499616" cy="149961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1005840" y="29718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999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1005840" y="36393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EMERGENCY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3200400" y="2788920"/>
            <a:ext cx="85496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762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1"/>
          <p:cNvSpPr/>
          <p:nvPr/>
        </p:nvSpPr>
        <p:spPr>
          <a:xfrm>
            <a:off x="3383280" y="2834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مثال على بلاغ واضح: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3383280" y="32004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"يوجد دخان من بطارية دراجة كهربائية في الطابق الثاني، وتم إخلاء الموقع"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6235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4"/>
          <p:cNvSpPr/>
          <p:nvPr/>
        </p:nvSpPr>
        <p:spPr>
          <a:xfrm>
            <a:off x="74523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" y="4823460"/>
            <a:ext cx="320040" cy="32004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56819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حدد الموقع بدقة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335127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" name="Shape 17"/>
          <p:cNvSpPr/>
          <p:nvPr/>
        </p:nvSpPr>
        <p:spPr>
          <a:xfrm>
            <a:off x="353415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7036" y="4823460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35711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اذكر نوع الجهاز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614019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20"/>
          <p:cNvSpPr/>
          <p:nvPr/>
        </p:nvSpPr>
        <p:spPr>
          <a:xfrm>
            <a:off x="632307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4823460"/>
            <a:ext cx="320040" cy="32004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714603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المصابين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892911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Shape 23"/>
          <p:cNvSpPr/>
          <p:nvPr/>
        </p:nvSpPr>
        <p:spPr>
          <a:xfrm>
            <a:off x="911199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94876" y="4823460"/>
            <a:ext cx="320040" cy="32004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993495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تجنّب نشر معلومات غير مؤكدة</a:t>
            </a:r>
            <a:endParaRPr lang="en-US" sz="1300" dirty="0"/>
          </a:p>
        </p:txBody>
      </p:sp>
      <p:sp>
        <p:nvSpPr>
          <p:cNvPr id="33" name="Shape 25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26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البلاغ الدقيق ينقذ الأرواح ويسرّع وصول المساعدة</a:t>
            </a:r>
            <a:endParaRPr lang="ar-AE" sz="1200" dirty="0"/>
          </a:p>
        </p:txBody>
      </p:sp>
      <p:sp>
        <p:nvSpPr>
          <p:cNvPr id="35" name="Shape 27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6" name="Image 6" descr="/home/claude/assets/social_icon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29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9" name="Shape 30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1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1" name="Shape 32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33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3" name="Shape 34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35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F.7</a:t>
            </a:r>
            <a:endParaRPr lang="en-US" sz="1000" dirty="0"/>
          </a:p>
        </p:txBody>
      </p:sp>
      <p:sp>
        <p:nvSpPr>
          <p:cNvPr id="45" name="Shape 36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37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في سلامة البطاريات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0"/>
          <p:cNvSpPr/>
          <p:nvPr/>
        </p:nvSpPr>
        <p:spPr>
          <a:xfrm>
            <a:off x="11320272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شواحن معتمدة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3"/>
          <p:cNvSpPr/>
          <p:nvPr/>
        </p:nvSpPr>
        <p:spPr>
          <a:xfrm>
            <a:off x="11320272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افحص قبل الاستخدام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6"/>
          <p:cNvSpPr/>
          <p:nvPr/>
        </p:nvSpPr>
        <p:spPr>
          <a:xfrm>
            <a:off x="11320272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اشحن على سطح آمن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19"/>
          <p:cNvSpPr/>
          <p:nvPr/>
        </p:nvSpPr>
        <p:spPr>
          <a:xfrm>
            <a:off x="11320272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البطاريات عن الحرارة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/>
          <p:cNvSpPr/>
          <p:nvPr/>
        </p:nvSpPr>
        <p:spPr>
          <a:xfrm>
            <a:off x="11320272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خزّنها بعيدًا عن الأطفال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5"/>
          <p:cNvSpPr/>
          <p:nvPr/>
        </p:nvSpPr>
        <p:spPr>
          <a:xfrm>
            <a:off x="11320272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تخلّص منها بطريقة آمنة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1320272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28"/>
          <p:cNvSpPr/>
          <p:nvPr/>
        </p:nvSpPr>
        <p:spPr>
          <a:xfrm>
            <a:off x="11320272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6336792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الحاجة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1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2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623560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4"/>
          <p:cNvSpPr/>
          <p:nvPr/>
        </p:nvSpPr>
        <p:spPr>
          <a:xfrm>
            <a:off x="562356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بطارية منتفخة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7"/>
          <p:cNvSpPr/>
          <p:nvPr/>
        </p:nvSpPr>
        <p:spPr>
          <a:xfrm>
            <a:off x="5623560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تشحن تحت الوسائد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0"/>
          <p:cNvSpPr/>
          <p:nvPr/>
        </p:nvSpPr>
        <p:spPr>
          <a:xfrm>
            <a:off x="5623560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شاحنًا متضررًا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3"/>
          <p:cNvSpPr/>
          <p:nvPr/>
        </p:nvSpPr>
        <p:spPr>
          <a:xfrm>
            <a:off x="5623560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تشحن قرب القابل للاشتعال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6"/>
          <p:cNvSpPr/>
          <p:nvPr/>
        </p:nvSpPr>
        <p:spPr>
          <a:xfrm>
            <a:off x="562356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تفكّك البطارية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5623560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9"/>
          <p:cNvSpPr/>
          <p:nvPr/>
        </p:nvSpPr>
        <p:spPr>
          <a:xfrm>
            <a:off x="5623560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4" name="Text 50"/>
          <p:cNvSpPr/>
          <p:nvPr/>
        </p:nvSpPr>
        <p:spPr>
          <a:xfrm>
            <a:off x="640080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تتجاهل الدخان أو السخونة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5623560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Text 52"/>
          <p:cNvSpPr/>
          <p:nvPr/>
        </p:nvSpPr>
        <p:spPr>
          <a:xfrm>
            <a:off x="5623560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57" name="Text 53"/>
          <p:cNvSpPr/>
          <p:nvPr/>
        </p:nvSpPr>
        <p:spPr>
          <a:xfrm>
            <a:off x="640080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تتركها دون متابعة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59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60" name="Shape 5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ext 5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Text 5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64" name="Shape 5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5" name="Text 6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6" name="Shape 6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7" name="Text 6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F.7</a:t>
            </a:r>
            <a:endParaRPr lang="en-US" sz="1000" dirty="0"/>
          </a:p>
        </p:txBody>
      </p:sp>
      <p:sp>
        <p:nvSpPr>
          <p:cNvPr id="68" name="Shape 6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9" name="Text 6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لاحظت أن بطارية جهاز إلكتروني منتفخة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توقف عن استخدام الجهاز، ضعه بموقع آمن، واطلب فحصه من مختص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أحدهم يشحن جهازًا تحت الوسادة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هذا السلوك وانقل الجهاز إلى سطح ثابت وآمن مهوّى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شاحن الجهاز متشقّق وعليه علامات تلف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توقف عن استخدامه واستبدله بشاحن معتمد ومناسب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لاحظت دخانًا من جهاز أثناء الشحن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افصل الكهرباء بأمان، ابتعد، واتصل بالطوارئ إن استمر الخطر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F.7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457200" y="2606040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11201400" y="2706624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2770632"/>
            <a:ext cx="237744" cy="2377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51760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استخدام بطارية منتفخة؟</a:t>
            </a:r>
            <a:endParaRPr lang="ar-AE" sz="1300" dirty="0"/>
          </a:p>
        </p:txBody>
      </p:sp>
      <p:sp>
        <p:nvSpPr>
          <p:cNvPr id="14" name="Text 9"/>
          <p:cNvSpPr/>
          <p:nvPr/>
        </p:nvSpPr>
        <p:spPr>
          <a:xfrm>
            <a:off x="640080" y="2898648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يجب التوقف عن استخدامها فورًا</a:t>
            </a:r>
            <a:endParaRPr lang="ar-AE" sz="1100" dirty="0"/>
          </a:p>
        </p:txBody>
      </p:sp>
      <p:sp>
        <p:nvSpPr>
          <p:cNvPr id="15" name="Shape 10"/>
          <p:cNvSpPr/>
          <p:nvPr/>
        </p:nvSpPr>
        <p:spPr>
          <a:xfrm>
            <a:off x="457200" y="3209544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1"/>
          <p:cNvSpPr/>
          <p:nvPr/>
        </p:nvSpPr>
        <p:spPr>
          <a:xfrm>
            <a:off x="11201400" y="3310128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374136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255264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أين يُفضّل شحن الأجهزة الإلكترونية؟</a:t>
            </a:r>
            <a:endParaRPr lang="ar-AE" sz="1300" dirty="0"/>
          </a:p>
        </p:txBody>
      </p:sp>
      <p:sp>
        <p:nvSpPr>
          <p:cNvPr id="19" name="Text 13"/>
          <p:cNvSpPr/>
          <p:nvPr/>
        </p:nvSpPr>
        <p:spPr>
          <a:xfrm>
            <a:off x="640080" y="3502152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على سطح ثابت غير قابل للاشتعال وفي مكان جيد التهوية</a:t>
            </a:r>
            <a:endParaRPr lang="ar-AE" sz="1100" dirty="0"/>
          </a:p>
        </p:txBody>
      </p:sp>
      <p:sp>
        <p:nvSpPr>
          <p:cNvPr id="20" name="Shape 14"/>
          <p:cNvSpPr/>
          <p:nvPr/>
        </p:nvSpPr>
        <p:spPr>
          <a:xfrm>
            <a:off x="457200" y="3813048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5"/>
          <p:cNvSpPr/>
          <p:nvPr/>
        </p:nvSpPr>
        <p:spPr>
          <a:xfrm>
            <a:off x="11201400" y="3913632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977640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3858768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شحن الجهاز تحت الوسادة؟</a:t>
            </a:r>
            <a:endParaRPr lang="ar-AE" sz="1300" dirty="0"/>
          </a:p>
        </p:txBody>
      </p:sp>
      <p:sp>
        <p:nvSpPr>
          <p:cNvPr id="24" name="Text 17"/>
          <p:cNvSpPr/>
          <p:nvPr/>
        </p:nvSpPr>
        <p:spPr>
          <a:xfrm>
            <a:off x="640080" y="4105656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لأن ذلك قد يؤدي إلى ارتفاع الحرارة</a:t>
            </a:r>
            <a:endParaRPr lang="ar-AE" sz="1100" dirty="0"/>
          </a:p>
        </p:txBody>
      </p:sp>
      <p:sp>
        <p:nvSpPr>
          <p:cNvPr id="25" name="Shape 18"/>
          <p:cNvSpPr/>
          <p:nvPr/>
        </p:nvSpPr>
        <p:spPr>
          <a:xfrm>
            <a:off x="457200" y="4416552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19"/>
          <p:cNvSpPr/>
          <p:nvPr/>
        </p:nvSpPr>
        <p:spPr>
          <a:xfrm>
            <a:off x="11201400" y="4517136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4581144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462272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ملاحظة دخان من جهاز يشحن؟</a:t>
            </a:r>
            <a:endParaRPr lang="ar-AE" sz="1300" dirty="0"/>
          </a:p>
        </p:txBody>
      </p:sp>
      <p:sp>
        <p:nvSpPr>
          <p:cNvPr id="29" name="Text 21"/>
          <p:cNvSpPr/>
          <p:nvPr/>
        </p:nvSpPr>
        <p:spPr>
          <a:xfrm>
            <a:off x="640080" y="4709160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أبتعد، أفصل الكهرباء إذا كان آمنًا، وأطلب المساعدة</a:t>
            </a:r>
            <a:endParaRPr lang="ar-AE" sz="1100" dirty="0"/>
          </a:p>
        </p:txBody>
      </p:sp>
      <p:sp>
        <p:nvSpPr>
          <p:cNvPr id="30" name="Shape 22"/>
          <p:cNvSpPr/>
          <p:nvPr/>
        </p:nvSpPr>
        <p:spPr>
          <a:xfrm>
            <a:off x="457200" y="5020056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3"/>
          <p:cNvSpPr/>
          <p:nvPr/>
        </p:nvSpPr>
        <p:spPr>
          <a:xfrm>
            <a:off x="11201400" y="5120640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5184648"/>
            <a:ext cx="237744" cy="237744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640080" y="5065776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س5: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يجب استخدام شاحن معتمد؟</a:t>
            </a:r>
            <a:endParaRPr lang="ar-AE" sz="1300" dirty="0"/>
          </a:p>
        </p:txBody>
      </p:sp>
      <p:sp>
        <p:nvSpPr>
          <p:cNvPr id="34" name="Text 25"/>
          <p:cNvSpPr/>
          <p:nvPr/>
        </p:nvSpPr>
        <p:spPr>
          <a:xfrm>
            <a:off x="640080" y="5312664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لتقليل خطر ارتفاع الحرارة وتلف البطارية ونشوب حريق</a:t>
            </a:r>
            <a:endParaRPr lang="ar-AE" sz="1100" dirty="0"/>
          </a:p>
        </p:txBody>
      </p:sp>
      <p:sp>
        <p:nvSpPr>
          <p:cNvPr id="35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6" name="Image 7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7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9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1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3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F.7</a:t>
            </a:r>
            <a:endParaRPr lang="en-US" sz="1000" dirty="0"/>
          </a:p>
        </p:txBody>
      </p:sp>
      <p:sp>
        <p:nvSpPr>
          <p:cNvPr id="45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554480"/>
            <a:ext cx="914400" cy="9144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7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حرائق البطاريات مسؤولية الجميع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شاحن معتمد • لا للوسائد • أوقف التالفة • بعيدًا عن الحرارة • تخلص آمن • 999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"الشحن الآمن والاستخدام المسؤول يحمي الأرواح والممتلكات"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F.7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1431</Words>
  <Application>Microsoft Office PowerPoint</Application>
  <PresentationFormat>شاشة عريضة</PresentationFormat>
  <Paragraphs>339</Paragraphs>
  <Slides>18</Slides>
  <Notes>18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18</vt:i4>
      </vt:variant>
    </vt:vector>
  </HeadingPairs>
  <TitlesOfParts>
    <vt:vector size="22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الوقاية من حرائق البطاريات</dc:title>
  <dc:subject>PptxGenJS Presentation</dc:subject>
  <dc:creator>هيئة أبوظبي للدفاع المدني</dc:creator>
  <cp:lastModifiedBy>Lenovo</cp:lastModifiedBy>
  <cp:revision>1</cp:revision>
  <dcterms:created xsi:type="dcterms:W3CDTF">2026-05-06T01:35:42Z</dcterms:created>
  <dcterms:modified xsi:type="dcterms:W3CDTF">2026-05-14T23:03:47Z</dcterms:modified>
</cp:coreProperties>
</file>