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7" d="100"/>
          <a:sy n="97" d="100"/>
        </p:scale>
        <p:origin x="115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306513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4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2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.png"/><Relationship Id="rId7" Type="http://schemas.openxmlformats.org/officeDocument/2006/relationships/image" Target="../media/image13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2.png"/><Relationship Id="rId9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11" Type="http://schemas.openxmlformats.org/officeDocument/2006/relationships/image" Target="../media/image4.png"/><Relationship Id="rId5" Type="http://schemas.openxmlformats.org/officeDocument/2006/relationships/image" Target="../media/image18.png"/><Relationship Id="rId10" Type="http://schemas.openxmlformats.org/officeDocument/2006/relationships/image" Target="../media/image23.png"/><Relationship Id="rId4" Type="http://schemas.openxmlformats.org/officeDocument/2006/relationships/image" Target="../media/image2.png"/><Relationship Id="rId9" Type="http://schemas.openxmlformats.org/officeDocument/2006/relationships/image" Target="../media/image2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24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1.png"/><Relationship Id="rId7" Type="http://schemas.openxmlformats.org/officeDocument/2006/relationships/image" Target="../media/image15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11" Type="http://schemas.openxmlformats.org/officeDocument/2006/relationships/image" Target="../media/image17.png"/><Relationship Id="rId5" Type="http://schemas.openxmlformats.org/officeDocument/2006/relationships/image" Target="../media/image25.png"/><Relationship Id="rId10" Type="http://schemas.openxmlformats.org/officeDocument/2006/relationships/image" Target="../media/image13.png"/><Relationship Id="rId4" Type="http://schemas.openxmlformats.org/officeDocument/2006/relationships/image" Target="../media/image2.png"/><Relationship Id="rId9" Type="http://schemas.openxmlformats.org/officeDocument/2006/relationships/image" Target="../media/image28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1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3.png"/><Relationship Id="rId10" Type="http://schemas.openxmlformats.org/officeDocument/2006/relationships/image" Target="../media/image4.png"/><Relationship Id="rId4" Type="http://schemas.openxmlformats.org/officeDocument/2006/relationships/image" Target="../media/image2.png"/><Relationship Id="rId9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11" Type="http://schemas.openxmlformats.org/officeDocument/2006/relationships/image" Target="../media/image4.png"/><Relationship Id="rId5" Type="http://schemas.openxmlformats.org/officeDocument/2006/relationships/image" Target="../media/image13.png"/><Relationship Id="rId10" Type="http://schemas.openxmlformats.org/officeDocument/2006/relationships/image" Target="../media/image31.png"/><Relationship Id="rId4" Type="http://schemas.openxmlformats.org/officeDocument/2006/relationships/image" Target="../media/image2.png"/><Relationship Id="rId9" Type="http://schemas.openxmlformats.org/officeDocument/2006/relationships/image" Target="../media/image1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11" Type="http://schemas.openxmlformats.org/officeDocument/2006/relationships/image" Target="../media/image4.png"/><Relationship Id="rId5" Type="http://schemas.openxmlformats.org/officeDocument/2006/relationships/image" Target="../media/image22.png"/><Relationship Id="rId10" Type="http://schemas.openxmlformats.org/officeDocument/2006/relationships/image" Target="../media/image27.png"/><Relationship Id="rId4" Type="http://schemas.openxmlformats.org/officeDocument/2006/relationships/image" Target="../media/image2.png"/><Relationship Id="rId9" Type="http://schemas.openxmlformats.org/officeDocument/2006/relationships/image" Target="../media/image33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11" Type="http://schemas.openxmlformats.org/officeDocument/2006/relationships/image" Target="../media/image4.png"/><Relationship Id="rId5" Type="http://schemas.openxmlformats.org/officeDocument/2006/relationships/image" Target="../media/image34.png"/><Relationship Id="rId10" Type="http://schemas.openxmlformats.org/officeDocument/2006/relationships/image" Target="../media/image36.png"/><Relationship Id="rId4" Type="http://schemas.openxmlformats.org/officeDocument/2006/relationships/image" Target="../media/image2.png"/><Relationship Id="rId9" Type="http://schemas.openxmlformats.org/officeDocument/2006/relationships/image" Target="../media/image27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1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11" Type="http://schemas.openxmlformats.org/officeDocument/2006/relationships/image" Target="../media/image4.png"/><Relationship Id="rId5" Type="http://schemas.openxmlformats.org/officeDocument/2006/relationships/image" Target="../media/image17.png"/><Relationship Id="rId10" Type="http://schemas.openxmlformats.org/officeDocument/2006/relationships/image" Target="../media/image38.png"/><Relationship Id="rId4" Type="http://schemas.openxmlformats.org/officeDocument/2006/relationships/image" Target="../media/image2.png"/><Relationship Id="rId9" Type="http://schemas.openxmlformats.org/officeDocument/2006/relationships/image" Target="../media/image2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png"/><Relationship Id="rId5" Type="http://schemas.openxmlformats.org/officeDocument/2006/relationships/image" Target="../media/image39.png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3" Type="http://schemas.openxmlformats.org/officeDocument/2006/relationships/image" Target="../media/image1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3.png"/><Relationship Id="rId4" Type="http://schemas.openxmlformats.org/officeDocument/2006/relationships/image" Target="../media/image2.png"/><Relationship Id="rId9" Type="http://schemas.openxmlformats.org/officeDocument/2006/relationships/image" Target="../media/image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18.png"/><Relationship Id="rId4" Type="http://schemas.openxmlformats.org/officeDocument/2006/relationships/image" Target="../media/image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317236" y="1325880"/>
            <a:ext cx="1554480" cy="1554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91556" y="1600200"/>
            <a:ext cx="1005840" cy="100584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65760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3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عند شحن المركبات الكهربائية في المنزل</a:t>
            </a:r>
            <a:endParaRPr lang="en-US" sz="3000" dirty="0"/>
          </a:p>
        </p:txBody>
      </p:sp>
      <p:sp>
        <p:nvSpPr>
          <p:cNvPr id="11" name="Text 6"/>
          <p:cNvSpPr/>
          <p:nvPr/>
        </p:nvSpPr>
        <p:spPr>
          <a:xfrm>
            <a:off x="457200" y="45262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8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معدات معتمدة… وتركيب صحيح… وفحص منتظم</a:t>
            </a:r>
            <a:endParaRPr lang="en-US" sz="1800" dirty="0"/>
          </a:p>
        </p:txBody>
      </p:sp>
      <p:sp>
        <p:nvSpPr>
          <p:cNvPr id="12" name="Shape 7"/>
          <p:cNvSpPr/>
          <p:nvPr/>
        </p:nvSpPr>
        <p:spPr>
          <a:xfrm>
            <a:off x="5637276" y="49834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731520" y="5257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300" i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"الشحن المنزلي يحتاج إلى التزام بإرشادات السلامة لتقليل مخاطر الأعطال الكهربائية وارتفاع الحرارة والحرائق"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5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7" name="Text 1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D.7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نهتم بسلامة الشحن المنزلي؟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أنظمة وبطاريات عالية الجهد تحتاج إلى تعامل واعٍ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9377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509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9576" y="3200400"/>
            <a:ext cx="457200" cy="4572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7452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58521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المنزل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8521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من الأعطال الكهربائية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236829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282549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54096" y="3200400"/>
            <a:ext cx="457200" cy="45720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261975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245973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تقليل ارتفاع الحرارة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245973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الكابلات والمعدات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424281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470001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28616" y="3200400"/>
            <a:ext cx="457200" cy="457200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449427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433425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الوقاية من الحرائق</a:t>
            </a:r>
            <a:endParaRPr lang="en-US" sz="1400" dirty="0"/>
          </a:p>
        </p:txBody>
      </p:sp>
      <p:sp>
        <p:nvSpPr>
          <p:cNvPr id="27" name="Text 20"/>
          <p:cNvSpPr/>
          <p:nvPr/>
        </p:nvSpPr>
        <p:spPr>
          <a:xfrm>
            <a:off x="433425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والمخاطر المرتبطة بالشحن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611733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657453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03136" y="3200400"/>
            <a:ext cx="457200" cy="457200"/>
          </a:xfrm>
          <a:prstGeom prst="rect">
            <a:avLst/>
          </a:prstGeom>
        </p:spPr>
      </p:pic>
      <p:sp>
        <p:nvSpPr>
          <p:cNvPr id="31" name="Shape 23"/>
          <p:cNvSpPr/>
          <p:nvPr/>
        </p:nvSpPr>
        <p:spPr>
          <a:xfrm>
            <a:off x="636879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2" name="Text 24"/>
          <p:cNvSpPr/>
          <p:nvPr/>
        </p:nvSpPr>
        <p:spPr>
          <a:xfrm>
            <a:off x="620877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الأطفال</a:t>
            </a:r>
            <a:endParaRPr lang="en-US" sz="1400" dirty="0"/>
          </a:p>
        </p:txBody>
      </p:sp>
      <p:sp>
        <p:nvSpPr>
          <p:cNvPr id="33" name="Text 25"/>
          <p:cNvSpPr/>
          <p:nvPr/>
        </p:nvSpPr>
        <p:spPr>
          <a:xfrm>
            <a:off x="620877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من العبث بالمعدات</a:t>
            </a:r>
            <a:endParaRPr lang="en-US" sz="1100" dirty="0"/>
          </a:p>
        </p:txBody>
      </p:sp>
      <p:sp>
        <p:nvSpPr>
          <p:cNvPr id="34" name="Shape 26"/>
          <p:cNvSpPr/>
          <p:nvPr/>
        </p:nvSpPr>
        <p:spPr>
          <a:xfrm>
            <a:off x="799185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7"/>
          <p:cNvSpPr/>
          <p:nvPr/>
        </p:nvSpPr>
        <p:spPr>
          <a:xfrm>
            <a:off x="844905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77656" y="3200400"/>
            <a:ext cx="457200" cy="457200"/>
          </a:xfrm>
          <a:prstGeom prst="rect">
            <a:avLst/>
          </a:prstGeom>
        </p:spPr>
      </p:pic>
      <p:sp>
        <p:nvSpPr>
          <p:cNvPr id="37" name="Shape 28"/>
          <p:cNvSpPr/>
          <p:nvPr/>
        </p:nvSpPr>
        <p:spPr>
          <a:xfrm>
            <a:off x="824331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8" name="Text 29"/>
          <p:cNvSpPr/>
          <p:nvPr/>
        </p:nvSpPr>
        <p:spPr>
          <a:xfrm>
            <a:off x="808329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استخدام آمن</a:t>
            </a:r>
            <a:endParaRPr lang="en-US" sz="1400" dirty="0"/>
          </a:p>
        </p:txBody>
      </p:sp>
      <p:sp>
        <p:nvSpPr>
          <p:cNvPr id="39" name="Text 30"/>
          <p:cNvSpPr/>
          <p:nvPr/>
        </p:nvSpPr>
        <p:spPr>
          <a:xfrm>
            <a:off x="808329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للتقنيات الحديثة</a:t>
            </a:r>
            <a:endParaRPr lang="en-US" sz="1100" dirty="0"/>
          </a:p>
        </p:txBody>
      </p:sp>
      <p:sp>
        <p:nvSpPr>
          <p:cNvPr id="40" name="Shape 31"/>
          <p:cNvSpPr/>
          <p:nvPr/>
        </p:nvSpPr>
        <p:spPr>
          <a:xfrm>
            <a:off x="986637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41" name="Shape 32"/>
          <p:cNvSpPr/>
          <p:nvPr/>
        </p:nvSpPr>
        <p:spPr>
          <a:xfrm>
            <a:off x="103235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4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52176" y="3200400"/>
            <a:ext cx="457200" cy="457200"/>
          </a:xfrm>
          <a:prstGeom prst="rect">
            <a:avLst/>
          </a:prstGeom>
        </p:spPr>
      </p:pic>
      <p:sp>
        <p:nvSpPr>
          <p:cNvPr id="43" name="Shape 33"/>
          <p:cNvSpPr/>
          <p:nvPr/>
        </p:nvSpPr>
        <p:spPr>
          <a:xfrm>
            <a:off x="101178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44" name="Text 34"/>
          <p:cNvSpPr/>
          <p:nvPr/>
        </p:nvSpPr>
        <p:spPr>
          <a:xfrm>
            <a:off x="995781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المركبة</a:t>
            </a:r>
            <a:endParaRPr lang="en-US" sz="1400" dirty="0"/>
          </a:p>
        </p:txBody>
      </p:sp>
      <p:sp>
        <p:nvSpPr>
          <p:cNvPr id="45" name="Text 35"/>
          <p:cNvSpPr/>
          <p:nvPr/>
        </p:nvSpPr>
        <p:spPr>
          <a:xfrm>
            <a:off x="995781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والبطارية من التلف</a:t>
            </a:r>
            <a:endParaRPr lang="en-US" sz="1100" dirty="0"/>
          </a:p>
        </p:txBody>
      </p:sp>
      <p:sp>
        <p:nvSpPr>
          <p:cNvPr id="46" name="Shape 36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7" name="Text 37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الشاحن المنزلي ليس مجرد وصلة كهربائية، بل نظام يجب أن يكون مناسبًا ومعتمدًا وآمنًا</a:t>
            </a:r>
            <a:endParaRPr lang="ar-AE" sz="1200" dirty="0"/>
          </a:p>
        </p:txBody>
      </p:sp>
      <p:sp>
        <p:nvSpPr>
          <p:cNvPr id="48" name="Shape 3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9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50" name="Shape 3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52" name="Shape 4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4" name="Shape 4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6" name="Shape 4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7" name="Text 4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D.7</a:t>
            </a:r>
            <a:endParaRPr lang="en-US" sz="1000" dirty="0"/>
          </a:p>
        </p:txBody>
      </p:sp>
      <p:sp>
        <p:nvSpPr>
          <p:cNvPr id="58" name="Shape 4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9" name="Text 4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كيف قد تحدث مخاطر الشحن؟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إهمال علامات الخطر قد يطوّر المشكلة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شاحن غير معتمد أو غير متوافق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مقابس غير مخصصة للشحن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أسلاك تمديد ووصلات متعددة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تلف في الكابل أو القابس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تعرض المعدات للمياه والحرارة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تركيب دون فحص قدرة التمديدات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ترك المعدات في متناول العبث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أي خلل بسيط في الشحن قد يتطور إلى خطر إذا تم تجاهله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D.7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اختيار معدات الشحن المناسبة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جودة الشاحن جزء أساسي من سلامة المركبة والمنزل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الشاحن الموصى به من الشركة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متوافق مع نوع المركبة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من مصادر موثوقة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تجنب المنتجات غير المعروفة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تعليمات الاستخدام واضحة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معدات تالفة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توعوية: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جودة الشاحن وسلامته جزء أساسي من سلامة المركبة والمنزل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D.7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تركيب الشاحن المنزلي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التركيب الصحيح ليس عشوائيًا، بل بطريقة فنية معتمدة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371600" y="2926080"/>
            <a:ext cx="2286000" cy="22860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0" y="3383280"/>
            <a:ext cx="1371600" cy="13716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4846320" y="2788920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11320272" y="283464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4" name="Text 9"/>
          <p:cNvSpPr/>
          <p:nvPr/>
        </p:nvSpPr>
        <p:spPr>
          <a:xfrm>
            <a:off x="11320272" y="2834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0"/>
          <p:cNvSpPr/>
          <p:nvPr/>
        </p:nvSpPr>
        <p:spPr>
          <a:xfrm>
            <a:off x="4983480" y="2788920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تركيب الشاحن بواسطة فني مؤهل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4846320" y="3236976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11320272" y="328269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8" name="Text 13"/>
          <p:cNvSpPr/>
          <p:nvPr/>
        </p:nvSpPr>
        <p:spPr>
          <a:xfrm>
            <a:off x="11320272" y="32826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19" name="Text 14"/>
          <p:cNvSpPr/>
          <p:nvPr/>
        </p:nvSpPr>
        <p:spPr>
          <a:xfrm>
            <a:off x="4983480" y="3236976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ملاءمة التمديدات لقدرة الشاحن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4846320" y="3685032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11320272" y="37307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2" name="Text 17"/>
          <p:cNvSpPr/>
          <p:nvPr/>
        </p:nvSpPr>
        <p:spPr>
          <a:xfrm>
            <a:off x="11320272" y="37307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4983480" y="3685032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استخدام دائرة كهربائية مخصصة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4846320" y="4133088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11320272" y="41788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6" name="Text 21"/>
          <p:cNvSpPr/>
          <p:nvPr/>
        </p:nvSpPr>
        <p:spPr>
          <a:xfrm>
            <a:off x="11320272" y="41788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7" name="Text 22"/>
          <p:cNvSpPr/>
          <p:nvPr/>
        </p:nvSpPr>
        <p:spPr>
          <a:xfrm>
            <a:off x="4983480" y="4133088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وجود وسائل حماية كهربائية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4846320" y="4581144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11320272" y="4626864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0" name="Text 25"/>
          <p:cNvSpPr/>
          <p:nvPr/>
        </p:nvSpPr>
        <p:spPr>
          <a:xfrm>
            <a:off x="11320272" y="46268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4983480" y="4581144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اختيار موقع آمن للشاحن</a:t>
            </a:r>
            <a:endParaRPr lang="en-US" sz="1200" dirty="0"/>
          </a:p>
        </p:txBody>
      </p:sp>
      <p:sp>
        <p:nvSpPr>
          <p:cNvPr id="32" name="Shape 27"/>
          <p:cNvSpPr/>
          <p:nvPr/>
        </p:nvSpPr>
        <p:spPr>
          <a:xfrm>
            <a:off x="4846320" y="5029200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3" name="Shape 28"/>
          <p:cNvSpPr/>
          <p:nvPr/>
        </p:nvSpPr>
        <p:spPr>
          <a:xfrm>
            <a:off x="11320272" y="507492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4" name="Text 29"/>
          <p:cNvSpPr/>
          <p:nvPr/>
        </p:nvSpPr>
        <p:spPr>
          <a:xfrm>
            <a:off x="11320272" y="5074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5" name="Text 30"/>
          <p:cNvSpPr/>
          <p:nvPr/>
        </p:nvSpPr>
        <p:spPr>
          <a:xfrm>
            <a:off x="4983480" y="5029200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الالتزام بتعليمات الشركة المصنّعة</a:t>
            </a:r>
            <a:endParaRPr lang="en-US" sz="1200" dirty="0"/>
          </a:p>
        </p:txBody>
      </p:sp>
      <p:sp>
        <p:nvSpPr>
          <p:cNvPr id="36" name="Shape 31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 مهم: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تقم بتوصيل شاحن منزلي عالي القدرة دون فحص كهربائي مناسب</a:t>
            </a:r>
            <a:endParaRPr lang="ar-AE" sz="1200" dirty="0"/>
          </a:p>
        </p:txBody>
      </p:sp>
      <p:sp>
        <p:nvSpPr>
          <p:cNvPr id="38" name="Shape 33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9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0" name="Shape 34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5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2" name="Shape 36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7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4" name="Shape 38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9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6" name="Shape 40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1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D.7</a:t>
            </a:r>
            <a:endParaRPr lang="en-US" sz="1000" dirty="0"/>
          </a:p>
        </p:txBody>
      </p:sp>
      <p:sp>
        <p:nvSpPr>
          <p:cNvPr id="48" name="Shape 42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3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مكان الشحن الآمن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اختيار المكان المناسب يقلل مخاطر التلف والتعثر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جيد التهوية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بعيد عن المواد القابلة للاشتعال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بعيد عن تجمع المياه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بعيد عن مصادر الحرارة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يعيق حركة الأشخاص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كابل دون شد أو التفاف حاد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بعيد عن متناول الأطفال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مكان الشحن الآمن يحمي المركبة والمنزل والأشخاص المحيطين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D.7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تجنب أسلاك التمديد والوصلات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أسلاك التمديد ترفع خطر ارتفاع الحرارة والتحميل الزائد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48056" y="2606040"/>
            <a:ext cx="3703320" cy="1371600"/>
          </a:xfrm>
          <a:prstGeom prst="roundRect">
            <a:avLst>
              <a:gd name="adj" fmla="val 5333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30936" y="294894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816" y="313182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453896" y="2606040"/>
            <a:ext cx="251460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توصيل عبر أسلاك تمديد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242816" y="2606040"/>
            <a:ext cx="3703320" cy="1371600"/>
          </a:xfrm>
          <a:prstGeom prst="roundRect">
            <a:avLst>
              <a:gd name="adj" fmla="val 5333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4425696" y="294894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08576" y="313182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5248656" y="2606040"/>
            <a:ext cx="251460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وصلات متعددة أو غير مخصصة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8037576" y="2606040"/>
            <a:ext cx="3703320" cy="1371600"/>
          </a:xfrm>
          <a:prstGeom prst="roundRect">
            <a:avLst>
              <a:gd name="adj" fmla="val 5333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8220456" y="294894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03336" y="313182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9043416" y="2606040"/>
            <a:ext cx="251460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أجهزة عالية الاستهلاك معًا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2345436" y="4160520"/>
            <a:ext cx="3703320" cy="1371600"/>
          </a:xfrm>
          <a:prstGeom prst="roundRect">
            <a:avLst>
              <a:gd name="adj" fmla="val 5333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2528316" y="450342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11196" y="468630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3351276" y="4160520"/>
            <a:ext cx="251460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تمديد الكابلات في الممرات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6140196" y="4160520"/>
            <a:ext cx="3703320" cy="1371600"/>
          </a:xfrm>
          <a:prstGeom prst="roundRect">
            <a:avLst>
              <a:gd name="adj" fmla="val 5333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6323076" y="450342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05956" y="468630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7146036" y="4160520"/>
            <a:ext cx="251460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مقابس متضررة أو مرتخية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1" name="Text 22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تصرف 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نقطة شحن مخصصة ومعتمدة، واتبع تعليمات الشركة المصنّعة</a:t>
            </a:r>
            <a:endParaRPr lang="ar-AE" sz="1200" dirty="0"/>
          </a:p>
        </p:txBody>
      </p:sp>
      <p:sp>
        <p:nvSpPr>
          <p:cNvPr id="32" name="Shape 23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3" name="Image 7" descr="/home/claude/assets/social_icon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4" name="Shape 24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6" name="Shape 26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27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38" name="Shape 28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9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0" name="Shape 30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1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D.7</a:t>
            </a:r>
            <a:endParaRPr lang="en-US" sz="1000" dirty="0"/>
          </a:p>
        </p:txBody>
      </p:sp>
      <p:sp>
        <p:nvSpPr>
          <p:cNvPr id="42" name="Shape 32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3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فحص الشاحن والكابل قبل الاستخدام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الفحص السريع يكشف التلف قبل وقوع الخطر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سلامة الكابل دون قطع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حرارة أو رائحة احتراق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مدخل الشحن نظيف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ماء أو رطوبة على القابس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ثبات التوصيل دون ارتخاء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تلف في وحدة الشحن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أي كابل أو شاحن تظهر عليه علامات تلف أو حرارة غير طبيعية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D.7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أثناء عملية الشحن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متابعة واعية للشحن وليست استخدامًا عشوائيًا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تأكد من توصيل الشاحن بطريقة صحيحة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تسحب الكابل بقوة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تلمس القابس بيد مبللة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347704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11347704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تغطِّ الشاحن أو الكابل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 الكابل في مسار المشاة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2" name="Text 28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الأطفال عن المعدات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6" name="Text 32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أوقف الشحن عند رائحة احتراق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توعوية: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الشحن الآمن يحتاج إلى متابعة واعية وليس استخدامًا عشوائيًا</a:t>
            </a:r>
            <a:endParaRPr lang="ar-AE" sz="1200" dirty="0"/>
          </a:p>
        </p:txBody>
      </p:sp>
      <p:sp>
        <p:nvSpPr>
          <p:cNvPr id="40" name="Shape 3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4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D.7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بعد انتهاء الشحن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العناية بالمعدات بعد الاستخدام تطيل عمرها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افصل حسب تعليمات الشركة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اسحب من المقبض المخصص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أعد الكابل دون لفّ حاد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تتركه في مسار الحركة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أغلق غطاء منفذ الشحن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افحص عند حرارة غير طبيعية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العناية بمعدات الشحن بعد الاستخدام تطيل عمرها وتقلل احتمالية التلف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D.7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الشحن في الأجواء الحارة أو الرطبة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الماء والكهرباء لا يجتمعان بأمان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تجنب أشعة الشمس الطويلة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تهوية مناسبة للمكان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معدات مبللة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افحص بعد المطر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بعيدًا عن مصادر الحرارة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توقف عند رائحة احتراق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الماء والكهرباء لا يجتمعان بأمان — لا تستخدم معدات شحن رطبة أو متضررة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D.7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سلامة الأطفال وأفراد الأسرة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معدات الشحن مرتبطة بأنظمة عالية الجهد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الأطفال عن الكابلات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توصيل أو فصل من الأطفال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نظّم الكابل لمنع التعثر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موقع آمن لا يسهل سحبه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علّم الأسرة عدم اللمس عند خلل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احفظ الشاحن منظمًا بعد الاستخدام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توعوية: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سلامة الأسرة تبدأ من تنظيم مكان الشحن ومنع العبث بالمعدات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D.7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علامات الخطر التي لا يجب تجاهلها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علامات تستوجب التعامل الفوري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371600" y="2926080"/>
            <a:ext cx="2286000" cy="2286000"/>
          </a:xfrm>
          <a:prstGeom prst="ellipse">
            <a:avLst/>
          </a:prstGeom>
          <a:solidFill>
            <a:srgbClr val="FEF2F2"/>
          </a:solidFill>
          <a:ln/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0" y="3383280"/>
            <a:ext cx="1371600" cy="13716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3154680" y="4617720"/>
            <a:ext cx="594360" cy="594360"/>
          </a:xfrm>
          <a:prstGeom prst="ellipse">
            <a:avLst/>
          </a:prstGeom>
          <a:solidFill>
            <a:srgbClr val="DC2626"/>
          </a:solidFill>
          <a:ln w="38100">
            <a:solidFill>
              <a:srgbClr val="FFFFFF"/>
            </a:solidFill>
            <a:prstDash val="solid"/>
          </a:ln>
        </p:spPr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91840" y="4754880"/>
            <a:ext cx="320040" cy="3200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4846320" y="2697480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11320272" y="272491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6" name="Text 10"/>
          <p:cNvSpPr/>
          <p:nvPr/>
        </p:nvSpPr>
        <p:spPr>
          <a:xfrm>
            <a:off x="11320272" y="27249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1"/>
          <p:cNvSpPr/>
          <p:nvPr/>
        </p:nvSpPr>
        <p:spPr>
          <a:xfrm>
            <a:off x="4983480" y="2697480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رائحة احتراق أو بلاستيك ساخن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4846320" y="3090672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11320272" y="3118104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0" name="Text 14"/>
          <p:cNvSpPr/>
          <p:nvPr/>
        </p:nvSpPr>
        <p:spPr>
          <a:xfrm>
            <a:off x="11320272" y="31181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4983480" y="3090672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سخونة في القابس أو الكابل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4846320" y="3483864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11320272" y="351129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4" name="Text 18"/>
          <p:cNvSpPr/>
          <p:nvPr/>
        </p:nvSpPr>
        <p:spPr>
          <a:xfrm>
            <a:off x="11320272" y="35112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4983480" y="3483864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شرر أو صوت غير طبيعي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4846320" y="3877056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11320272" y="3904488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8" name="Text 22"/>
          <p:cNvSpPr/>
          <p:nvPr/>
        </p:nvSpPr>
        <p:spPr>
          <a:xfrm>
            <a:off x="11320272" y="39044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4983480" y="3877056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انقطاع متكرر للشحن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4846320" y="4270248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11320272" y="429768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2" name="Text 26"/>
          <p:cNvSpPr/>
          <p:nvPr/>
        </p:nvSpPr>
        <p:spPr>
          <a:xfrm>
            <a:off x="11320272" y="4297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4983480" y="4270248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تغير لون نقطة التوصيل</a:t>
            </a:r>
            <a:endParaRPr lang="en-US" sz="1200" dirty="0"/>
          </a:p>
        </p:txBody>
      </p:sp>
      <p:sp>
        <p:nvSpPr>
          <p:cNvPr id="34" name="Shape 28"/>
          <p:cNvSpPr/>
          <p:nvPr/>
        </p:nvSpPr>
        <p:spPr>
          <a:xfrm>
            <a:off x="4846320" y="4663440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11320272" y="469087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6" name="Text 30"/>
          <p:cNvSpPr/>
          <p:nvPr/>
        </p:nvSpPr>
        <p:spPr>
          <a:xfrm>
            <a:off x="11320272" y="46908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4983480" y="4663440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تلف أو تشقق في الكابل</a:t>
            </a:r>
            <a:endParaRPr lang="en-US" sz="1200" dirty="0"/>
          </a:p>
        </p:txBody>
      </p:sp>
      <p:sp>
        <p:nvSpPr>
          <p:cNvPr id="38" name="Shape 32"/>
          <p:cNvSpPr/>
          <p:nvPr/>
        </p:nvSpPr>
        <p:spPr>
          <a:xfrm>
            <a:off x="4846320" y="5056632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9" name="Shape 33"/>
          <p:cNvSpPr/>
          <p:nvPr/>
        </p:nvSpPr>
        <p:spPr>
          <a:xfrm>
            <a:off x="11320272" y="5084064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40" name="Text 34"/>
          <p:cNvSpPr/>
          <p:nvPr/>
        </p:nvSpPr>
        <p:spPr>
          <a:xfrm>
            <a:off x="11320272" y="50840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41" name="Text 35"/>
          <p:cNvSpPr/>
          <p:nvPr/>
        </p:nvSpPr>
        <p:spPr>
          <a:xfrm>
            <a:off x="4983480" y="5056632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دخان أو إنذار من الشاحن</a:t>
            </a:r>
            <a:endParaRPr lang="en-US" sz="1200" dirty="0"/>
          </a:p>
        </p:txBody>
      </p:sp>
      <p:sp>
        <p:nvSpPr>
          <p:cNvPr id="42" name="Shape 36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7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إجراء عاجل: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أوقف الشحن فورًا إذا كان آمنًا، وابتعد عن المصدر، واطلب الفحص من مختص</a:t>
            </a:r>
            <a:endParaRPr lang="ar-AE" sz="1200" dirty="0"/>
          </a:p>
        </p:txBody>
      </p:sp>
      <p:sp>
        <p:nvSpPr>
          <p:cNvPr id="44" name="Shape 3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4" descr="/home/claude/assets/social_icon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3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4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4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4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D.7</a:t>
            </a:r>
            <a:endParaRPr lang="en-US" sz="1000" dirty="0"/>
          </a:p>
        </p:txBody>
      </p:sp>
      <p:sp>
        <p:nvSpPr>
          <p:cNvPr id="54" name="Shape 4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تفعل عند وجود خلل أثناء الشحن؟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تجنب التصرفات العشوائية وتعامل كخطر محتمل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أوقف الشحن إذا كان آمنًا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تلمس الكابل عند دخان أو شرر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الأسرة عن مكان الشحن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347704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11347704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افصل مصدر الكهرباء بأمان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الشاحن قبل فحصه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2" name="Text 28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تواصل مع فني مختص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6" name="Text 32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عند خطر مباشر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 مهم: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تحاول إصلاح الشاحن أو الكابل بنفسك</a:t>
            </a:r>
            <a:endParaRPr lang="ar-AE" sz="1200" dirty="0"/>
          </a:p>
        </p:txBody>
      </p:sp>
      <p:sp>
        <p:nvSpPr>
          <p:cNvPr id="40" name="Shape 3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4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D.7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تفعل عند نشوب حريق أثناء الشحن؟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الأولوية للإخلاء والابتعاد وطلب المساعدة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005840" y="2606040"/>
            <a:ext cx="1828800" cy="1828800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1" name="Shape 7"/>
          <p:cNvSpPr/>
          <p:nvPr/>
        </p:nvSpPr>
        <p:spPr>
          <a:xfrm>
            <a:off x="1170432" y="2770632"/>
            <a:ext cx="1499616" cy="14996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2" name="Text 8"/>
          <p:cNvSpPr/>
          <p:nvPr/>
        </p:nvSpPr>
        <p:spPr>
          <a:xfrm>
            <a:off x="1005840" y="29718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999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1005840" y="36393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EMERGENCY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3200400" y="2788920"/>
            <a:ext cx="854964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762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Text 11"/>
          <p:cNvSpPr/>
          <p:nvPr/>
        </p:nvSpPr>
        <p:spPr>
          <a:xfrm>
            <a:off x="3383280" y="2834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خطوات سريعة: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3383280" y="3703320"/>
            <a:ext cx="1920240" cy="384048"/>
          </a:xfrm>
          <a:prstGeom prst="roundRect">
            <a:avLst>
              <a:gd name="adj" fmla="val 9524"/>
            </a:avLst>
          </a:prstGeom>
          <a:solidFill>
            <a:srgbClr val="FEF2F2"/>
          </a:solidFill>
          <a:ln w="6350">
            <a:solidFill>
              <a:srgbClr val="FCA5A5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3429000" y="37033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5394960" y="3703320"/>
            <a:ext cx="1920240" cy="384048"/>
          </a:xfrm>
          <a:prstGeom prst="roundRect">
            <a:avLst>
              <a:gd name="adj" fmla="val 9524"/>
            </a:avLst>
          </a:prstGeom>
          <a:solidFill>
            <a:srgbClr val="FEF2F2"/>
          </a:solidFill>
          <a:ln w="6350">
            <a:solidFill>
              <a:srgbClr val="FCA5A5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5440680" y="37033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تلمس الكابلات</a:t>
            </a:r>
            <a:endParaRPr lang="en-US" sz="1000" dirty="0"/>
          </a:p>
        </p:txBody>
      </p:sp>
      <p:sp>
        <p:nvSpPr>
          <p:cNvPr id="20" name="Shape 16"/>
          <p:cNvSpPr/>
          <p:nvPr/>
        </p:nvSpPr>
        <p:spPr>
          <a:xfrm>
            <a:off x="7406640" y="3703320"/>
            <a:ext cx="1920240" cy="384048"/>
          </a:xfrm>
          <a:prstGeom prst="roundRect">
            <a:avLst>
              <a:gd name="adj" fmla="val 9524"/>
            </a:avLst>
          </a:prstGeom>
          <a:solidFill>
            <a:srgbClr val="FEF2F2"/>
          </a:solidFill>
          <a:ln w="6350">
            <a:solidFill>
              <a:srgbClr val="FCA5A5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7452360" y="37033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ابتعد عن المصدر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9418320" y="3703320"/>
            <a:ext cx="1920240" cy="384048"/>
          </a:xfrm>
          <a:prstGeom prst="roundRect">
            <a:avLst>
              <a:gd name="adj" fmla="val 9524"/>
            </a:avLst>
          </a:prstGeom>
          <a:solidFill>
            <a:srgbClr val="FEF2F2"/>
          </a:solidFill>
          <a:ln w="6350">
            <a:solidFill>
              <a:srgbClr val="FCA5A5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9464040" y="37033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أخلِ الأشخاص</a:t>
            </a:r>
            <a:endParaRPr lang="en-US" sz="1000" dirty="0"/>
          </a:p>
        </p:txBody>
      </p:sp>
      <p:sp>
        <p:nvSpPr>
          <p:cNvPr id="24" name="Shape 20"/>
          <p:cNvSpPr/>
          <p:nvPr/>
        </p:nvSpPr>
        <p:spPr>
          <a:xfrm>
            <a:off x="562356" y="443484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745236" y="46405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8116" y="4823460"/>
            <a:ext cx="320040" cy="320040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1568196" y="443484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الماء على الكهرباء</a:t>
            </a:r>
            <a:endParaRPr lang="en-US" sz="1300" dirty="0"/>
          </a:p>
        </p:txBody>
      </p:sp>
      <p:sp>
        <p:nvSpPr>
          <p:cNvPr id="28" name="Shape 23"/>
          <p:cNvSpPr/>
          <p:nvPr/>
        </p:nvSpPr>
        <p:spPr>
          <a:xfrm>
            <a:off x="3351276" y="443484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4"/>
          <p:cNvSpPr/>
          <p:nvPr/>
        </p:nvSpPr>
        <p:spPr>
          <a:xfrm>
            <a:off x="3534156" y="46405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17036" y="4823460"/>
            <a:ext cx="320040" cy="320040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4357116" y="443484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تحرك المركبة في الخطر</a:t>
            </a:r>
            <a:endParaRPr lang="en-US" sz="1300" dirty="0"/>
          </a:p>
        </p:txBody>
      </p:sp>
      <p:sp>
        <p:nvSpPr>
          <p:cNvPr id="32" name="Shape 26"/>
          <p:cNvSpPr/>
          <p:nvPr/>
        </p:nvSpPr>
        <p:spPr>
          <a:xfrm>
            <a:off x="6140196" y="443484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3" name="Shape 27"/>
          <p:cNvSpPr/>
          <p:nvPr/>
        </p:nvSpPr>
        <p:spPr>
          <a:xfrm>
            <a:off x="6323076" y="46405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4823460"/>
            <a:ext cx="320040" cy="320040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7146036" y="443484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الجميع فورًا</a:t>
            </a:r>
            <a:endParaRPr lang="en-US" sz="1300" dirty="0"/>
          </a:p>
        </p:txBody>
      </p:sp>
      <p:sp>
        <p:nvSpPr>
          <p:cNvPr id="36" name="Shape 29"/>
          <p:cNvSpPr/>
          <p:nvPr/>
        </p:nvSpPr>
        <p:spPr>
          <a:xfrm>
            <a:off x="8929116" y="443484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7" name="Shape 30"/>
          <p:cNvSpPr/>
          <p:nvPr/>
        </p:nvSpPr>
        <p:spPr>
          <a:xfrm>
            <a:off x="9111996" y="46405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8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94876" y="4823460"/>
            <a:ext cx="320040" cy="320040"/>
          </a:xfrm>
          <a:prstGeom prst="rect">
            <a:avLst/>
          </a:prstGeom>
        </p:spPr>
      </p:pic>
      <p:sp>
        <p:nvSpPr>
          <p:cNvPr id="39" name="Text 31"/>
          <p:cNvSpPr/>
          <p:nvPr/>
        </p:nvSpPr>
        <p:spPr>
          <a:xfrm>
            <a:off x="9934956" y="443484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تعليمات المختصين</a:t>
            </a:r>
            <a:endParaRPr lang="en-US" sz="1300" dirty="0"/>
          </a:p>
        </p:txBody>
      </p:sp>
      <p:sp>
        <p:nvSpPr>
          <p:cNvPr id="40" name="Shape 32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1" name="Text 33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عند وجود حريق أو دخان، الأولوية للإخلاء والابتعاد وطلب المساعدة</a:t>
            </a:r>
            <a:endParaRPr lang="ar-AE" sz="1200" dirty="0"/>
          </a:p>
        </p:txBody>
      </p:sp>
      <p:sp>
        <p:nvSpPr>
          <p:cNvPr id="42" name="Shape 34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3" name="Image 6" descr="/home/claude/assets/social_icons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4" name="Shape 35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6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6" name="Shape 37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8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8" name="Shape 39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0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0" name="Shape 41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2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D.7</a:t>
            </a:r>
            <a:endParaRPr lang="en-US" sz="1000" dirty="0"/>
          </a:p>
        </p:txBody>
      </p:sp>
      <p:sp>
        <p:nvSpPr>
          <p:cNvPr id="52" name="Shape 43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4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ولا تفعل عند شحن المركبة الكهربائية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ممارسات صحيحة وأخرى يجب تجنّبها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153912" y="2606040"/>
            <a:ext cx="5577840" cy="50292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 ✓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11320272" y="3291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11320272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6336792" y="3246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شاحنًا معتمدًا ومتوافقًا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1320272" y="3749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11320272" y="3749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6336792" y="3703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ركّب الشاحن بواسطة فني مؤهل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1320272" y="42062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11320272" y="4206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6336792" y="41605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افحص الكابل قبل الاستخدام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1320272" y="46634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11320272" y="4663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6336792" y="46177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اشحن في مكان آمن وجيد التهوية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1320272" y="51206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1320272" y="5120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6336792" y="50749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المعدات عن الماء والحرارة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1320272" y="5577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11320272" y="5577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6336792" y="5532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أوقف الشحن عند رائحة احتراق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11320272" y="6035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11320272" y="6035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33" name="Text 29"/>
          <p:cNvSpPr/>
          <p:nvPr/>
        </p:nvSpPr>
        <p:spPr>
          <a:xfrm>
            <a:off x="6336792" y="5989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عند الدخان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457200" y="2606040"/>
            <a:ext cx="557784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36" name="Text 32"/>
          <p:cNvSpPr/>
          <p:nvPr/>
        </p:nvSpPr>
        <p:spPr>
          <a:xfrm>
            <a:off x="640080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تفعل  ✕</a:t>
            </a:r>
            <a:endParaRPr lang="en-US" sz="1800" dirty="0"/>
          </a:p>
        </p:txBody>
      </p:sp>
      <p:sp>
        <p:nvSpPr>
          <p:cNvPr id="37" name="Shape 33"/>
          <p:cNvSpPr/>
          <p:nvPr/>
        </p:nvSpPr>
        <p:spPr>
          <a:xfrm>
            <a:off x="5623560" y="3291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5623560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39" name="Text 35"/>
          <p:cNvSpPr/>
          <p:nvPr/>
        </p:nvSpPr>
        <p:spPr>
          <a:xfrm>
            <a:off x="640080" y="3246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أسلاك التمديد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5623560" y="3749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5623560" y="3749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42" name="Text 38"/>
          <p:cNvSpPr/>
          <p:nvPr/>
        </p:nvSpPr>
        <p:spPr>
          <a:xfrm>
            <a:off x="640080" y="3703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شاحنًا تالفًا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5623560" y="42062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4" name="Text 40"/>
          <p:cNvSpPr/>
          <p:nvPr/>
        </p:nvSpPr>
        <p:spPr>
          <a:xfrm>
            <a:off x="5623560" y="4206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45" name="Text 41"/>
          <p:cNvSpPr/>
          <p:nvPr/>
        </p:nvSpPr>
        <p:spPr>
          <a:xfrm>
            <a:off x="640080" y="41605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تلمس الكابل بيد مبللة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5623560" y="46634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7" name="Text 43"/>
          <p:cNvSpPr/>
          <p:nvPr/>
        </p:nvSpPr>
        <p:spPr>
          <a:xfrm>
            <a:off x="5623560" y="4663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48" name="Text 44"/>
          <p:cNvSpPr/>
          <p:nvPr/>
        </p:nvSpPr>
        <p:spPr>
          <a:xfrm>
            <a:off x="640080" y="46177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 الأطفال يعبثون</a:t>
            </a:r>
            <a:endParaRPr lang="en-US" sz="1300" dirty="0"/>
          </a:p>
        </p:txBody>
      </p:sp>
      <p:sp>
        <p:nvSpPr>
          <p:cNvPr id="49" name="Shape 45"/>
          <p:cNvSpPr/>
          <p:nvPr/>
        </p:nvSpPr>
        <p:spPr>
          <a:xfrm>
            <a:off x="5623560" y="51206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5623560" y="5120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51" name="Text 47"/>
          <p:cNvSpPr/>
          <p:nvPr/>
        </p:nvSpPr>
        <p:spPr>
          <a:xfrm>
            <a:off x="640080" y="50749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تغطِّ الشاحن أثناء الشحن</a:t>
            </a:r>
            <a:endParaRPr lang="en-US" sz="1300" dirty="0"/>
          </a:p>
        </p:txBody>
      </p:sp>
      <p:sp>
        <p:nvSpPr>
          <p:cNvPr id="52" name="Shape 48"/>
          <p:cNvSpPr/>
          <p:nvPr/>
        </p:nvSpPr>
        <p:spPr>
          <a:xfrm>
            <a:off x="5623560" y="5577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3" name="Text 49"/>
          <p:cNvSpPr/>
          <p:nvPr/>
        </p:nvSpPr>
        <p:spPr>
          <a:xfrm>
            <a:off x="5623560" y="5577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54" name="Text 50"/>
          <p:cNvSpPr/>
          <p:nvPr/>
        </p:nvSpPr>
        <p:spPr>
          <a:xfrm>
            <a:off x="640080" y="5532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تحاول الإصلاح بنفسك</a:t>
            </a:r>
            <a:endParaRPr lang="en-US" sz="1300" dirty="0"/>
          </a:p>
        </p:txBody>
      </p:sp>
      <p:sp>
        <p:nvSpPr>
          <p:cNvPr id="55" name="Shape 51"/>
          <p:cNvSpPr/>
          <p:nvPr/>
        </p:nvSpPr>
        <p:spPr>
          <a:xfrm>
            <a:off x="5623560" y="6035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6" name="Text 52"/>
          <p:cNvSpPr/>
          <p:nvPr/>
        </p:nvSpPr>
        <p:spPr>
          <a:xfrm>
            <a:off x="5623560" y="6035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57" name="Text 53"/>
          <p:cNvSpPr/>
          <p:nvPr/>
        </p:nvSpPr>
        <p:spPr>
          <a:xfrm>
            <a:off x="640080" y="5989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الماء على الكهرباء</a:t>
            </a:r>
            <a:endParaRPr lang="en-US" sz="1300" dirty="0"/>
          </a:p>
        </p:txBody>
      </p:sp>
      <p:sp>
        <p:nvSpPr>
          <p:cNvPr id="58" name="Shape 54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59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60" name="Shape 55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1" name="Text 56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62" name="Shape 57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3" name="Text 58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64" name="Shape 59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5" name="Text 60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66" name="Shape 61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7" name="Text 62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D.7</a:t>
            </a:r>
            <a:endParaRPr lang="en-US" sz="1000" dirty="0"/>
          </a:p>
        </p:txBody>
      </p:sp>
      <p:sp>
        <p:nvSpPr>
          <p:cNvPr id="68" name="Shape 63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9" name="Text 64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سيناريوهات تفاعلية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تطبيق عملي لما تعلمته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336792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1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7525512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لاحظت أن كابل الشحن متشقق لكنه يعمل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336792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473952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الكابل، وافحصه أو استبدله من جهة مختصة قبل الشحن</a:t>
            </a:r>
            <a:endParaRPr lang="ar-AE" sz="1200" dirty="0"/>
          </a:p>
        </p:txBody>
      </p:sp>
      <p:sp>
        <p:nvSpPr>
          <p:cNvPr id="16" name="Shape 12"/>
          <p:cNvSpPr/>
          <p:nvPr/>
        </p:nvSpPr>
        <p:spPr>
          <a:xfrm>
            <a:off x="457200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0080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8" name="Text 14"/>
          <p:cNvSpPr/>
          <p:nvPr/>
        </p:nvSpPr>
        <p:spPr>
          <a:xfrm>
            <a:off x="640080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2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828800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نقطة الكهرباء بعيدة وتفكر باستخدام سلك تمديد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640080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777240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أسلاك التمديد، واعتمد على نقطة شحن مخصصة ومعتمدة</a:t>
            </a:r>
            <a:endParaRPr lang="ar-AE" sz="1200" dirty="0"/>
          </a:p>
        </p:txBody>
      </p:sp>
      <p:sp>
        <p:nvSpPr>
          <p:cNvPr id="22" name="Shape 18"/>
          <p:cNvSpPr/>
          <p:nvPr/>
        </p:nvSpPr>
        <p:spPr>
          <a:xfrm>
            <a:off x="6153912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6336792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6336792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3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7525512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أثناء الشحن ظهرت رائحة احتراق من القابس</a:t>
            </a:r>
            <a:endParaRPr lang="en-US" sz="1400" dirty="0"/>
          </a:p>
        </p:txBody>
      </p:sp>
      <p:sp>
        <p:nvSpPr>
          <p:cNvPr id="26" name="Shape 22"/>
          <p:cNvSpPr/>
          <p:nvPr/>
        </p:nvSpPr>
        <p:spPr>
          <a:xfrm>
            <a:off x="6336792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473952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أوقف الشحن إن كان آمنًا، ابتعد، ولا تستخدم الشاحن قبل فحصه</a:t>
            </a:r>
            <a:endParaRPr lang="ar-AE" sz="1200" dirty="0"/>
          </a:p>
        </p:txBody>
      </p:sp>
      <p:sp>
        <p:nvSpPr>
          <p:cNvPr id="28" name="Shape 24"/>
          <p:cNvSpPr/>
          <p:nvPr/>
        </p:nvSpPr>
        <p:spPr>
          <a:xfrm>
            <a:off x="457200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640080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30" name="Text 26"/>
          <p:cNvSpPr/>
          <p:nvPr/>
        </p:nvSpPr>
        <p:spPr>
          <a:xfrm>
            <a:off x="640080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4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828800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طفل يحاول لمس كابل الشحن</a:t>
            </a:r>
            <a:endParaRPr lang="en-US" sz="1400" dirty="0"/>
          </a:p>
        </p:txBody>
      </p:sp>
      <p:sp>
        <p:nvSpPr>
          <p:cNvPr id="32" name="Shape 28"/>
          <p:cNvSpPr/>
          <p:nvPr/>
        </p:nvSpPr>
        <p:spPr>
          <a:xfrm>
            <a:off x="640080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777240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الطفل فورًا، ونظّم مكان الشحن، وامنع العبث بالمعدات</a:t>
            </a:r>
            <a:endParaRPr lang="ar-AE" sz="1200" dirty="0"/>
          </a:p>
        </p:txBody>
      </p:sp>
      <p:sp>
        <p:nvSpPr>
          <p:cNvPr id="34" name="Shape 3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5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6" name="Shape 3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0" name="Shape 3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2" name="Shape 3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D.7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اختبر معلوماتك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أسئلة سريعة لتقييم فهمك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57200" y="2606040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109960" y="2779776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2852928"/>
            <a:ext cx="274320" cy="27432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40080" y="2679192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س1: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يجب استخدام شاحن معتمد ومتوافق مع المركبة؟</a:t>
            </a:r>
            <a:endParaRPr lang="ar-AE" sz="1400" dirty="0"/>
          </a:p>
        </p:txBody>
      </p:sp>
      <p:sp>
        <p:nvSpPr>
          <p:cNvPr id="14" name="Text 9"/>
          <p:cNvSpPr/>
          <p:nvPr/>
        </p:nvSpPr>
        <p:spPr>
          <a:xfrm>
            <a:off x="640080" y="2990088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لتقليل مخاطر الأعطال الكهربائية وارتفاع الحرارة وحماية المركبة والمنزل</a:t>
            </a:r>
            <a:endParaRPr lang="ar-AE" sz="1200" dirty="0"/>
          </a:p>
        </p:txBody>
      </p:sp>
      <p:sp>
        <p:nvSpPr>
          <p:cNvPr id="15" name="Shape 10"/>
          <p:cNvSpPr/>
          <p:nvPr/>
        </p:nvSpPr>
        <p:spPr>
          <a:xfrm>
            <a:off x="457200" y="3374136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11109960" y="3547872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3621024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40080" y="3447288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س2: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يُنصح باستخدام أسلاك التمديد لشحن المركبات؟</a:t>
            </a:r>
            <a:endParaRPr lang="ar-AE" sz="1400" dirty="0"/>
          </a:p>
        </p:txBody>
      </p:sp>
      <p:sp>
        <p:nvSpPr>
          <p:cNvPr id="19" name="Text 13"/>
          <p:cNvSpPr/>
          <p:nvPr/>
        </p:nvSpPr>
        <p:spPr>
          <a:xfrm>
            <a:off x="640080" y="3758184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لا، يجب تجنبها واستخدام نقطة شحن مخصصة ومعتمدة</a:t>
            </a:r>
            <a:endParaRPr lang="ar-AE" sz="1200" dirty="0"/>
          </a:p>
        </p:txBody>
      </p:sp>
      <p:sp>
        <p:nvSpPr>
          <p:cNvPr id="20" name="Shape 14"/>
          <p:cNvSpPr/>
          <p:nvPr/>
        </p:nvSpPr>
        <p:spPr>
          <a:xfrm>
            <a:off x="457200" y="4142232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11109960" y="4315968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4389120"/>
            <a:ext cx="274320" cy="27432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640080" y="4215384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س3: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تفعل عند رائحة احتراق أثناء الشحن؟</a:t>
            </a:r>
            <a:endParaRPr lang="ar-AE" sz="1400" dirty="0"/>
          </a:p>
        </p:txBody>
      </p:sp>
      <p:sp>
        <p:nvSpPr>
          <p:cNvPr id="24" name="Text 17"/>
          <p:cNvSpPr/>
          <p:nvPr/>
        </p:nvSpPr>
        <p:spPr>
          <a:xfrm>
            <a:off x="640080" y="4526280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أوقف الشحن إن كان آمنًا، ابتعد، ولا تستخدم المعدات قبل فحصها</a:t>
            </a:r>
            <a:endParaRPr lang="ar-AE" sz="1200" dirty="0"/>
          </a:p>
        </p:txBody>
      </p:sp>
      <p:sp>
        <p:nvSpPr>
          <p:cNvPr id="25" name="Shape 18"/>
          <p:cNvSpPr/>
          <p:nvPr/>
        </p:nvSpPr>
        <p:spPr>
          <a:xfrm>
            <a:off x="457200" y="4910328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11109960" y="5084064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5157216"/>
            <a:ext cx="274320" cy="27432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640080" y="4983480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س4: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 التصرف عند نشوب حريق أثناء الشحن؟</a:t>
            </a:r>
            <a:endParaRPr lang="ar-AE" sz="1400" dirty="0"/>
          </a:p>
        </p:txBody>
      </p:sp>
      <p:sp>
        <p:nvSpPr>
          <p:cNvPr id="29" name="Text 21"/>
          <p:cNvSpPr/>
          <p:nvPr/>
        </p:nvSpPr>
        <p:spPr>
          <a:xfrm>
            <a:off x="640080" y="5294376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أخلِ الأشخاص، ابتعد، لا تلمس الكابلات، واتصل بـ 999</a:t>
            </a:r>
            <a:endParaRPr lang="ar-AE" sz="1200" dirty="0"/>
          </a:p>
        </p:txBody>
      </p:sp>
      <p:sp>
        <p:nvSpPr>
          <p:cNvPr id="30" name="Shape 22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1" name="Image 6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2" name="Shape 23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3" name="Text 24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4" name="Shape 25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5" name="Text 26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36" name="Shape 27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28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38" name="Shape 29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0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D.7</a:t>
            </a:r>
            <a:endParaRPr lang="en-US" sz="1000" dirty="0"/>
          </a:p>
        </p:txBody>
      </p:sp>
      <p:sp>
        <p:nvSpPr>
          <p:cNvPr id="40" name="Shape 31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2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362956" y="1280160"/>
            <a:ext cx="1463040" cy="146304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7276" y="1554480"/>
            <a:ext cx="914400" cy="91440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47472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4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شكرًا لكم</a:t>
            </a:r>
            <a:endParaRPr lang="en-US" sz="4400" dirty="0"/>
          </a:p>
        </p:txBody>
      </p:sp>
      <p:sp>
        <p:nvSpPr>
          <p:cNvPr id="11" name="Text 6"/>
          <p:cNvSpPr/>
          <p:nvPr/>
        </p:nvSpPr>
        <p:spPr>
          <a:xfrm>
            <a:off x="457200" y="42976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6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الشحن الآمن للمركبات الكهربائية يحمي المنزل والمركبة والأسرة</a:t>
            </a:r>
            <a:endParaRPr lang="en-US" sz="1600" dirty="0"/>
          </a:p>
        </p:txBody>
      </p:sp>
      <p:sp>
        <p:nvSpPr>
          <p:cNvPr id="12" name="Shape 7"/>
          <p:cNvSpPr/>
          <p:nvPr/>
        </p:nvSpPr>
        <p:spPr>
          <a:xfrm>
            <a:off x="5637276" y="47548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457200" y="49834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معدات معتمدة • تركيب من مختص • فحص قبل الشحن • ابتعد عن الماء والحرارة • اتصل بـ 999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2286000" y="5440680"/>
            <a:ext cx="7589520" cy="685800"/>
          </a:xfrm>
          <a:prstGeom prst="roundRect">
            <a:avLst>
              <a:gd name="adj" fmla="val 6667"/>
            </a:avLst>
          </a:prstGeom>
          <a:solidFill>
            <a:srgbClr val="EEF3FA"/>
          </a:solidFill>
          <a:ln w="9525">
            <a:solidFill>
              <a:srgbClr val="0B4EA2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2286000" y="544068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i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"الشحن الآمن يحمي منزلك ومركبتك وأسرتك"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7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D.7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نسق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1542</Words>
  <Application>Microsoft Office PowerPoint</Application>
  <PresentationFormat>شاشة عريضة</PresentationFormat>
  <Paragraphs>345</Paragraphs>
  <Slides>19</Slides>
  <Notes>19</Notes>
  <HiddenSlides>0</HiddenSlides>
  <MMClips>0</MMClips>
  <ScaleCrop>false</ScaleCrop>
  <HeadingPairs>
    <vt:vector size="6" baseType="variant">
      <vt:variant>
        <vt:lpstr>الخطوط المستخدمة</vt:lpstr>
      </vt:variant>
      <vt:variant>
        <vt:i4>3</vt:i4>
      </vt:variant>
      <vt:variant>
        <vt:lpstr>نسق</vt:lpstr>
      </vt:variant>
      <vt:variant>
        <vt:i4>1</vt:i4>
      </vt:variant>
      <vt:variant>
        <vt:lpstr>عناوين الشرائح</vt:lpstr>
      </vt:variant>
      <vt:variant>
        <vt:i4>19</vt:i4>
      </vt:variant>
    </vt:vector>
  </HeadingPairs>
  <TitlesOfParts>
    <vt:vector size="23" baseType="lpstr">
      <vt:lpstr>Arial</vt:lpstr>
      <vt:lpstr>Calibri</vt:lpstr>
      <vt:lpstr>Tajawal</vt:lpstr>
      <vt:lpstr>Office Theme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السلامة عند شحن المركبات الكهربائية في المنزل</dc:title>
  <dc:subject>PptxGenJS Presentation</dc:subject>
  <dc:creator>هيئة أبوظبي للدفاع المدني</dc:creator>
  <cp:lastModifiedBy>Lenovo</cp:lastModifiedBy>
  <cp:revision>1</cp:revision>
  <dcterms:created xsi:type="dcterms:W3CDTF">2026-05-07T14:04:00Z</dcterms:created>
  <dcterms:modified xsi:type="dcterms:W3CDTF">2026-05-07T14:07:34Z</dcterms:modified>
</cp:coreProperties>
</file>