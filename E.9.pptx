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21973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4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2.png"/><Relationship Id="rId5" Type="http://schemas.openxmlformats.org/officeDocument/2006/relationships/image" Target="../media/image17.png"/><Relationship Id="rId10" Type="http://schemas.openxmlformats.org/officeDocument/2006/relationships/image" Target="../media/image21.png"/><Relationship Id="rId4" Type="http://schemas.openxmlformats.org/officeDocument/2006/relationships/image" Target="../media/image2.png"/><Relationship Id="rId9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4.png"/><Relationship Id="rId5" Type="http://schemas.openxmlformats.org/officeDocument/2006/relationships/image" Target="../media/image24.png"/><Relationship Id="rId10" Type="http://schemas.openxmlformats.org/officeDocument/2006/relationships/image" Target="../media/image28.png"/><Relationship Id="rId4" Type="http://schemas.openxmlformats.org/officeDocument/2006/relationships/image" Target="../media/image2.png"/><Relationship Id="rId9" Type="http://schemas.openxmlformats.org/officeDocument/2006/relationships/image" Target="../media/image2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4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.png"/><Relationship Id="rId9" Type="http://schemas.openxmlformats.org/officeDocument/2006/relationships/image" Target="../media/image3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11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8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4.png"/><Relationship Id="rId5" Type="http://schemas.openxmlformats.org/officeDocument/2006/relationships/image" Target="../media/image40.png"/><Relationship Id="rId10" Type="http://schemas.openxmlformats.org/officeDocument/2006/relationships/image" Target="../media/image37.png"/><Relationship Id="rId4" Type="http://schemas.openxmlformats.org/officeDocument/2006/relationships/image" Target="../media/image2.png"/><Relationship Id="rId9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4.png"/><Relationship Id="rId5" Type="http://schemas.openxmlformats.org/officeDocument/2006/relationships/image" Target="../media/image30.png"/><Relationship Id="rId10" Type="http://schemas.openxmlformats.org/officeDocument/2006/relationships/image" Target="../media/image37.png"/><Relationship Id="rId4" Type="http://schemas.openxmlformats.org/officeDocument/2006/relationships/image" Target="../media/image2.png"/><Relationship Id="rId9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11" Type="http://schemas.openxmlformats.org/officeDocument/2006/relationships/image" Target="../media/image4.png"/><Relationship Id="rId5" Type="http://schemas.openxmlformats.org/officeDocument/2006/relationships/image" Target="../media/image33.png"/><Relationship Id="rId10" Type="http://schemas.openxmlformats.org/officeDocument/2006/relationships/image" Target="../media/image11.png"/><Relationship Id="rId4" Type="http://schemas.openxmlformats.org/officeDocument/2006/relationships/image" Target="../media/image2.png"/><Relationship Id="rId9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.png"/><Relationship Id="rId7" Type="http://schemas.openxmlformats.org/officeDocument/2006/relationships/image" Target="../media/image4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45.png"/><Relationship Id="rId5" Type="http://schemas.openxmlformats.org/officeDocument/2006/relationships/image" Target="../media/image25.png"/><Relationship Id="rId10" Type="http://schemas.openxmlformats.org/officeDocument/2006/relationships/image" Target="../media/image44.png"/><Relationship Id="rId4" Type="http://schemas.openxmlformats.org/officeDocument/2006/relationships/image" Target="../media/image2.png"/><Relationship Id="rId9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47.png"/><Relationship Id="rId5" Type="http://schemas.openxmlformats.org/officeDocument/2006/relationships/image" Target="../media/image14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46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4.png"/><Relationship Id="rId5" Type="http://schemas.openxmlformats.org/officeDocument/2006/relationships/image" Target="../media/image37.png"/><Relationship Id="rId10" Type="http://schemas.openxmlformats.org/officeDocument/2006/relationships/image" Target="../media/image40.png"/><Relationship Id="rId4" Type="http://schemas.openxmlformats.org/officeDocument/2006/relationships/image" Target="../media/image2.png"/><Relationship Id="rId9" Type="http://schemas.openxmlformats.org/officeDocument/2006/relationships/image" Target="../media/image4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48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الإغماء ووضعية الإفاقة</a:t>
            </a:r>
            <a:endParaRPr lang="en-US" sz="34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هدوء، تأمين، ومراقبة التنفس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"الإغماء حالة تحتاج إلى هدوء، وتأمين المكان، ومراقبة التنفس والاستجابة، وطلب المساعدة عند الحاجة"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E.9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بالإغماء؟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يحدث في المنزل أو المدرسة أو العمل أو الأماكن العامة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المصاب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السقوط والإصابة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التنفس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ومراقبة الاستجابة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التجمهر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والارتباك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طلب المساعدة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علامات الخطر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طمأنة المصاب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الإفاقة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ثقافة الإسعاف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الأولي الآمن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الإغماء المتكرر أو المصحوب بألم شديد أو صعوبة تنفس يحتاج اتصالًا فوريًا بـ 999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E.9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المقصود بالإغماء؟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مؤقت للوعي أو ضعف مفاجئ في الاستجابة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وعي مؤقت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دوخة شديدة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مفاجئ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تعرق أو شحوب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القدرة على الوقوف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ارتباك بعد الإفاقة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ليس كل إغماء بسيطًا — يجب الانتباه للعلامات المصاحبة للحالة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E.9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أسباب شائعة للإغماء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بعضها يحتاج إلى تقييم طبي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وقوف لفترة طويلة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إرهاق أو قلة نوم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جفاف أو قلة سوائل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حرارة شديدة أو ازدحام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7452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2811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99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7510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انفعال أو خوف شديد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انخفاض السكر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حالات صحية أو أدوية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88376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02055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3436" y="475488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98435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إصابة أو ألم شديد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السبب تساعد في التعامل الأولي، لكنها لا تغني عن طلب المساعدة عند الخطورة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E.9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ما قبل الإغماء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تدخل مبكر يمنع السقوط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دوخة وعدم توازن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شحوب في الوجه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تعرق مفاجئ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غثيان وضعف عام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تشوش في الرؤية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طنين في الأذن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في الوقوف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الشخص على الجلوس أو الاستلقاء في مكان آمن قبل أن يسقط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E.9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تأمين المكان قبل المساعدة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المخاطر القريبة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حركة مركبات أو دراجات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سلالم أو حواف مرتفعة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أرضية زلقة أو مبللة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ازدحام أو تدافع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حرارة أو دخان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حادة أو عوائق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المخاطر، ووفّر مساحة حول المصاب، ولا تعرض نفسك للخطر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E.9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عند الشعور بقرب الإغماء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بسرعة وهدوء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ساعده على الجلوس أو الاستلقاء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 عن الحرارة أو الزحام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تهوية مناسبة في المكان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شجّعه على التنفس بهدوء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تجعله يقف بسرعة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حالته واطلب المساعدة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التدخل قبل السقوط قد يمنع إصابة إضافية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E.9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عند فقدان الوعي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تقييم سريع دون ارتباك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المكان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استجابة المصاب بلطف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الاتصال بـ 999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وجود تنفس طبيعي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أو شراب لغير الواعي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تحركه عند اشتباه الإصابة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موظف الطوارئ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كان غير مستجيب ولا يتنفس طبيعيًا، تعامل كحالة طارئة واتصل بـ 999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E.9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نستخدم وضعية الإفاقة؟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غير مستجيب لكنه يتنفس طبيعيًا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وعي مع تنفس طبيعي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مجرى التنفس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انتظار وصول المساعدة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اشتباه بإصابة خطيرة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اتباع تعليمات موظف 999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كان هناك اشتباه بإصابة في الرأس أو الرقبة أو الظهر، لا تحرك المصاب</a:t>
            </a:r>
            <a:endParaRPr lang="ar-AE" sz="1200" dirty="0"/>
          </a:p>
        </p:txBody>
      </p:sp>
      <p:sp>
        <p:nvSpPr>
          <p:cNvPr id="32" name="Shape 2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E.9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وضعية الإفاقة بشكل عام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تساعد على إبقاء المصاب في وضع آمن نسبيًا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846320" y="278892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1320272" y="283464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4" name="Text 9"/>
          <p:cNvSpPr/>
          <p:nvPr/>
        </p:nvSpPr>
        <p:spPr>
          <a:xfrm>
            <a:off x="11320272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4983480" y="278892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أنه يتنفس طبيعيًا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846320" y="3236976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1320272" y="328269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8" name="Text 13"/>
          <p:cNvSpPr/>
          <p:nvPr/>
        </p:nvSpPr>
        <p:spPr>
          <a:xfrm>
            <a:off x="11320272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4983480" y="323697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تستخدمها مع إصابة الظهر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846320" y="3685032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1320272" y="37307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2" name="Text 17"/>
          <p:cNvSpPr/>
          <p:nvPr/>
        </p:nvSpPr>
        <p:spPr>
          <a:xfrm>
            <a:off x="11320272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983480" y="368503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من شخص آخر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846320" y="413308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1320272" y="41788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6" name="Text 21"/>
          <p:cNvSpPr/>
          <p:nvPr/>
        </p:nvSpPr>
        <p:spPr>
          <a:xfrm>
            <a:off x="1132027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4983480" y="413308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موظف 999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4846320" y="4581144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1320272" y="462686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0" name="Text 25"/>
          <p:cNvSpPr/>
          <p:nvPr/>
        </p:nvSpPr>
        <p:spPr>
          <a:xfrm>
            <a:off x="11320272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4983480" y="458114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التنفس باستمرار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4846320" y="502920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11320272" y="5074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4" name="Text 29"/>
          <p:cNvSpPr/>
          <p:nvPr/>
        </p:nvSpPr>
        <p:spPr>
          <a:xfrm>
            <a:off x="11320272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4983480" y="502920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المصاب وحده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وضعية الإفاقة مفيدة في حالات محددة، لكنها لا تعني أن الحالة لا تحتاج متابعة</a:t>
            </a:r>
            <a:endParaRPr lang="ar-AE" sz="1200" dirty="0"/>
          </a:p>
        </p:txBody>
      </p:sp>
      <p:sp>
        <p:nvSpPr>
          <p:cNvPr id="38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9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6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E.9</a:t>
            </a:r>
            <a:endParaRPr lang="en-US" sz="1000" dirty="0"/>
          </a:p>
        </p:txBody>
      </p:sp>
      <p:sp>
        <p:nvSpPr>
          <p:cNvPr id="48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مراقبة التنفس والاستجابة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استمر في المراقبة بعد الإغماء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846320" y="278892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1320272" y="283464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4" name="Text 9"/>
          <p:cNvSpPr/>
          <p:nvPr/>
        </p:nvSpPr>
        <p:spPr>
          <a:xfrm>
            <a:off x="11320272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4983480" y="278892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يتنفس بشكل طبيعي؟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846320" y="3236976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1320272" y="328269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8" name="Text 13"/>
          <p:cNvSpPr/>
          <p:nvPr/>
        </p:nvSpPr>
        <p:spPr>
          <a:xfrm>
            <a:off x="11320272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4983480" y="323697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يستعيد الوعي؟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846320" y="3685032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1320272" y="37307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2" name="Text 17"/>
          <p:cNvSpPr/>
          <p:nvPr/>
        </p:nvSpPr>
        <p:spPr>
          <a:xfrm>
            <a:off x="11320272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983480" y="368503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توجد دوخة بعد الإفاقة؟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846320" y="413308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1320272" y="41788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6" name="Text 21"/>
          <p:cNvSpPr/>
          <p:nvPr/>
        </p:nvSpPr>
        <p:spPr>
          <a:xfrm>
            <a:off x="1132027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4983480" y="413308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ألم في الصدر أو الرأس؟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4846320" y="4581144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1320272" y="462686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0" name="Text 25"/>
          <p:cNvSpPr/>
          <p:nvPr/>
        </p:nvSpPr>
        <p:spPr>
          <a:xfrm>
            <a:off x="11320272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4983480" y="458114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توجد إصابة من السقوط؟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4846320" y="502920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11320272" y="5074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4" name="Text 29"/>
          <p:cNvSpPr/>
          <p:nvPr/>
        </p:nvSpPr>
        <p:spPr>
          <a:xfrm>
            <a:off x="11320272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4983480" y="502920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تتكرر الحالة أو تسوء؟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تغير التنفس أو ضعفت الاستجابة أو ظهرت علامات خطورة، اتصل فورًا بـ 999</a:t>
            </a:r>
            <a:endParaRPr lang="ar-AE" sz="1200" dirty="0"/>
          </a:p>
        </p:txBody>
      </p:sp>
      <p:sp>
        <p:nvSpPr>
          <p:cNvPr id="38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9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6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E.9</a:t>
            </a:r>
            <a:endParaRPr lang="en-US" sz="1000" dirty="0"/>
          </a:p>
        </p:txBody>
      </p:sp>
      <p:sp>
        <p:nvSpPr>
          <p:cNvPr id="48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استعادة الوعي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تستعجل في إيقافه أو تركه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تحدث بهدوء وطمأنه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تجعله يقف مباشرة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اسأله عن الألم والدوخة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أبقه جالسًا حتى يستقر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لمن هو مرتبك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عند التكرار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التحسن السريع لا يعني تجاهل سبب الإغماء، خاصة إذا كان غير معتاد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E.9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يكون الإغماء حالة طارئة؟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ظهور هذه العلامات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استعادة الوعي بسرعة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التنفس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ألم في الصدر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صداع شديد بعد السقوط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إصابة الرأس أو الرقبة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تشنجات أو ارتباك شديد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إغماء بعد حادث قوي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تكرار الإغماء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الشك في خطورة الحالة، اتصل بالطوارئ ولا تنتظر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E.9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الإغماء بسبب الحرارة أو الازدحام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إجهاد أو جفاف أو ضعف تهوية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انقله لمكان مهوّى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 عن الشمس والحرارة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ساعده على الجلوس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وعيه وتنفسه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شراب لمن هو غير واعٍ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الاستمرار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التهوية والراحة وشرب الماء بانتظام تقلل الدوخة والإغماء في الأجواء الحارة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E.9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الإغماء بعد السقوط أو الإصابة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بحذر أكبر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تحركه مع ألم الرأس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تستعجل في إيقافه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التنفس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الإصابة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المتجمهرين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المختصين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الإغماء بعد إصابة قد يدل على حالة تحتاج إلى تقييم عاجل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E.9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لا تفعل عند الإغماء؟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تصرفات قد تزيد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ترش الماء عشوائيًا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أو شراب لغير الواعي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تجبره على الوقوف فورًا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تحركه عند إصابة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تتجمهر حوله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الاتصال بـ 999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تصور المصاب أو تنشره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الهدوء وطلب المساعدة أهم من التصرفات العشوائية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E.9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الإغماء المتكرر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انتباه للعوامل المسببة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شرب الماء بانتظام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وقوف طويل دون حركة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اجلس فور الدوخة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الحرارة والازدحام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تناول الطعام بانتظام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راجع المختصين عند التكرار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الأسرة أو العمل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الإغماء المتكرر يحتاج إلى تقييم من مختصين صحيين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E.9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الموجودين في المكان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الأدوار يقلل الفوضى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يتصل بـ 999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يبعد المتجمهرين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يفتح الطريق للإسعاف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يراقب التنفس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يجمع المعلومات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يطمئن المصاب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التعاون والتنظيم أفضل من التجمهر أو التصوير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E.9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عند الإغماء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سلامة المكان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ساعده على الجلوس عند الدوخة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التنفس والاستجابة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الخطورة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 إن كان غير مستقر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المتجمهرين ووفر تهوية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موظف الطوارئ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طعام أو شراب لغير الواعي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تجبره على الوقوف بسرعة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تحركه عند اشتباه إصابة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وضعية إفاقة مع إصابة الظهر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ترش الماء عشوائيًا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الاتصال بالطوارئ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تصور المصاب أو تنشره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E.9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شعر بدوخة في مكان مزدحم وقال إنه قد يفقد وعيه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ساعده على الجلوس في مكان آمن ومهوّى، راقبه، واطلب المساعدة عند الحاجة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فقد الوعي لكنه يتنفس طبيعيًا ولا توجد علامات إصابة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تنفسه، استخدم وضعية الإفاقة إن كنت تعرفها، واتصل بـ 999 عند الحاجة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شخص أغمي عليه بعد سقوط ويشتكي من ألم الرقبة بعد الإفاقة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تحركه، طمئنه، ابقَ المكان آمنًا، واتصل فورًا بـ 999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الإفاقة حاول المصاب الوقوف بسرعة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امنعه من الوقوف، وساعده على البقاء جالسًا حتى تستقر حالته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E.9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أول إجراء عند رؤية شخص يشعر بدوخة شديدة؟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مساعدته على الجلوس أو الاستلقاء في مكان آمن لتقليل خطر السقوط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إعطاء طعام أو شراب لمصاب غير واعٍ؟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لا يُعطى طعام أو شراب لمن هو غير واعٍ أو غير قادر على البلع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يتم الاتصال بـ 999 في حالات الإغماء؟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عدم استعادة الوعي، أو صعوبة التنفس، أو ألم الصدر، أو إصابة الرأس، أو تكرار الإغماء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لا نستخدم وضعية الإفاقة؟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اشتباه إصابة في الرأس أو الرقبة أو الظهر، إلا عند خطر مباشر ووفق المختصين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E.9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الإغماء يحتاج هدوءًا، وتأمين المكان، ومراقبة التنفس، وطلب المساعدة عند الحاجة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ساعده على الجلوس • لا طعام لغير الواعي • لا تحركه عند الإصابة • اتصل بـ 999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"التصرف الواعي عند الإغماء يبدأ بالهدوء وينتهي بطلب المساعدة في الوقت المناسب"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E.9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1732</Words>
  <Application>Microsoft Office PowerPoint</Application>
  <PresentationFormat>شاشة عريضة</PresentationFormat>
  <Paragraphs>395</Paragraphs>
  <Slides>22</Slides>
  <Notes>22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22</vt:i4>
      </vt:variant>
    </vt:vector>
  </HeadingPairs>
  <TitlesOfParts>
    <vt:vector size="26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التعامل مع الإغماء ووضعية الإفاقة</dc:title>
  <dc:subject>PptxGenJS Presentation</dc:subject>
  <dc:creator>هيئة أبوظبي للدفاع المدني</dc:creator>
  <cp:lastModifiedBy>Lenovo</cp:lastModifiedBy>
  <cp:revision>1</cp:revision>
  <dcterms:created xsi:type="dcterms:W3CDTF">2026-05-07T21:00:51Z</dcterms:created>
  <dcterms:modified xsi:type="dcterms:W3CDTF">2026-05-08T00:24:01Z</dcterms:modified>
</cp:coreProperties>
</file>